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24"/>
  </p:notesMasterIdLst>
  <p:sldIdLst>
    <p:sldId id="256"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7772400" cy="10058400"/>
  <p:notesSz cx="6858000" cy="9144000"/>
  <p:embeddedFontLst>
    <p:embeddedFont>
      <p:font typeface="Helvetica Neue" panose="020B0604020202020204" charset="0"/>
      <p:regular r:id="rId25"/>
      <p:bold r:id="rId26"/>
      <p:italic r:id="rId27"/>
      <p:boldItalic r:id="rId28"/>
    </p:embeddedFont>
    <p:embeddedFont>
      <p:font typeface="Open Sans" panose="020B0606030504020204" pitchFamily="34" charset="0"/>
      <p:regular r:id="rId29"/>
      <p:bold r:id="rId30"/>
      <p:italic r:id="rId31"/>
      <p:boldItalic r:id="rId32"/>
    </p:embeddedFont>
    <p:embeddedFont>
      <p:font typeface="Open Sans Light" panose="020B030603050402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95B268-E689-48BE-B304-A84222016C49}" v="66" dt="2026-06-02T05:21:46.5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231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10.fntdata"/><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5.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7.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UN AVALAKKI MOHAN" userId="be4ab9aaf12c5868" providerId="LiveId" clId="{C81E60EF-EF5F-4B4B-A4E1-3178676F15CC}"/>
    <pc:docChg chg="undo custSel delSld modSld">
      <pc:chgData name="ARJUN AVALAKKI MOHAN" userId="be4ab9aaf12c5868" providerId="LiveId" clId="{C81E60EF-EF5F-4B4B-A4E1-3178676F15CC}" dt="2026-06-02T05:21:52.610" v="611" actId="108"/>
      <pc:docMkLst>
        <pc:docMk/>
      </pc:docMkLst>
      <pc:sldChg chg="modSp mod">
        <pc:chgData name="ARJUN AVALAKKI MOHAN" userId="be4ab9aaf12c5868" providerId="LiveId" clId="{C81E60EF-EF5F-4B4B-A4E1-3178676F15CC}" dt="2026-05-26T05:05:20.746" v="29" actId="20577"/>
        <pc:sldMkLst>
          <pc:docMk/>
          <pc:sldMk cId="0" sldId="256"/>
        </pc:sldMkLst>
        <pc:spChg chg="mod">
          <ac:chgData name="ARJUN AVALAKKI MOHAN" userId="be4ab9aaf12c5868" providerId="LiveId" clId="{C81E60EF-EF5F-4B4B-A4E1-3178676F15CC}" dt="2026-05-26T05:05:20.746" v="29" actId="20577"/>
          <ac:spMkLst>
            <pc:docMk/>
            <pc:sldMk cId="0" sldId="256"/>
            <ac:spMk id="180" creationId="{00000000-0000-0000-0000-000000000000}"/>
          </ac:spMkLst>
        </pc:spChg>
      </pc:sldChg>
      <pc:sldChg chg="del">
        <pc:chgData name="ARJUN AVALAKKI MOHAN" userId="be4ab9aaf12c5868" providerId="LiveId" clId="{C81E60EF-EF5F-4B4B-A4E1-3178676F15CC}" dt="2026-06-02T04:20:31.337" v="168" actId="47"/>
        <pc:sldMkLst>
          <pc:docMk/>
          <pc:sldMk cId="0" sldId="257"/>
        </pc:sldMkLst>
      </pc:sldChg>
      <pc:sldChg chg="del">
        <pc:chgData name="ARJUN AVALAKKI MOHAN" userId="be4ab9aaf12c5868" providerId="LiveId" clId="{C81E60EF-EF5F-4B4B-A4E1-3178676F15CC}" dt="2026-06-02T04:20:32.733" v="169" actId="47"/>
        <pc:sldMkLst>
          <pc:docMk/>
          <pc:sldMk cId="0" sldId="258"/>
        </pc:sldMkLst>
      </pc:sldChg>
      <pc:sldChg chg="addSp delSp modSp mod">
        <pc:chgData name="ARJUN AVALAKKI MOHAN" userId="be4ab9aaf12c5868" providerId="LiveId" clId="{C81E60EF-EF5F-4B4B-A4E1-3178676F15CC}" dt="2026-05-27T04:15:22.659" v="86" actId="255"/>
        <pc:sldMkLst>
          <pc:docMk/>
          <pc:sldMk cId="0" sldId="263"/>
        </pc:sldMkLst>
        <pc:spChg chg="mod">
          <ac:chgData name="ARJUN AVALAKKI MOHAN" userId="be4ab9aaf12c5868" providerId="LiveId" clId="{C81E60EF-EF5F-4B4B-A4E1-3178676F15CC}" dt="2026-05-27T04:15:22.659" v="86" actId="255"/>
          <ac:spMkLst>
            <pc:docMk/>
            <pc:sldMk cId="0" sldId="263"/>
            <ac:spMk id="229" creationId="{00000000-0000-0000-0000-000000000000}"/>
          </ac:spMkLst>
        </pc:spChg>
        <pc:picChg chg="add mod">
          <ac:chgData name="ARJUN AVALAKKI MOHAN" userId="be4ab9aaf12c5868" providerId="LiveId" clId="{C81E60EF-EF5F-4B4B-A4E1-3178676F15CC}" dt="2026-05-27T04:13:08.978" v="34" actId="1076"/>
          <ac:picMkLst>
            <pc:docMk/>
            <pc:sldMk cId="0" sldId="263"/>
            <ac:picMk id="3" creationId="{741A04ED-7421-9AB8-1581-89CCD9D747C2}"/>
          </ac:picMkLst>
        </pc:picChg>
      </pc:sldChg>
      <pc:sldChg chg="addSp delSp modSp mod modNotes">
        <pc:chgData name="ARJUN AVALAKKI MOHAN" userId="be4ab9aaf12c5868" providerId="LiveId" clId="{C81E60EF-EF5F-4B4B-A4E1-3178676F15CC}" dt="2026-06-02T05:21:52.610" v="611" actId="108"/>
        <pc:sldMkLst>
          <pc:docMk/>
          <pc:sldMk cId="0" sldId="265"/>
        </pc:sldMkLst>
        <pc:spChg chg="add del mod">
          <ac:chgData name="ARJUN AVALAKKI MOHAN" userId="be4ab9aaf12c5868" providerId="LiveId" clId="{C81E60EF-EF5F-4B4B-A4E1-3178676F15CC}" dt="2026-06-02T05:07:57.440" v="597" actId="478"/>
          <ac:spMkLst>
            <pc:docMk/>
            <pc:sldMk cId="0" sldId="265"/>
            <ac:spMk id="3" creationId="{7B996978-7489-69AE-5274-7D68F8258D72}"/>
          </ac:spMkLst>
        </pc:spChg>
        <pc:spChg chg="add mod">
          <ac:chgData name="ARJUN AVALAKKI MOHAN" userId="be4ab9aaf12c5868" providerId="LiveId" clId="{C81E60EF-EF5F-4B4B-A4E1-3178676F15CC}" dt="2026-06-02T05:21:52.610" v="611" actId="108"/>
          <ac:spMkLst>
            <pc:docMk/>
            <pc:sldMk cId="0" sldId="265"/>
            <ac:spMk id="5" creationId="{1C653097-FEC9-05E6-DFA6-D0B3B22F3299}"/>
          </ac:spMkLst>
        </pc:spChg>
        <pc:spChg chg="del mod">
          <ac:chgData name="ARJUN AVALAKKI MOHAN" userId="be4ab9aaf12c5868" providerId="LiveId" clId="{C81E60EF-EF5F-4B4B-A4E1-3178676F15CC}" dt="2026-06-02T05:07:52.119" v="596" actId="478"/>
          <ac:spMkLst>
            <pc:docMk/>
            <pc:sldMk cId="0" sldId="265"/>
            <ac:spMk id="241" creationId="{00000000-0000-0000-0000-000000000000}"/>
          </ac:spMkLst>
        </pc:spChg>
      </pc:sldChg>
      <pc:sldChg chg="addSp delSp modSp mod modNotes">
        <pc:chgData name="ARJUN AVALAKKI MOHAN" userId="be4ab9aaf12c5868" providerId="LiveId" clId="{C81E60EF-EF5F-4B4B-A4E1-3178676F15CC}" dt="2026-06-02T04:24:44.207" v="178" actId="108"/>
        <pc:sldMkLst>
          <pc:docMk/>
          <pc:sldMk cId="0" sldId="269"/>
        </pc:sldMkLst>
        <pc:spChg chg="add mod">
          <ac:chgData name="ARJUN AVALAKKI MOHAN" userId="be4ab9aaf12c5868" providerId="LiveId" clId="{C81E60EF-EF5F-4B4B-A4E1-3178676F15CC}" dt="2026-06-02T04:24:44.207" v="178" actId="108"/>
          <ac:spMkLst>
            <pc:docMk/>
            <pc:sldMk cId="0" sldId="269"/>
            <ac:spMk id="5" creationId="{E9E3B61F-17F6-2188-6589-BFE74ADDC4CB}"/>
          </ac:spMkLst>
        </pc:spChg>
        <pc:graphicFrameChg chg="add mod">
          <ac:chgData name="ARJUN AVALAKKI MOHAN" userId="be4ab9aaf12c5868" providerId="LiveId" clId="{C81E60EF-EF5F-4B4B-A4E1-3178676F15CC}" dt="2026-06-01T05:15:02.995" v="118"/>
          <ac:graphicFrameMkLst>
            <pc:docMk/>
            <pc:sldMk cId="0" sldId="269"/>
            <ac:graphicFrameMk id="2" creationId="{C5B20F93-1E02-F83F-A2EB-DBAD633AF4F7}"/>
          </ac:graphicFrameMkLst>
        </pc:graphicFrameChg>
        <pc:picChg chg="add mod">
          <ac:chgData name="ARJUN AVALAKKI MOHAN" userId="be4ab9aaf12c5868" providerId="LiveId" clId="{C81E60EF-EF5F-4B4B-A4E1-3178676F15CC}" dt="2026-06-01T05:15:26.041" v="120" actId="1076"/>
          <ac:picMkLst>
            <pc:docMk/>
            <pc:sldMk cId="0" sldId="269"/>
            <ac:picMk id="4" creationId="{BB810124-E5C9-ED18-D2F5-6173976C0BC9}"/>
          </ac:picMkLst>
        </pc:picChg>
        <pc:picChg chg="add mod">
          <ac:chgData name="ARJUN AVALAKKI MOHAN" userId="be4ab9aaf12c5868" providerId="LiveId" clId="{C81E60EF-EF5F-4B4B-A4E1-3178676F15CC}" dt="2026-06-01T05:15:50.046" v="123" actId="1076"/>
          <ac:picMkLst>
            <pc:docMk/>
            <pc:sldMk cId="0" sldId="269"/>
            <ac:picMk id="7" creationId="{7220465E-D0D3-D449-F6C4-FBACE7DDBB6A}"/>
          </ac:picMkLst>
        </pc:picChg>
        <pc:picChg chg="add del mod">
          <ac:chgData name="ARJUN AVALAKKI MOHAN" userId="be4ab9aaf12c5868" providerId="LiveId" clId="{C81E60EF-EF5F-4B4B-A4E1-3178676F15CC}" dt="2026-06-01T05:14:49.762" v="117" actId="478"/>
          <ac:picMkLst>
            <pc:docMk/>
            <pc:sldMk cId="0" sldId="269"/>
            <ac:picMk id="11" creationId="{3AA77A95-45AE-5456-1B90-9CC748EF794E}"/>
          </ac:picMkLst>
        </pc:picChg>
      </pc:sldChg>
      <pc:sldChg chg="addSp delSp modSp mod">
        <pc:chgData name="ARJUN AVALAKKI MOHAN" userId="be4ab9aaf12c5868" providerId="LiveId" clId="{C81E60EF-EF5F-4B4B-A4E1-3178676F15CC}" dt="2026-06-02T04:22:18.350" v="174" actId="122"/>
        <pc:sldMkLst>
          <pc:docMk/>
          <pc:sldMk cId="0" sldId="271"/>
        </pc:sldMkLst>
        <pc:spChg chg="add del mod">
          <ac:chgData name="ARJUN AVALAKKI MOHAN" userId="be4ab9aaf12c5868" providerId="LiveId" clId="{C81E60EF-EF5F-4B4B-A4E1-3178676F15CC}" dt="2026-06-01T05:30:45.253" v="154" actId="478"/>
          <ac:spMkLst>
            <pc:docMk/>
            <pc:sldMk cId="0" sldId="271"/>
            <ac:spMk id="3" creationId="{99E6F135-1A31-51F8-3DAF-1D423CA6F58B}"/>
          </ac:spMkLst>
        </pc:spChg>
        <pc:spChg chg="add mod">
          <ac:chgData name="ARJUN AVALAKKI MOHAN" userId="be4ab9aaf12c5868" providerId="LiveId" clId="{C81E60EF-EF5F-4B4B-A4E1-3178676F15CC}" dt="2026-06-02T04:22:18.350" v="174" actId="122"/>
          <ac:spMkLst>
            <pc:docMk/>
            <pc:sldMk cId="0" sldId="271"/>
            <ac:spMk id="5" creationId="{F2B0C846-C61E-0ADF-5A36-A50856564291}"/>
          </ac:spMkLst>
        </pc:spChg>
        <pc:spChg chg="add del mod">
          <ac:chgData name="ARJUN AVALAKKI MOHAN" userId="be4ab9aaf12c5868" providerId="LiveId" clId="{C81E60EF-EF5F-4B4B-A4E1-3178676F15CC}" dt="2026-06-01T05:30:41.949" v="153" actId="478"/>
          <ac:spMkLst>
            <pc:docMk/>
            <pc:sldMk cId="0" sldId="271"/>
            <ac:spMk id="6" creationId="{9E77B42A-8F11-4B1E-A946-ADA86BDFBEB8}"/>
          </ac:spMkLst>
        </pc:spChg>
        <pc:spChg chg="del mod">
          <ac:chgData name="ARJUN AVALAKKI MOHAN" userId="be4ab9aaf12c5868" providerId="LiveId" clId="{C81E60EF-EF5F-4B4B-A4E1-3178676F15CC}" dt="2026-06-01T05:29:02.073" v="141" actId="478"/>
          <ac:spMkLst>
            <pc:docMk/>
            <pc:sldMk cId="0" sldId="271"/>
            <ac:spMk id="275" creationId="{00000000-0000-0000-0000-000000000000}"/>
          </ac:spMkLst>
        </pc:spChg>
        <pc:picChg chg="add mod">
          <ac:chgData name="ARJUN AVALAKKI MOHAN" userId="be4ab9aaf12c5868" providerId="LiveId" clId="{C81E60EF-EF5F-4B4B-A4E1-3178676F15CC}" dt="2026-06-02T04:22:04.696" v="171" actId="1076"/>
          <ac:picMkLst>
            <pc:docMk/>
            <pc:sldMk cId="0" sldId="271"/>
            <ac:picMk id="8" creationId="{AE3491BB-3730-2915-7AE9-7F7B3C8D387D}"/>
          </ac:picMkLst>
        </pc:picChg>
        <pc:picChg chg="del">
          <ac:chgData name="ARJUN AVALAKKI MOHAN" userId="be4ab9aaf12c5868" providerId="LiveId" clId="{C81E60EF-EF5F-4B4B-A4E1-3178676F15CC}" dt="2026-06-01T05:30:47.479" v="155" actId="478"/>
          <ac:picMkLst>
            <pc:docMk/>
            <pc:sldMk cId="0" sldId="271"/>
            <ac:picMk id="276" creationId="{00000000-0000-0000-0000-000000000000}"/>
          </ac:picMkLst>
        </pc:picChg>
      </pc:sldChg>
      <pc:sldChg chg="addSp modSp mod">
        <pc:chgData name="ARJUN AVALAKKI MOHAN" userId="be4ab9aaf12c5868" providerId="LiveId" clId="{C81E60EF-EF5F-4B4B-A4E1-3178676F15CC}" dt="2026-06-02T04:36:48.803" v="346" actId="14100"/>
        <pc:sldMkLst>
          <pc:docMk/>
          <pc:sldMk cId="0" sldId="272"/>
        </pc:sldMkLst>
        <pc:spChg chg="add mod">
          <ac:chgData name="ARJUN AVALAKKI MOHAN" userId="be4ab9aaf12c5868" providerId="LiveId" clId="{C81E60EF-EF5F-4B4B-A4E1-3178676F15CC}" dt="2026-06-02T04:35:54.997" v="345" actId="6549"/>
          <ac:spMkLst>
            <pc:docMk/>
            <pc:sldMk cId="0" sldId="272"/>
            <ac:spMk id="3" creationId="{333F703D-50D5-0B2E-AA65-37926A25D14B}"/>
          </ac:spMkLst>
        </pc:spChg>
        <pc:spChg chg="mod">
          <ac:chgData name="ARJUN AVALAKKI MOHAN" userId="be4ab9aaf12c5868" providerId="LiveId" clId="{C81E60EF-EF5F-4B4B-A4E1-3178676F15CC}" dt="2026-06-02T04:36:48.803" v="346" actId="14100"/>
          <ac:spMkLst>
            <pc:docMk/>
            <pc:sldMk cId="0" sldId="272"/>
            <ac:spMk id="281" creationId="{00000000-0000-0000-0000-000000000000}"/>
          </ac:spMkLst>
        </pc:spChg>
      </pc:sldChg>
      <pc:sldChg chg="addSp delSp modSp mod">
        <pc:chgData name="ARJUN AVALAKKI MOHAN" userId="be4ab9aaf12c5868" providerId="LiveId" clId="{C81E60EF-EF5F-4B4B-A4E1-3178676F15CC}" dt="2026-06-02T05:00:12.437" v="547"/>
        <pc:sldMkLst>
          <pc:docMk/>
          <pc:sldMk cId="0" sldId="274"/>
        </pc:sldMkLst>
        <pc:spChg chg="add del mod">
          <ac:chgData name="ARJUN AVALAKKI MOHAN" userId="be4ab9aaf12c5868" providerId="LiveId" clId="{C81E60EF-EF5F-4B4B-A4E1-3178676F15CC}" dt="2026-06-02T04:46:01.913" v="464" actId="478"/>
          <ac:spMkLst>
            <pc:docMk/>
            <pc:sldMk cId="0" sldId="274"/>
            <ac:spMk id="5" creationId="{62C9EB06-A0E3-DF57-C30E-0F25595172D1}"/>
          </ac:spMkLst>
        </pc:spChg>
        <pc:spChg chg="del mod">
          <ac:chgData name="ARJUN AVALAKKI MOHAN" userId="be4ab9aaf12c5868" providerId="LiveId" clId="{C81E60EF-EF5F-4B4B-A4E1-3178676F15CC}" dt="2026-06-02T04:45:58.715" v="463" actId="478"/>
          <ac:spMkLst>
            <pc:docMk/>
            <pc:sldMk cId="0" sldId="274"/>
            <ac:spMk id="292" creationId="{00000000-0000-0000-0000-000000000000}"/>
          </ac:spMkLst>
        </pc:spChg>
        <pc:graphicFrameChg chg="add del mod modGraphic">
          <ac:chgData name="ARJUN AVALAKKI MOHAN" userId="be4ab9aaf12c5868" providerId="LiveId" clId="{C81E60EF-EF5F-4B4B-A4E1-3178676F15CC}" dt="2026-06-02T04:45:40.809" v="460" actId="478"/>
          <ac:graphicFrameMkLst>
            <pc:docMk/>
            <pc:sldMk cId="0" sldId="274"/>
            <ac:graphicFrameMk id="2" creationId="{8F7FC879-E6FD-891D-D946-BC13E6FFADB6}"/>
          </ac:graphicFrameMkLst>
        </pc:graphicFrameChg>
        <pc:graphicFrameChg chg="add mod modGraphic">
          <ac:chgData name="ARJUN AVALAKKI MOHAN" userId="be4ab9aaf12c5868" providerId="LiveId" clId="{C81E60EF-EF5F-4B4B-A4E1-3178676F15CC}" dt="2026-06-02T05:00:12.437" v="547"/>
          <ac:graphicFrameMkLst>
            <pc:docMk/>
            <pc:sldMk cId="0" sldId="274"/>
            <ac:graphicFrameMk id="3" creationId="{0C10C70B-A6D6-9B57-1500-ABDB09F363B0}"/>
          </ac:graphicFrameMkLst>
        </pc:graphicFrameChg>
      </pc:sldChg>
      <pc:sldChg chg="addSp delSp modSp mod">
        <pc:chgData name="ARJUN AVALAKKI MOHAN" userId="be4ab9aaf12c5868" providerId="LiveId" clId="{C81E60EF-EF5F-4B4B-A4E1-3178676F15CC}" dt="2026-06-02T05:05:10.293" v="590" actId="20577"/>
        <pc:sldMkLst>
          <pc:docMk/>
          <pc:sldMk cId="0" sldId="276"/>
        </pc:sldMkLst>
        <pc:spChg chg="add mod">
          <ac:chgData name="ARJUN AVALAKKI MOHAN" userId="be4ab9aaf12c5868" providerId="LiveId" clId="{C81E60EF-EF5F-4B4B-A4E1-3178676F15CC}" dt="2026-06-02T05:05:10.293" v="590" actId="20577"/>
          <ac:spMkLst>
            <pc:docMk/>
            <pc:sldMk cId="0" sldId="276"/>
            <ac:spMk id="3" creationId="{8782DC50-C671-C8A0-8A70-6A7C7D8B82F1}"/>
          </ac:spMkLst>
        </pc:spChg>
        <pc:spChg chg="del">
          <ac:chgData name="ARJUN AVALAKKI MOHAN" userId="be4ab9aaf12c5868" providerId="LiveId" clId="{C81E60EF-EF5F-4B4B-A4E1-3178676F15CC}" dt="2026-06-02T05:00:05.382" v="544" actId="478"/>
          <ac:spMkLst>
            <pc:docMk/>
            <pc:sldMk cId="0" sldId="276"/>
            <ac:spMk id="303" creationId="{00000000-0000-0000-0000-000000000000}"/>
          </ac:spMkLst>
        </pc:spChg>
      </pc:sldChg>
      <pc:sldChg chg="del">
        <pc:chgData name="ARJUN AVALAKKI MOHAN" userId="be4ab9aaf12c5868" providerId="LiveId" clId="{C81E60EF-EF5F-4B4B-A4E1-3178676F15CC}" dt="2026-06-02T05:05:58.068" v="591" actId="47"/>
        <pc:sldMkLst>
          <pc:docMk/>
          <pc:sldMk cId="0" sldId="277"/>
        </pc:sldMkLst>
      </pc:sldChg>
      <pc:sldChg chg="del">
        <pc:chgData name="ARJUN AVALAKKI MOHAN" userId="be4ab9aaf12c5868" providerId="LiveId" clId="{C81E60EF-EF5F-4B4B-A4E1-3178676F15CC}" dt="2026-06-02T05:06:00.133" v="592" actId="47"/>
        <pc:sldMkLst>
          <pc:docMk/>
          <pc:sldMk cId="0"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9cfc2a9a8d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9cfc2a9a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9c24cf9085_0_3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9c24cf908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9c24cf9085_0_4: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9c24cf908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a1e537952f_0_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1e537952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8d8c850c25_0_10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g64b864f3db_0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a1e537952f_0_14: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a1e537952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9dd260ecd2_0_5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g9dd260ecd2_0_5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9c24cf9085_0_3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9c24cf908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dd260ecd2_0_7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9dd260ecd2_0_7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9dd260ecd2_0_9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9dd260ecd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9c24cf9085_0_7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9c24cf908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a45bde9993_0_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ga45bde9993_0_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a45bde9993_0_1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a45bde99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dd260ecd2_0_8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9dd260ecd2_0_8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9c24cf9085_0_4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9c24cf908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5.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296025" y="8600600"/>
            <a:ext cx="1052250" cy="1052250"/>
          </a:xfrm>
          <a:prstGeom prst="rect">
            <a:avLst/>
          </a:prstGeom>
          <a:noFill/>
          <a:ln>
            <a:noFill/>
          </a:ln>
        </p:spPr>
      </p:pic>
      <p:sp>
        <p:nvSpPr>
          <p:cNvPr id="178" name="Google Shape;178;p51"/>
          <p:cNvSpPr txBox="1">
            <a:spLocks noGrp="1"/>
          </p:cNvSpPr>
          <p:nvPr>
            <p:ph type="title" idx="4294967295"/>
          </p:nvPr>
        </p:nvSpPr>
        <p:spPr>
          <a:xfrm>
            <a:off x="264895" y="96629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a:solidFill>
                  <a:srgbClr val="FFFFFF"/>
                </a:solidFill>
              </a:rPr>
              <a:t>Data Governance @ SneakerPark</a:t>
            </a:r>
            <a:endParaRPr sz="4000">
              <a:solidFill>
                <a:srgbClr val="FFFFFF"/>
              </a:solidFill>
            </a:endParaRPr>
          </a:p>
          <a:p>
            <a:pPr marL="0" lvl="0" indent="0" algn="l" rtl="0">
              <a:spcBef>
                <a:spcPts val="0"/>
              </a:spcBef>
              <a:spcAft>
                <a:spcPts val="0"/>
              </a:spcAft>
              <a:buNone/>
            </a:pPr>
            <a:endParaRPr/>
          </a:p>
        </p:txBody>
      </p:sp>
      <p:pic>
        <p:nvPicPr>
          <p:cNvPr id="179" name="Google Shape;179;p51"/>
          <p:cNvPicPr preferRelativeResize="0"/>
          <p:nvPr/>
        </p:nvPicPr>
        <p:blipFill rotWithShape="1">
          <a:blip r:embed="rId4">
            <a:alphaModFix/>
          </a:blip>
          <a:srcRect t="-1820" b="1820"/>
          <a:stretch/>
        </p:blipFill>
        <p:spPr>
          <a:xfrm>
            <a:off x="1617725" y="3728150"/>
            <a:ext cx="4506849" cy="2591575"/>
          </a:xfrm>
          <a:prstGeom prst="rect">
            <a:avLst/>
          </a:prstGeom>
          <a:noFill/>
          <a:ln>
            <a:noFill/>
          </a:ln>
        </p:spPr>
      </p:pic>
      <p:sp>
        <p:nvSpPr>
          <p:cNvPr id="180" name="Google Shape;180;p51"/>
          <p:cNvSpPr txBox="1"/>
          <p:nvPr/>
        </p:nvSpPr>
        <p:spPr>
          <a:xfrm>
            <a:off x="264900" y="9001125"/>
            <a:ext cx="4324200" cy="78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dirty="0">
                <a:solidFill>
                  <a:srgbClr val="EEEEEE"/>
                </a:solidFill>
                <a:latin typeface="Open Sans"/>
                <a:ea typeface="Open Sans"/>
                <a:cs typeface="Open Sans"/>
                <a:sym typeface="Open Sans"/>
              </a:rPr>
              <a:t>Prepared by: Arjun Avalakki Mohan</a:t>
            </a: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r>
              <a:rPr lang="en" i="1" dirty="0">
                <a:solidFill>
                  <a:srgbClr val="EEEEEE"/>
                </a:solidFill>
                <a:latin typeface="Open Sans"/>
                <a:ea typeface="Open Sans"/>
                <a:cs typeface="Open Sans"/>
                <a:sym typeface="Open Sans"/>
              </a:rPr>
              <a:t>Submitted on: </a:t>
            </a:r>
            <a:endParaRPr i="1" dirty="0">
              <a:solidFill>
                <a:srgbClr val="EEEEEE"/>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54"/>
          <p:cNvSpPr txBox="1">
            <a:spLocks noGrp="1"/>
          </p:cNvSpPr>
          <p:nvPr>
            <p:ph type="title"/>
          </p:nvPr>
        </p:nvSpPr>
        <p:spPr>
          <a:xfrm>
            <a:off x="264895" y="1844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a:t>
            </a:r>
            <a:endParaRPr/>
          </a:p>
        </p:txBody>
      </p:sp>
      <p:sp>
        <p:nvSpPr>
          <p:cNvPr id="204" name="Google Shape;204;p54"/>
          <p:cNvSpPr txBox="1">
            <a:spLocks noGrp="1"/>
          </p:cNvSpPr>
          <p:nvPr>
            <p:ph type="body" idx="1"/>
          </p:nvPr>
        </p:nvSpPr>
        <p:spPr>
          <a:xfrm>
            <a:off x="264900" y="1420950"/>
            <a:ext cx="6932700" cy="8332800"/>
          </a:xfrm>
          <a:prstGeom prst="rect">
            <a:avLst/>
          </a:prstGeom>
        </p:spPr>
        <p:txBody>
          <a:bodyPr spcFirstLastPara="1" wrap="square" lIns="91425" tIns="91425" rIns="91425" bIns="91425" anchor="t" anchorCtr="0">
            <a:noAutofit/>
          </a:bodyPr>
          <a:lstStyle/>
          <a:p>
            <a:pPr marL="457200" lvl="0" indent="-336550" algn="just" rtl="0">
              <a:lnSpc>
                <a:spcPct val="150000"/>
              </a:lnSpc>
              <a:spcBef>
                <a:spcPts val="0"/>
              </a:spcBef>
              <a:spcAft>
                <a:spcPts val="0"/>
              </a:spcAft>
              <a:buClr>
                <a:srgbClr val="525C65"/>
              </a:buClr>
              <a:buSzPts val="1700"/>
              <a:buFont typeface="Open Sans"/>
              <a:buChar char="●"/>
            </a:pPr>
            <a:r>
              <a:rPr lang="en" sz="1700" b="1" dirty="0">
                <a:solidFill>
                  <a:srgbClr val="525C65"/>
                </a:solidFill>
                <a:highlight>
                  <a:srgbClr val="FFFFFF"/>
                </a:highlight>
                <a:latin typeface="Open Sans"/>
                <a:ea typeface="Open Sans"/>
                <a:cs typeface="Open Sans"/>
                <a:sym typeface="Open Sans"/>
              </a:rPr>
              <a:t>SneakerPark</a:t>
            </a:r>
            <a:r>
              <a:rPr lang="en" sz="1700" dirty="0">
                <a:solidFill>
                  <a:srgbClr val="525C65"/>
                </a:solidFill>
                <a:highlight>
                  <a:srgbClr val="FFFFFF"/>
                </a:highlight>
                <a:latin typeface="Open Sans"/>
                <a:ea typeface="Open Sans"/>
                <a:cs typeface="Open Sans"/>
                <a:sym typeface="Open Sans"/>
              </a:rPr>
              <a:t> is an online shoe reseller that allows people to buy and sell used and new shoes. Buyers can bid for shoes or buy them outright, and sellers can set a price or sell to the highest bidder.</a:t>
            </a:r>
            <a:endParaRPr sz="1700" dirty="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dirty="0">
                <a:solidFill>
                  <a:srgbClr val="525C65"/>
                </a:solidFill>
                <a:highlight>
                  <a:srgbClr val="FFFFFF"/>
                </a:highlight>
                <a:latin typeface="Open Sans"/>
                <a:ea typeface="Open Sans"/>
                <a:cs typeface="Open Sans"/>
                <a:sym typeface="Open Sans"/>
              </a:rPr>
              <a:t>Each buyer and seller must have an active account in order to sell, bid, or purchase sneakers using SneakerPark’s website.</a:t>
            </a:r>
            <a:endParaRPr sz="1700" dirty="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dirty="0">
                <a:solidFill>
                  <a:srgbClr val="525C65"/>
                </a:solidFill>
                <a:highlight>
                  <a:srgbClr val="FFFFFF"/>
                </a:highlight>
                <a:latin typeface="Open Sans"/>
                <a:ea typeface="Open Sans"/>
                <a:cs typeface="Open Sans"/>
                <a:sym typeface="Open Sans"/>
              </a:rPr>
              <a:t>SneakerPark authenticates the shoes before shipping them to the buyer, so before listing an item, the seller must ship it to SneakerPark’s warehouse. Upon receipt, SneakerPark assigns an item number to each pair of sneakers and notifies the seller that they are now free to list their item. If the item is not listed within 45 days, SneakerPark returns it to the seller and sends an invoice to the seller for the shipping cost.</a:t>
            </a:r>
            <a:endParaRPr sz="1700" dirty="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dirty="0">
                <a:solidFill>
                  <a:srgbClr val="525C65"/>
                </a:solidFill>
                <a:highlight>
                  <a:srgbClr val="FFFFFF"/>
                </a:highlight>
                <a:latin typeface="Open Sans"/>
                <a:ea typeface="Open Sans"/>
                <a:cs typeface="Open Sans"/>
                <a:sym typeface="Open Sans"/>
              </a:rPr>
              <a:t>If the item is found to be inauthentic or in an unacceptable condition, it is also returned back to the seller in a similar fashion.</a:t>
            </a:r>
            <a:endParaRPr sz="1700" dirty="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dirty="0">
                <a:solidFill>
                  <a:srgbClr val="525C65"/>
                </a:solidFill>
                <a:highlight>
                  <a:srgbClr val="FFFFFF"/>
                </a:highlight>
                <a:latin typeface="Open Sans"/>
                <a:ea typeface="Open Sans"/>
                <a:cs typeface="Open Sans"/>
                <a:sym typeface="Open Sans"/>
              </a:rPr>
              <a:t>When the item sells, the buyer’s account is credited with the purchase price minus the SneakerPark service fee and shipping fees to deliver the item to the buyer.</a:t>
            </a:r>
            <a:endParaRPr sz="1700" dirty="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dirty="0">
                <a:solidFill>
                  <a:srgbClr val="525C65"/>
                </a:solidFill>
                <a:highlight>
                  <a:srgbClr val="FFFFFF"/>
                </a:highlight>
                <a:latin typeface="Open Sans"/>
                <a:ea typeface="Open Sans"/>
                <a:cs typeface="Open Sans"/>
                <a:sym typeface="Open Sans"/>
              </a:rPr>
              <a:t>Currently, SneakerPark only supports sales within the United States.</a:t>
            </a:r>
            <a:endParaRPr sz="1700" dirty="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1100"/>
              </a:spcBef>
              <a:spcAft>
                <a:spcPts val="400"/>
              </a:spcAft>
              <a:buClr>
                <a:schemeClr val="dk1"/>
              </a:buClr>
              <a:buSzPts val="1100"/>
              <a:buFont typeface="Arial"/>
              <a:buNone/>
            </a:pPr>
            <a:endParaRPr sz="1700" b="1" dirty="0">
              <a:solidFill>
                <a:srgbClr val="2E3D49"/>
              </a:solidFill>
              <a:highlight>
                <a:srgbClr val="FFFFFF"/>
              </a:highlight>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55"/>
          <p:cNvSpPr txBox="1">
            <a:spLocks noGrp="1"/>
          </p:cNvSpPr>
          <p:nvPr>
            <p:ph type="title"/>
          </p:nvPr>
        </p:nvSpPr>
        <p:spPr>
          <a:xfrm>
            <a:off x="264895" y="403546"/>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 (cont’d)</a:t>
            </a:r>
            <a:endParaRPr/>
          </a:p>
        </p:txBody>
      </p:sp>
      <p:sp>
        <p:nvSpPr>
          <p:cNvPr id="210" name="Google Shape;210;p55"/>
          <p:cNvSpPr txBox="1"/>
          <p:nvPr/>
        </p:nvSpPr>
        <p:spPr>
          <a:xfrm>
            <a:off x="228600" y="1562100"/>
            <a:ext cx="6876900" cy="2426400"/>
          </a:xfrm>
          <a:prstGeom prst="rect">
            <a:avLst/>
          </a:prstGeom>
          <a:noFill/>
          <a:ln>
            <a:noFill/>
          </a:ln>
        </p:spPr>
        <p:txBody>
          <a:bodyPr spcFirstLastPara="1" wrap="square" lIns="91425" tIns="91425" rIns="91425" bIns="91425" anchor="t" anchorCtr="0">
            <a:noAutofit/>
          </a:bodyPr>
          <a:lstStyle/>
          <a:p>
            <a:pPr marL="457200" lvl="0" indent="-342900" algn="just" rtl="0">
              <a:lnSpc>
                <a:spcPct val="170000"/>
              </a:lnSpc>
              <a:spcBef>
                <a:spcPts val="0"/>
              </a:spcBef>
              <a:spcAft>
                <a:spcPts val="0"/>
              </a:spcAft>
              <a:buClr>
                <a:srgbClr val="525C65"/>
              </a:buClr>
              <a:buSzPts val="1800"/>
              <a:buFont typeface="Open Sans"/>
              <a:buChar char="●"/>
            </a:pPr>
            <a:r>
              <a:rPr lang="en" sz="1800">
                <a:solidFill>
                  <a:srgbClr val="525C65"/>
                </a:solidFill>
                <a:highlight>
                  <a:srgbClr val="FFFFFF"/>
                </a:highlight>
                <a:latin typeface="Open Sans"/>
                <a:ea typeface="Open Sans"/>
                <a:cs typeface="Open Sans"/>
                <a:sym typeface="Open Sans"/>
              </a:rPr>
              <a:t>Below you can see a diagram that will hopefully help you visualize some of SneakerPark's business processes. Keep in mind that it does not capture ALL processes and every nuance, but simply serves as another artifact to use in your project.</a:t>
            </a:r>
            <a:endParaRPr sz="1800">
              <a:solidFill>
                <a:srgbClr val="525C65"/>
              </a:solidFill>
              <a:highlight>
                <a:srgbClr val="FFFFFF"/>
              </a:highlight>
              <a:latin typeface="Open Sans"/>
              <a:ea typeface="Open Sans"/>
              <a:cs typeface="Open Sans"/>
              <a:sym typeface="Open Sans"/>
            </a:endParaRPr>
          </a:p>
        </p:txBody>
      </p:sp>
      <p:pic>
        <p:nvPicPr>
          <p:cNvPr id="211" name="Google Shape;211;p55"/>
          <p:cNvPicPr preferRelativeResize="0"/>
          <p:nvPr/>
        </p:nvPicPr>
        <p:blipFill>
          <a:blip r:embed="rId3">
            <a:alphaModFix/>
          </a:blip>
          <a:stretch>
            <a:fillRect/>
          </a:stretch>
        </p:blipFill>
        <p:spPr>
          <a:xfrm>
            <a:off x="152400" y="4140900"/>
            <a:ext cx="7467599" cy="47086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15"/>
        <p:cNvGrpSpPr/>
        <p:nvPr/>
      </p:nvGrpSpPr>
      <p:grpSpPr>
        <a:xfrm>
          <a:off x="0" y="0"/>
          <a:ext cx="0" cy="0"/>
          <a:chOff x="0" y="0"/>
          <a:chExt cx="0" cy="0"/>
        </a:xfrm>
      </p:grpSpPr>
      <p:sp>
        <p:nvSpPr>
          <p:cNvPr id="216" name="Google Shape;216;p56"/>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7" name="Google Shape;217;p56"/>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8" name="Google Shape;218;p56"/>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1: Enterprise Data Model</a:t>
            </a:r>
            <a:endParaRPr sz="3000">
              <a:solidFill>
                <a:srgbClr val="FFFFFF"/>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57"/>
          <p:cNvSpPr txBox="1"/>
          <p:nvPr/>
        </p:nvSpPr>
        <p:spPr>
          <a:xfrm>
            <a:off x="0" y="-352425"/>
            <a:ext cx="7772400" cy="3977100"/>
          </a:xfrm>
          <a:prstGeom prst="rect">
            <a:avLst/>
          </a:prstGeom>
          <a:noFill/>
          <a:ln>
            <a:noFill/>
          </a:ln>
        </p:spPr>
        <p:txBody>
          <a:bodyPr spcFirstLastPara="1" wrap="square" lIns="91425" tIns="91425" rIns="91425" bIns="91425" anchor="t" anchorCtr="0">
            <a:noAutofit/>
          </a:bodyPr>
          <a:lstStyle/>
          <a:p>
            <a:pPr marL="241300" marR="241300" lvl="0" indent="0" algn="just" rtl="0">
              <a:lnSpc>
                <a:spcPct val="170000"/>
              </a:lnSpc>
              <a:spcBef>
                <a:spcPts val="3800"/>
              </a:spcBef>
              <a:spcAft>
                <a:spcPts val="1100"/>
              </a:spcAft>
              <a:buNone/>
            </a:pPr>
            <a:r>
              <a:rPr lang="en" sz="1600">
                <a:solidFill>
                  <a:srgbClr val="525C65"/>
                </a:solidFill>
                <a:highlight>
                  <a:srgbClr val="FFFFFF"/>
                </a:highlight>
                <a:latin typeface="Open Sans"/>
                <a:ea typeface="Open Sans"/>
                <a:cs typeface="Open Sans"/>
                <a:sym typeface="Open Sans"/>
              </a:rPr>
              <a:t>Create a </a:t>
            </a:r>
            <a:r>
              <a:rPr lang="en" sz="1600" b="1">
                <a:solidFill>
                  <a:srgbClr val="525C65"/>
                </a:solidFill>
                <a:highlight>
                  <a:srgbClr val="FFFFFF"/>
                </a:highlight>
                <a:latin typeface="Open Sans"/>
                <a:ea typeface="Open Sans"/>
                <a:cs typeface="Open Sans"/>
                <a:sym typeface="Open Sans"/>
              </a:rPr>
              <a:t>conceptual</a:t>
            </a:r>
            <a:r>
              <a:rPr lang="en" sz="1600">
                <a:solidFill>
                  <a:srgbClr val="525C65"/>
                </a:solidFill>
                <a:highlight>
                  <a:srgbClr val="FFFFFF"/>
                </a:highlight>
                <a:latin typeface="Open Sans"/>
                <a:ea typeface="Open Sans"/>
                <a:cs typeface="Open Sans"/>
                <a:sym typeface="Open Sans"/>
              </a:rPr>
              <a:t> data model that will provide SneakerPark with a holistic view of its data systems and help you grasp the organization's </a:t>
            </a:r>
            <a:r>
              <a:rPr lang="en" sz="1600" b="1">
                <a:solidFill>
                  <a:srgbClr val="525C65"/>
                </a:solidFill>
                <a:highlight>
                  <a:srgbClr val="FFFFFF"/>
                </a:highlight>
                <a:latin typeface="Open Sans"/>
                <a:ea typeface="Open Sans"/>
                <a:cs typeface="Open Sans"/>
                <a:sym typeface="Open Sans"/>
              </a:rPr>
              <a:t>important entities and relationships</a:t>
            </a:r>
            <a:r>
              <a:rPr lang="en" sz="1600">
                <a:solidFill>
                  <a:srgbClr val="525C65"/>
                </a:solidFill>
                <a:highlight>
                  <a:srgbClr val="FFFFFF"/>
                </a:highlight>
                <a:latin typeface="Open Sans"/>
                <a:ea typeface="Open Sans"/>
                <a:cs typeface="Open Sans"/>
                <a:sym typeface="Open Sans"/>
              </a:rPr>
              <a:t>, which will be instrumental as you move further in the project. You can use Lucidchart or any other diagramming tool of your choice, but please use the Crow’s Foot/IE Notation and please be sure to indicate both cardinality (the type of a relationship such as 1:N or N:N) and optionality (whether the relationship is optional or mandatory).</a:t>
            </a:r>
            <a:endParaRPr sz="1600">
              <a:solidFill>
                <a:srgbClr val="525C65"/>
              </a:solidFill>
              <a:highlight>
                <a:srgbClr val="FFFFFF"/>
              </a:highlight>
              <a:latin typeface="Open Sans"/>
              <a:ea typeface="Open Sans"/>
              <a:cs typeface="Open Sans"/>
              <a:sym typeface="Open Sans"/>
            </a:endParaRPr>
          </a:p>
        </p:txBody>
      </p:sp>
      <p:pic>
        <p:nvPicPr>
          <p:cNvPr id="224" name="Google Shape;224;p57"/>
          <p:cNvPicPr preferRelativeResize="0"/>
          <p:nvPr/>
        </p:nvPicPr>
        <p:blipFill>
          <a:blip r:embed="rId3">
            <a:alphaModFix/>
          </a:blip>
          <a:stretch>
            <a:fillRect/>
          </a:stretch>
        </p:blipFill>
        <p:spPr>
          <a:xfrm>
            <a:off x="1395550" y="4276725"/>
            <a:ext cx="4781550" cy="1504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58"/>
          <p:cNvSpPr txBox="1"/>
          <p:nvPr/>
        </p:nvSpPr>
        <p:spPr>
          <a:xfrm>
            <a:off x="466650" y="467050"/>
            <a:ext cx="6839100" cy="800100"/>
          </a:xfrm>
          <a:prstGeom prst="rect">
            <a:avLst/>
          </a:prstGeom>
          <a:noFill/>
          <a:ln>
            <a:noFill/>
          </a:ln>
        </p:spPr>
        <p:txBody>
          <a:bodyPr spcFirstLastPara="1" wrap="square" lIns="91425" tIns="91425" rIns="91425" bIns="91425" anchor="t" anchorCtr="0">
            <a:noAutofit/>
          </a:bodyPr>
          <a:lstStyle/>
          <a:p>
            <a:pPr marL="0" lvl="0" indent="0" algn="ctr" rtl="0">
              <a:lnSpc>
                <a:spcPct val="170000"/>
              </a:lnSpc>
              <a:spcBef>
                <a:spcPts val="0"/>
              </a:spcBef>
              <a:spcAft>
                <a:spcPts val="0"/>
              </a:spcAft>
              <a:buNone/>
            </a:pPr>
            <a:r>
              <a:rPr lang="en-US" sz="2000" b="1" dirty="0" err="1">
                <a:solidFill>
                  <a:schemeClr val="tx1"/>
                </a:solidFill>
                <a:highlight>
                  <a:schemeClr val="lt1"/>
                </a:highlight>
                <a:latin typeface="Open Sans"/>
                <a:ea typeface="Open Sans"/>
                <a:cs typeface="Open Sans"/>
                <a:sym typeface="Open Sans"/>
              </a:rPr>
              <a:t>SneakerPark</a:t>
            </a:r>
            <a:r>
              <a:rPr lang="en-US" sz="2000" b="1" dirty="0">
                <a:solidFill>
                  <a:schemeClr val="tx1"/>
                </a:solidFill>
                <a:highlight>
                  <a:schemeClr val="lt1"/>
                </a:highlight>
                <a:latin typeface="Open Sans"/>
                <a:ea typeface="Open Sans"/>
                <a:cs typeface="Open Sans"/>
                <a:sym typeface="Open Sans"/>
              </a:rPr>
              <a:t> – Enterprise Conceptual Data Model</a:t>
            </a:r>
            <a:endParaRPr sz="2000" b="1" dirty="0">
              <a:solidFill>
                <a:schemeClr val="tx1"/>
              </a:solidFill>
              <a:highlight>
                <a:schemeClr val="lt1"/>
              </a:highlight>
              <a:latin typeface="Open Sans"/>
              <a:ea typeface="Open Sans"/>
              <a:cs typeface="Open Sans"/>
              <a:sym typeface="Open Sans"/>
            </a:endParaRPr>
          </a:p>
        </p:txBody>
      </p:sp>
      <p:pic>
        <p:nvPicPr>
          <p:cNvPr id="3" name="Picture 2">
            <a:extLst>
              <a:ext uri="{FF2B5EF4-FFF2-40B4-BE49-F238E27FC236}">
                <a16:creationId xmlns:a16="http://schemas.microsoft.com/office/drawing/2014/main" id="{741A04ED-7421-9AB8-1581-89CCD9D747C2}"/>
              </a:ext>
            </a:extLst>
          </p:cNvPr>
          <p:cNvPicPr>
            <a:picLocks noChangeAspect="1"/>
          </p:cNvPicPr>
          <p:nvPr/>
        </p:nvPicPr>
        <p:blipFill>
          <a:blip r:embed="rId3"/>
          <a:stretch>
            <a:fillRect/>
          </a:stretch>
        </p:blipFill>
        <p:spPr>
          <a:xfrm>
            <a:off x="0" y="1669515"/>
            <a:ext cx="7587049" cy="40255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4"/>
        <p:cNvGrpSpPr/>
        <p:nvPr/>
      </p:nvGrpSpPr>
      <p:grpSpPr>
        <a:xfrm>
          <a:off x="0" y="0"/>
          <a:ext cx="0" cy="0"/>
          <a:chOff x="0" y="0"/>
          <a:chExt cx="0" cy="0"/>
        </a:xfrm>
      </p:grpSpPr>
      <p:sp>
        <p:nvSpPr>
          <p:cNvPr id="235" name="Google Shape;235;p59"/>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36" name="Google Shape;236;p59"/>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2: Metadata</a:t>
            </a:r>
            <a:endParaRPr sz="3000">
              <a:solidFill>
                <a:srgbClr val="FFFFFF"/>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5" name="TextBox 4">
            <a:extLst>
              <a:ext uri="{FF2B5EF4-FFF2-40B4-BE49-F238E27FC236}">
                <a16:creationId xmlns:a16="http://schemas.microsoft.com/office/drawing/2014/main" id="{1C653097-FEC9-05E6-DFA6-D0B3B22F3299}"/>
              </a:ext>
            </a:extLst>
          </p:cNvPr>
          <p:cNvSpPr txBox="1"/>
          <p:nvPr/>
        </p:nvSpPr>
        <p:spPr>
          <a:xfrm>
            <a:off x="373791" y="486774"/>
            <a:ext cx="7052619" cy="1169551"/>
          </a:xfrm>
          <a:prstGeom prst="rect">
            <a:avLst/>
          </a:prstGeom>
          <a:noFill/>
        </p:spPr>
        <p:txBody>
          <a:bodyPr wrap="square">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The metadata for all source systems was documented in the Data Dictionary and Enterprise Data </a:t>
            </a:r>
            <a:r>
              <a:rPr lang="en-GB" dirty="0" err="1">
                <a:latin typeface="Open Sans" panose="020B0606030504020204" pitchFamily="34" charset="0"/>
                <a:ea typeface="Open Sans" panose="020B0606030504020204" pitchFamily="34" charset="0"/>
                <a:cs typeface="Open Sans" panose="020B0606030504020204" pitchFamily="34" charset="0"/>
              </a:rPr>
              <a:t>Catalog</a:t>
            </a:r>
            <a:r>
              <a:rPr lang="en-GB" dirty="0">
                <a:latin typeface="Open Sans" panose="020B0606030504020204" pitchFamily="34" charset="0"/>
                <a:ea typeface="Open Sans" panose="020B0606030504020204" pitchFamily="34" charset="0"/>
                <a:cs typeface="Open Sans" panose="020B0606030504020204" pitchFamily="34" charset="0"/>
              </a:rPr>
              <a:t> tabs of the provided spreadsheet template.</a:t>
            </a:r>
            <a:br>
              <a:rPr lang="en-GB" dirty="0">
                <a:latin typeface="Open Sans" panose="020B0606030504020204" pitchFamily="34" charset="0"/>
                <a:ea typeface="Open Sans" panose="020B0606030504020204" pitchFamily="34" charset="0"/>
                <a:cs typeface="Open Sans" panose="020B0606030504020204" pitchFamily="34" charset="0"/>
              </a:rPr>
            </a:br>
            <a:br>
              <a:rPr lang="en-GB" dirty="0">
                <a:latin typeface="Open Sans" panose="020B0606030504020204" pitchFamily="34" charset="0"/>
                <a:ea typeface="Open Sans" panose="020B0606030504020204" pitchFamily="34" charset="0"/>
                <a:cs typeface="Open Sans" panose="020B0606030504020204" pitchFamily="34" charset="0"/>
              </a:rPr>
            </a:br>
            <a:r>
              <a:rPr lang="en-GB" dirty="0">
                <a:latin typeface="Open Sans" panose="020B0606030504020204" pitchFamily="34" charset="0"/>
                <a:ea typeface="Open Sans" panose="020B0606030504020204" pitchFamily="34" charset="0"/>
                <a:cs typeface="Open Sans" panose="020B0606030504020204" pitchFamily="34" charset="0"/>
              </a:rPr>
              <a:t>The completed Metadata </a:t>
            </a:r>
            <a:r>
              <a:rPr lang="en-GB" dirty="0" err="1">
                <a:latin typeface="Open Sans" panose="020B0606030504020204" pitchFamily="34" charset="0"/>
                <a:ea typeface="Open Sans" panose="020B0606030504020204" pitchFamily="34" charset="0"/>
                <a:cs typeface="Open Sans" panose="020B0606030504020204" pitchFamily="34" charset="0"/>
              </a:rPr>
              <a:t>Catalog</a:t>
            </a:r>
            <a:r>
              <a:rPr lang="en-GB" dirty="0">
                <a:latin typeface="Open Sans" panose="020B0606030504020204" pitchFamily="34" charset="0"/>
                <a:ea typeface="Open Sans" panose="020B0606030504020204" pitchFamily="34" charset="0"/>
                <a:cs typeface="Open Sans" panose="020B0606030504020204" pitchFamily="34" charset="0"/>
              </a:rPr>
              <a:t> spreadsheet has been provided separately and is available in the project repository: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45"/>
        <p:cNvGrpSpPr/>
        <p:nvPr/>
      </p:nvGrpSpPr>
      <p:grpSpPr>
        <a:xfrm>
          <a:off x="0" y="0"/>
          <a:ext cx="0" cy="0"/>
          <a:chOff x="0" y="0"/>
          <a:chExt cx="0" cy="0"/>
        </a:xfrm>
      </p:grpSpPr>
      <p:sp>
        <p:nvSpPr>
          <p:cNvPr id="246" name="Google Shape;246;p61"/>
          <p:cNvSpPr/>
          <p:nvPr/>
        </p:nvSpPr>
        <p:spPr>
          <a:xfrm>
            <a:off x="1051200" y="4003550"/>
            <a:ext cx="5670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3</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1: Profiling and Cleansing</a:t>
            </a:r>
            <a:endParaRPr sz="3000">
              <a:solidFill>
                <a:srgbClr val="FFFFFF"/>
              </a:solidFill>
              <a:latin typeface="Open Sans"/>
              <a:ea typeface="Open Sans"/>
              <a:cs typeface="Open Sans"/>
              <a:sym typeface="Open Sans"/>
            </a:endParaRPr>
          </a:p>
        </p:txBody>
      </p:sp>
      <p:sp>
        <p:nvSpPr>
          <p:cNvPr id="247" name="Google Shape;247;p61"/>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62"/>
          <p:cNvSpPr txBox="1"/>
          <p:nvPr/>
        </p:nvSpPr>
        <p:spPr>
          <a:xfrm>
            <a:off x="504500" y="425675"/>
            <a:ext cx="6810600" cy="30000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a:solidFill>
                  <a:srgbClr val="525C65"/>
                </a:solidFill>
                <a:highlight>
                  <a:srgbClr val="FFFFFF"/>
                </a:highlight>
                <a:latin typeface="Open Sans"/>
                <a:ea typeface="Open Sans"/>
                <a:cs typeface="Open Sans"/>
                <a:sym typeface="Open Sans"/>
              </a:rPr>
              <a:t>Profile the data to identify at least </a:t>
            </a:r>
            <a:r>
              <a:rPr lang="en" sz="1600" b="1">
                <a:solidFill>
                  <a:srgbClr val="525C65"/>
                </a:solidFill>
                <a:highlight>
                  <a:srgbClr val="FFFFFF"/>
                </a:highlight>
                <a:latin typeface="Open Sans"/>
                <a:ea typeface="Open Sans"/>
                <a:cs typeface="Open Sans"/>
                <a:sym typeface="Open Sans"/>
              </a:rPr>
              <a:t>3 data quality issues</a:t>
            </a:r>
            <a:r>
              <a:rPr lang="en" sz="1600">
                <a:solidFill>
                  <a:srgbClr val="525C65"/>
                </a:solidFill>
                <a:highlight>
                  <a:srgbClr val="FFFFFF"/>
                </a:highlight>
                <a:latin typeface="Open Sans"/>
                <a:ea typeface="Open Sans"/>
                <a:cs typeface="Open Sans"/>
                <a:sym typeface="Open Sans"/>
              </a:rPr>
              <a:t> you see in the data. Also provide </a:t>
            </a:r>
            <a:r>
              <a:rPr lang="en" sz="1600" b="1">
                <a:solidFill>
                  <a:srgbClr val="525C65"/>
                </a:solidFill>
                <a:highlight>
                  <a:srgbClr val="FFFFFF"/>
                </a:highlight>
                <a:latin typeface="Open Sans"/>
                <a:ea typeface="Open Sans"/>
                <a:cs typeface="Open Sans"/>
                <a:sym typeface="Open Sans"/>
              </a:rPr>
              <a:t>at least 1 data quality issue that you haven’t yet seen</a:t>
            </a:r>
            <a:r>
              <a:rPr lang="en" sz="1600">
                <a:solidFill>
                  <a:srgbClr val="525C65"/>
                </a:solidFill>
                <a:highlight>
                  <a:srgbClr val="FFFFFF"/>
                </a:highlight>
                <a:latin typeface="Open Sans"/>
                <a:ea typeface="Open Sans"/>
                <a:cs typeface="Open Sans"/>
                <a:sym typeface="Open Sans"/>
              </a:rPr>
              <a:t> in the data, but can foresee occurring in the future. Based on the issues you’ve identified, come up with the data quality rule for each data quality issue, including for the one that you foresee.</a:t>
            </a:r>
            <a:endParaRPr sz="160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a:solidFill>
                  <a:srgbClr val="525C65"/>
                </a:solidFill>
                <a:highlight>
                  <a:srgbClr val="FFFFFF"/>
                </a:highlight>
                <a:latin typeface="Open Sans"/>
                <a:ea typeface="Open Sans"/>
                <a:cs typeface="Open Sans"/>
                <a:sym typeface="Open Sans"/>
              </a:rPr>
              <a:t>Make sure you fill out </a:t>
            </a:r>
            <a:r>
              <a:rPr lang="en" sz="1600" b="1">
                <a:solidFill>
                  <a:srgbClr val="525C65"/>
                </a:solidFill>
                <a:highlight>
                  <a:srgbClr val="FFFFFF"/>
                </a:highlight>
                <a:latin typeface="Open Sans"/>
                <a:ea typeface="Open Sans"/>
                <a:cs typeface="Open Sans"/>
                <a:sym typeface="Open Sans"/>
              </a:rPr>
              <a:t>all</a:t>
            </a:r>
            <a:r>
              <a:rPr lang="en" sz="1600">
                <a:solidFill>
                  <a:srgbClr val="525C65"/>
                </a:solidFill>
                <a:highlight>
                  <a:srgbClr val="FFFFFF"/>
                </a:highlight>
                <a:latin typeface="Open Sans"/>
                <a:ea typeface="Open Sans"/>
                <a:cs typeface="Open Sans"/>
                <a:sym typeface="Open Sans"/>
              </a:rPr>
              <a:t> columns in the "Data Quality Issues" tab with your answers in the provided Sheets template.</a:t>
            </a:r>
            <a:endParaRPr sz="160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56"/>
        <p:cNvGrpSpPr/>
        <p:nvPr/>
      </p:nvGrpSpPr>
      <p:grpSpPr>
        <a:xfrm>
          <a:off x="0" y="0"/>
          <a:ext cx="0" cy="0"/>
          <a:chOff x="0" y="0"/>
          <a:chExt cx="0" cy="0"/>
        </a:xfrm>
      </p:grpSpPr>
      <p:sp>
        <p:nvSpPr>
          <p:cNvPr id="257" name="Google Shape;257;p63"/>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4</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2: Monitoring</a:t>
            </a:r>
            <a:endParaRPr sz="3000">
              <a:solidFill>
                <a:srgbClr val="FFFFFF"/>
              </a:solidFill>
              <a:latin typeface="Open Sans"/>
              <a:ea typeface="Open Sans"/>
              <a:cs typeface="Open Sans"/>
              <a:sym typeface="Open Sans"/>
            </a:endParaRPr>
          </a:p>
        </p:txBody>
      </p:sp>
      <p:sp>
        <p:nvSpPr>
          <p:cNvPr id="258" name="Google Shape;258;p63"/>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5" name="TextBox 4">
            <a:extLst>
              <a:ext uri="{FF2B5EF4-FFF2-40B4-BE49-F238E27FC236}">
                <a16:creationId xmlns:a16="http://schemas.microsoft.com/office/drawing/2014/main" id="{E9E3B61F-17F6-2188-6589-BFE74ADDC4CB}"/>
              </a:ext>
            </a:extLst>
          </p:cNvPr>
          <p:cNvSpPr txBox="1"/>
          <p:nvPr/>
        </p:nvSpPr>
        <p:spPr>
          <a:xfrm>
            <a:off x="609141" y="7064336"/>
            <a:ext cx="6764236" cy="2031325"/>
          </a:xfrm>
          <a:prstGeom prst="rect">
            <a:avLst/>
          </a:prstGeom>
          <a:noFill/>
        </p:spPr>
        <p:txBody>
          <a:bodyPr wrap="square">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The dashboard highlights data quality issues identified during profiling of the </a:t>
            </a:r>
            <a:r>
              <a:rPr lang="en-GB" dirty="0" err="1">
                <a:latin typeface="Open Sans" panose="020B0606030504020204" pitchFamily="34" charset="0"/>
                <a:ea typeface="Open Sans" panose="020B0606030504020204" pitchFamily="34" charset="0"/>
                <a:cs typeface="Open Sans" panose="020B0606030504020204" pitchFamily="34" charset="0"/>
              </a:rPr>
              <a:t>SneakerPark</a:t>
            </a:r>
            <a:r>
              <a:rPr lang="en-GB" dirty="0">
                <a:latin typeface="Open Sans" panose="020B0606030504020204" pitchFamily="34" charset="0"/>
                <a:ea typeface="Open Sans" panose="020B0606030504020204" pitchFamily="34" charset="0"/>
                <a:cs typeface="Open Sans" panose="020B0606030504020204" pitchFamily="34" charset="0"/>
              </a:rPr>
              <a:t> data. The most significant issues are invalid customer email addresses and inconsistencies between listing information and inventory item data. Missing shipping addresses were identified in a smaller number of order records. </a:t>
            </a:r>
            <a:r>
              <a:rPr lang="en-US" dirty="0">
                <a:latin typeface="Open Sans" panose="020B0606030504020204" pitchFamily="34" charset="0"/>
                <a:ea typeface="Open Sans" panose="020B0606030504020204" pitchFamily="34" charset="0"/>
                <a:cs typeface="Open Sans" panose="020B0606030504020204" pitchFamily="34" charset="0"/>
              </a:rPr>
              <a:t>While no duplicate customer accounts were found in the current dataset, this remains a potential future risk as the business continues to grow.</a:t>
            </a:r>
          </a:p>
          <a:p>
            <a:endParaRPr lang="en-US" dirty="0">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These metrics should be monitored regularly to ensure compliance with data quality rules and to support future Master Data Management initiatives.</a:t>
            </a:r>
          </a:p>
        </p:txBody>
      </p:sp>
      <p:pic>
        <p:nvPicPr>
          <p:cNvPr id="4" name="Picture 3">
            <a:extLst>
              <a:ext uri="{FF2B5EF4-FFF2-40B4-BE49-F238E27FC236}">
                <a16:creationId xmlns:a16="http://schemas.microsoft.com/office/drawing/2014/main" id="{BB810124-E5C9-ED18-D2F5-6173976C0BC9}"/>
              </a:ext>
            </a:extLst>
          </p:cNvPr>
          <p:cNvPicPr>
            <a:picLocks noChangeAspect="1"/>
          </p:cNvPicPr>
          <p:nvPr/>
        </p:nvPicPr>
        <p:blipFill>
          <a:blip r:embed="rId3"/>
          <a:stretch>
            <a:fillRect/>
          </a:stretch>
        </p:blipFill>
        <p:spPr>
          <a:xfrm>
            <a:off x="513879" y="212924"/>
            <a:ext cx="6687483" cy="5134692"/>
          </a:xfrm>
          <a:prstGeom prst="rect">
            <a:avLst/>
          </a:prstGeom>
        </p:spPr>
      </p:pic>
      <p:pic>
        <p:nvPicPr>
          <p:cNvPr id="7" name="Picture 6">
            <a:extLst>
              <a:ext uri="{FF2B5EF4-FFF2-40B4-BE49-F238E27FC236}">
                <a16:creationId xmlns:a16="http://schemas.microsoft.com/office/drawing/2014/main" id="{7220465E-D0D3-D449-F6C4-FBACE7DDBB6A}"/>
              </a:ext>
            </a:extLst>
          </p:cNvPr>
          <p:cNvPicPr>
            <a:picLocks noChangeAspect="1"/>
          </p:cNvPicPr>
          <p:nvPr/>
        </p:nvPicPr>
        <p:blipFill>
          <a:blip r:embed="rId4"/>
          <a:stretch>
            <a:fillRect/>
          </a:stretch>
        </p:blipFill>
        <p:spPr>
          <a:xfrm>
            <a:off x="609141" y="5506106"/>
            <a:ext cx="6496957" cy="12003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5</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1: MDM Architecture</a:t>
            </a:r>
            <a:endParaRPr sz="300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5" name="TextBox 4">
            <a:extLst>
              <a:ext uri="{FF2B5EF4-FFF2-40B4-BE49-F238E27FC236}">
                <a16:creationId xmlns:a16="http://schemas.microsoft.com/office/drawing/2014/main" id="{F2B0C846-C61E-0ADF-5A36-A50856564291}"/>
              </a:ext>
            </a:extLst>
          </p:cNvPr>
          <p:cNvSpPr txBox="1"/>
          <p:nvPr/>
        </p:nvSpPr>
        <p:spPr>
          <a:xfrm>
            <a:off x="37070" y="737445"/>
            <a:ext cx="7735330" cy="707886"/>
          </a:xfrm>
          <a:prstGeom prst="rect">
            <a:avLst/>
          </a:prstGeom>
          <a:noFill/>
        </p:spPr>
        <p:txBody>
          <a:bodyPr wrap="square">
            <a:spAutoFit/>
          </a:bodyPr>
          <a:lstStyle/>
          <a:p>
            <a:pPr algn="ctr"/>
            <a:r>
              <a:rPr lang="en-GB" sz="2000" b="1" dirty="0">
                <a:solidFill>
                  <a:schemeClr val="tx1"/>
                </a:solidFill>
                <a:highlight>
                  <a:schemeClr val="lt1"/>
                </a:highlight>
                <a:latin typeface="Open Sans"/>
                <a:ea typeface="Open Sans"/>
                <a:cs typeface="Open Sans"/>
              </a:rPr>
              <a:t>SNEAKERPARK HYBRID (COEXISTENCE) </a:t>
            </a:r>
          </a:p>
          <a:p>
            <a:pPr algn="ctr"/>
            <a:r>
              <a:rPr lang="en-GB" sz="2000" b="1" dirty="0">
                <a:solidFill>
                  <a:schemeClr val="tx1"/>
                </a:solidFill>
                <a:highlight>
                  <a:schemeClr val="lt1"/>
                </a:highlight>
                <a:latin typeface="Open Sans"/>
                <a:ea typeface="Open Sans"/>
                <a:cs typeface="Open Sans"/>
              </a:rPr>
              <a:t>MDM ARCHITECTURE</a:t>
            </a:r>
          </a:p>
        </p:txBody>
      </p:sp>
      <p:pic>
        <p:nvPicPr>
          <p:cNvPr id="8" name="Picture 7">
            <a:extLst>
              <a:ext uri="{FF2B5EF4-FFF2-40B4-BE49-F238E27FC236}">
                <a16:creationId xmlns:a16="http://schemas.microsoft.com/office/drawing/2014/main" id="{AE3491BB-3730-2915-7AE9-7F7B3C8D387D}"/>
              </a:ext>
            </a:extLst>
          </p:cNvPr>
          <p:cNvPicPr>
            <a:picLocks noChangeAspect="1"/>
          </p:cNvPicPr>
          <p:nvPr/>
        </p:nvPicPr>
        <p:blipFill>
          <a:blip r:embed="rId3"/>
          <a:stretch>
            <a:fillRect/>
          </a:stretch>
        </p:blipFill>
        <p:spPr>
          <a:xfrm>
            <a:off x="160638" y="2412035"/>
            <a:ext cx="7451124" cy="550864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body" idx="1"/>
          </p:nvPr>
        </p:nvSpPr>
        <p:spPr>
          <a:xfrm>
            <a:off x="465150" y="524225"/>
            <a:ext cx="6842100" cy="538456"/>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Clr>
                <a:schemeClr val="dk1"/>
              </a:buClr>
              <a:buSzPts val="1100"/>
              <a:buFont typeface="Arial"/>
              <a:buNone/>
            </a:pPr>
            <a:r>
              <a:rPr lang="en" sz="2200" b="1" dirty="0">
                <a:solidFill>
                  <a:srgbClr val="525C65"/>
                </a:solidFill>
                <a:highlight>
                  <a:schemeClr val="lt1"/>
                </a:highlight>
                <a:latin typeface="Open Sans"/>
                <a:ea typeface="Open Sans"/>
                <a:cs typeface="Open Sans"/>
                <a:sym typeface="Open Sans"/>
              </a:rPr>
              <a:t>Explanation:</a:t>
            </a:r>
          </a:p>
        </p:txBody>
      </p:sp>
      <p:sp>
        <p:nvSpPr>
          <p:cNvPr id="3" name="TextBox 2">
            <a:extLst>
              <a:ext uri="{FF2B5EF4-FFF2-40B4-BE49-F238E27FC236}">
                <a16:creationId xmlns:a16="http://schemas.microsoft.com/office/drawing/2014/main" id="{333F703D-50D5-0B2E-AA65-37926A25D14B}"/>
              </a:ext>
            </a:extLst>
          </p:cNvPr>
          <p:cNvSpPr txBox="1"/>
          <p:nvPr/>
        </p:nvSpPr>
        <p:spPr>
          <a:xfrm>
            <a:off x="465150" y="1209875"/>
            <a:ext cx="6842099" cy="8710077"/>
          </a:xfrm>
          <a:prstGeom prst="rect">
            <a:avLst/>
          </a:prstGeom>
          <a:noFill/>
        </p:spPr>
        <p:txBody>
          <a:bodyPr wrap="square">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I chose the Hybrid (Co-Existence) MDM approach because </a:t>
            </a:r>
            <a:r>
              <a:rPr lang="en-GB" dirty="0" err="1">
                <a:latin typeface="Open Sans" panose="020B0606030504020204" pitchFamily="34" charset="0"/>
                <a:ea typeface="Open Sans" panose="020B0606030504020204" pitchFamily="34" charset="0"/>
                <a:cs typeface="Open Sans" panose="020B0606030504020204" pitchFamily="34" charset="0"/>
              </a:rPr>
              <a:t>SneakerPark</a:t>
            </a:r>
            <a:r>
              <a:rPr lang="en-GB" dirty="0">
                <a:latin typeface="Open Sans" panose="020B0606030504020204" pitchFamily="34" charset="0"/>
                <a:ea typeface="Open Sans" panose="020B0606030504020204" pitchFamily="34" charset="0"/>
                <a:cs typeface="Open Sans" panose="020B0606030504020204" pitchFamily="34" charset="0"/>
              </a:rPr>
              <a:t> already has several systems that manage different parts of the business, such as customers, listings, inventory, orders and customer service. Replacing these systems with a fully centralised solution would require significant changes and could disrupt existing operations. The Hybrid approach allows these systems to continue working as they do today while sharing trusted master data through a central MDM Hub.</a:t>
            </a:r>
          </a:p>
          <a:p>
            <a:endParaRPr lang="en-GB"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The source systems continue to create and maintain operational data, while important customer and product information is shared with the MDM Hub.</a:t>
            </a:r>
          </a:p>
          <a:p>
            <a:endParaRPr lang="en-GB"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Data from the source systems is first loaded into a staging area. During this process, the data is validated, standardised and checked for duplicates. This helps improve data quality before the information is loaded into the MDM Hub.</a:t>
            </a:r>
          </a:p>
          <a:p>
            <a:pPr marL="285750" indent="-285750">
              <a:buFont typeface="Arial" panose="020B0604020202020204" pitchFamily="34" charset="0"/>
              <a:buChar char="•"/>
            </a:pPr>
            <a:endParaRPr lang="en-GB"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The MDM Hub acts as the central location for trusted master data. It stores the Golden Records for customers and sneaker items and applies data quality, matching and deduplication rules. This creates a single source of truth that can be used across the business. </a:t>
            </a:r>
          </a:p>
          <a:p>
            <a:pPr marL="285750" indent="-285750">
              <a:buFont typeface="Arial" panose="020B0604020202020204" pitchFamily="34" charset="0"/>
              <a:buChar char="•"/>
            </a:pPr>
            <a:endParaRPr lang="en-GB"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This architecture also supports bi-directional synchronisation. When master data is corrected, standardised or merged within the MDM Hub, trusted data can be synchronised back to operational systems to improve consistency across the organisation.</a:t>
            </a:r>
          </a:p>
          <a:p>
            <a:pPr marL="285750" indent="-285750">
              <a:buFont typeface="Arial" panose="020B0604020202020204" pitchFamily="34" charset="0"/>
              <a:buChar char="•"/>
            </a:pPr>
            <a:endParaRPr lang="en-GB"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The trusted data from the MDM Hub can then be used by “Analytics Dashboard”, “Customer Insights” and “AI Recommendation Engine”</a:t>
            </a:r>
          </a:p>
          <a:p>
            <a:pPr marL="285750" indent="-285750">
              <a:buFont typeface="Arial" panose="020B0604020202020204" pitchFamily="34" charset="0"/>
              <a:buChar char="•"/>
            </a:pPr>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u="sng" dirty="0">
                <a:latin typeface="Open Sans" panose="020B0606030504020204" pitchFamily="34" charset="0"/>
                <a:ea typeface="Open Sans" panose="020B0606030504020204" pitchFamily="34" charset="0"/>
                <a:cs typeface="Open Sans" panose="020B0606030504020204" pitchFamily="34" charset="0"/>
              </a:rPr>
              <a:t>The main benefits of this approach are:</a:t>
            </a: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Improved data quality and consistency.</a:t>
            </a: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Reduced duplicate records.</a:t>
            </a: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A single source of truth for customer and product data.</a:t>
            </a: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Minimal impact on existing systems.</a:t>
            </a: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Better support for reporting, analytics and future AI initiatives.</a:t>
            </a:r>
          </a:p>
          <a:p>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Overall, the Hybrid (Co-Existence) MDM approach provides a practical way for </a:t>
            </a:r>
            <a:r>
              <a:rPr lang="en-GB" dirty="0" err="1">
                <a:latin typeface="Open Sans" panose="020B0606030504020204" pitchFamily="34" charset="0"/>
                <a:ea typeface="Open Sans" panose="020B0606030504020204" pitchFamily="34" charset="0"/>
                <a:cs typeface="Open Sans" panose="020B0606030504020204" pitchFamily="34" charset="0"/>
              </a:rPr>
              <a:t>SneakerPark</a:t>
            </a:r>
            <a:r>
              <a:rPr lang="en-GB" dirty="0">
                <a:latin typeface="Open Sans" panose="020B0606030504020204" pitchFamily="34" charset="0"/>
                <a:ea typeface="Open Sans" panose="020B0606030504020204" pitchFamily="34" charset="0"/>
                <a:cs typeface="Open Sans" panose="020B0606030504020204" pitchFamily="34" charset="0"/>
              </a:rPr>
              <a:t> to improve data quality and governance without making major changes to its existing systems.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85"/>
        <p:cNvGrpSpPr/>
        <p:nvPr/>
      </p:nvGrpSpPr>
      <p:grpSpPr>
        <a:xfrm>
          <a:off x="0" y="0"/>
          <a:ext cx="0" cy="0"/>
          <a:chOff x="0" y="0"/>
          <a:chExt cx="0" cy="0"/>
        </a:xfrm>
      </p:grpSpPr>
      <p:sp>
        <p:nvSpPr>
          <p:cNvPr id="286" name="Google Shape;286;p68"/>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dirty="0">
                <a:solidFill>
                  <a:srgbClr val="FFFFFF"/>
                </a:solidFill>
                <a:latin typeface="Open Sans"/>
                <a:ea typeface="Open Sans"/>
                <a:cs typeface="Open Sans"/>
                <a:sym typeface="Open Sans"/>
              </a:rPr>
              <a:t>Step 6</a:t>
            </a:r>
            <a:endParaRPr sz="3000" b="1" dirty="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dirty="0">
                <a:solidFill>
                  <a:srgbClr val="FFFFFF"/>
                </a:solidFill>
                <a:latin typeface="Open Sans"/>
                <a:ea typeface="Open Sans"/>
                <a:cs typeface="Open Sans"/>
                <a:sym typeface="Open Sans"/>
              </a:rPr>
              <a:t>Master Data Management</a:t>
            </a:r>
            <a:endParaRPr sz="3000" dirty="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dirty="0">
                <a:solidFill>
                  <a:schemeClr val="lt1"/>
                </a:solidFill>
                <a:latin typeface="Open Sans"/>
                <a:ea typeface="Open Sans"/>
                <a:cs typeface="Open Sans"/>
                <a:sym typeface="Open Sans"/>
              </a:rPr>
              <a:t>Part 2: Master Record</a:t>
            </a:r>
            <a:endParaRPr sz="3000" dirty="0">
              <a:solidFill>
                <a:srgbClr val="FFFFFF"/>
              </a:solidFill>
              <a:latin typeface="Open Sans"/>
              <a:ea typeface="Open Sans"/>
              <a:cs typeface="Open Sans"/>
              <a:sym typeface="Open Sans"/>
            </a:endParaRPr>
          </a:p>
        </p:txBody>
      </p:sp>
      <p:sp>
        <p:nvSpPr>
          <p:cNvPr id="287" name="Google Shape;287;p68"/>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C10C70B-A6D6-9B57-1500-ABDB09F363B0}"/>
              </a:ext>
            </a:extLst>
          </p:cNvPr>
          <p:cNvGraphicFramePr>
            <a:graphicFrameLocks noGrp="1"/>
          </p:cNvGraphicFramePr>
          <p:nvPr>
            <p:extLst>
              <p:ext uri="{D42A27DB-BD31-4B8C-83A1-F6EECF244321}">
                <p14:modId xmlns:p14="http://schemas.microsoft.com/office/powerpoint/2010/main" val="1758836253"/>
              </p:ext>
            </p:extLst>
          </p:nvPr>
        </p:nvGraphicFramePr>
        <p:xfrm>
          <a:off x="321257" y="1496082"/>
          <a:ext cx="7129885" cy="4790440"/>
        </p:xfrm>
        <a:graphic>
          <a:graphicData uri="http://schemas.openxmlformats.org/drawingml/2006/table">
            <a:tbl>
              <a:tblPr firstRow="1" bandRow="1">
                <a:tableStyleId>{F5AB1C69-6EDB-4FF4-983F-18BD219EF322}</a:tableStyleId>
              </a:tblPr>
              <a:tblGrid>
                <a:gridCol w="1099770">
                  <a:extLst>
                    <a:ext uri="{9D8B030D-6E8A-4147-A177-3AD203B41FA5}">
                      <a16:colId xmlns:a16="http://schemas.microsoft.com/office/drawing/2014/main" val="2765338642"/>
                    </a:ext>
                  </a:extLst>
                </a:gridCol>
                <a:gridCol w="1421027">
                  <a:extLst>
                    <a:ext uri="{9D8B030D-6E8A-4147-A177-3AD203B41FA5}">
                      <a16:colId xmlns:a16="http://schemas.microsoft.com/office/drawing/2014/main" val="1496962417"/>
                    </a:ext>
                  </a:extLst>
                </a:gridCol>
                <a:gridCol w="4609088">
                  <a:extLst>
                    <a:ext uri="{9D8B030D-6E8A-4147-A177-3AD203B41FA5}">
                      <a16:colId xmlns:a16="http://schemas.microsoft.com/office/drawing/2014/main" val="2449496560"/>
                    </a:ext>
                  </a:extLst>
                </a:gridCol>
              </a:tblGrid>
              <a:tr h="370840">
                <a:tc>
                  <a:txBody>
                    <a:bodyPr/>
                    <a:lstStyle/>
                    <a:p>
                      <a:r>
                        <a:rPr lang="en-US" sz="1400" dirty="0"/>
                        <a:t>Entity</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Rule Name</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Matching Rule</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077537"/>
                  </a:ext>
                </a:extLst>
              </a:tr>
              <a:tr h="370840">
                <a:tc>
                  <a:txBody>
                    <a:bodyPr/>
                    <a:lstStyle/>
                    <a:p>
                      <a:r>
                        <a:rPr lang="en-US"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Customer</a:t>
                      </a:r>
                      <a:endPar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Customer Email Match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Match customer records when the Email Address is identical across multiple systems.</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Provides a high-confidence match because email addresses are expected to be unique for each customer.</a:t>
                      </a:r>
                    </a:p>
                    <a:p>
                      <a:endPar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3429706"/>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Customer</a:t>
                      </a:r>
                      <a:endPar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Customer Name &amp; Address Match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Match customer records when both the Customer Name and Postal Address are identical.</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This will be used as a fallback when email addresses are missing, invalid, or have changed.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3222371"/>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Sneaker Item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Item ID Match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Match sneaker item records when the Item ID is identical across systems.</a:t>
                      </a:r>
                    </a:p>
                    <a:p>
                      <a:pPr marL="285750" indent="-285750">
                        <a:buFont typeface="Arial" panose="020B0604020202020204" pitchFamily="34" charset="0"/>
                        <a:buChar cha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Provides a direct and reliable match for the same sneaker 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8995461"/>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Sneaker Item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Product Attribute Match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Match sneaker item records when Item Name, Brand, and Condition are identical.</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GB"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Used when Item IDs are inconsistent between systems. Helps identify the same product based on business attributes.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307737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96"/>
        <p:cNvGrpSpPr/>
        <p:nvPr/>
      </p:nvGrpSpPr>
      <p:grpSpPr>
        <a:xfrm>
          <a:off x="0" y="0"/>
          <a:ext cx="0" cy="0"/>
          <a:chOff x="0" y="0"/>
          <a:chExt cx="0" cy="0"/>
        </a:xfrm>
      </p:grpSpPr>
      <p:sp>
        <p:nvSpPr>
          <p:cNvPr id="297" name="Google Shape;297;p7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98" name="Google Shape;298;p70"/>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7</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Governance:</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Roles and Responsibilities</a:t>
            </a:r>
            <a:endParaRPr sz="3000">
              <a:solidFill>
                <a:srgbClr val="FFFFFF"/>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 name="TextBox 2">
            <a:extLst>
              <a:ext uri="{FF2B5EF4-FFF2-40B4-BE49-F238E27FC236}">
                <a16:creationId xmlns:a16="http://schemas.microsoft.com/office/drawing/2014/main" id="{8782DC50-C671-C8A0-8A70-6A7C7D8B82F1}"/>
              </a:ext>
            </a:extLst>
          </p:cNvPr>
          <p:cNvSpPr txBox="1"/>
          <p:nvPr/>
        </p:nvSpPr>
        <p:spPr>
          <a:xfrm>
            <a:off x="308919" y="781884"/>
            <a:ext cx="7030995" cy="6555641"/>
          </a:xfrm>
          <a:prstGeom prst="rect">
            <a:avLst/>
          </a:prstGeom>
          <a:noFill/>
        </p:spPr>
        <p:txBody>
          <a:bodyPr wrap="square">
            <a:spAutoFit/>
          </a:bodyPr>
          <a:lstStyle/>
          <a:p>
            <a:pPr>
              <a:buNone/>
            </a:pPr>
            <a:r>
              <a:rPr lang="en-GB" dirty="0">
                <a:latin typeface="Open Sans" panose="020B0606030504020204" pitchFamily="34" charset="0"/>
                <a:ea typeface="Open Sans" panose="020B0606030504020204" pitchFamily="34" charset="0"/>
                <a:cs typeface="Open Sans" panose="020B0606030504020204" pitchFamily="34" charset="0"/>
              </a:rPr>
              <a:t>To support the new Data Management initiative, </a:t>
            </a:r>
            <a:r>
              <a:rPr lang="en-GB" dirty="0" err="1">
                <a:latin typeface="Open Sans" panose="020B0606030504020204" pitchFamily="34" charset="0"/>
                <a:ea typeface="Open Sans" panose="020B0606030504020204" pitchFamily="34" charset="0"/>
                <a:cs typeface="Open Sans" panose="020B0606030504020204" pitchFamily="34" charset="0"/>
              </a:rPr>
              <a:t>SneakerPark</a:t>
            </a:r>
            <a:r>
              <a:rPr lang="en-GB" dirty="0">
                <a:latin typeface="Open Sans" panose="020B0606030504020204" pitchFamily="34" charset="0"/>
                <a:ea typeface="Open Sans" panose="020B0606030504020204" pitchFamily="34" charset="0"/>
                <a:cs typeface="Open Sans" panose="020B0606030504020204" pitchFamily="34" charset="0"/>
              </a:rPr>
              <a:t> should establish clear data governance roles and responsibilities. </a:t>
            </a:r>
          </a:p>
          <a:p>
            <a:pPr>
              <a:buNone/>
            </a:pPr>
            <a:endParaRPr lang="en-GB" dirty="0">
              <a:latin typeface="Open Sans" panose="020B0606030504020204" pitchFamily="34" charset="0"/>
              <a:ea typeface="Open Sans" panose="020B0606030504020204" pitchFamily="34" charset="0"/>
              <a:cs typeface="Open Sans" panose="020B0606030504020204" pitchFamily="34" charset="0"/>
            </a:endParaRPr>
          </a:p>
          <a:p>
            <a:pPr>
              <a:buNone/>
            </a:pPr>
            <a:r>
              <a:rPr lang="en-GB" b="1" dirty="0">
                <a:latin typeface="Open Sans" panose="020B0606030504020204" pitchFamily="34" charset="0"/>
                <a:ea typeface="Open Sans" panose="020B0606030504020204" pitchFamily="34" charset="0"/>
                <a:cs typeface="Open Sans" panose="020B0606030504020204" pitchFamily="34" charset="0"/>
              </a:rPr>
              <a:t>Data Quality Management</a:t>
            </a: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Data Stewards should be responsible for monitoring data quality issues, defining data quality rules and working with business teams to resolve data issues. This will help improve the accuracy, completeness and consistency of customer, item and order data across the organisation.</a:t>
            </a:r>
          </a:p>
          <a:p>
            <a:pPr>
              <a:buNone/>
            </a:pPr>
            <a:endParaRPr lang="en-GB" dirty="0">
              <a:latin typeface="Open Sans" panose="020B0606030504020204" pitchFamily="34" charset="0"/>
              <a:ea typeface="Open Sans" panose="020B0606030504020204" pitchFamily="34" charset="0"/>
              <a:cs typeface="Open Sans" panose="020B0606030504020204" pitchFamily="34" charset="0"/>
            </a:endParaRPr>
          </a:p>
          <a:p>
            <a:pPr>
              <a:buNone/>
            </a:pPr>
            <a:r>
              <a:rPr lang="en-GB" b="1" dirty="0">
                <a:latin typeface="Open Sans" panose="020B0606030504020204" pitchFamily="34" charset="0"/>
                <a:ea typeface="Open Sans" panose="020B0606030504020204" pitchFamily="34" charset="0"/>
                <a:cs typeface="Open Sans" panose="020B0606030504020204" pitchFamily="34" charset="0"/>
              </a:rPr>
              <a:t>Metadata Management</a:t>
            </a: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Data Architect should be responsible for maintaining the enterprise data model, data </a:t>
            </a:r>
            <a:r>
              <a:rPr lang="en-GB" dirty="0" err="1">
                <a:latin typeface="Open Sans" panose="020B0606030504020204" pitchFamily="34" charset="0"/>
                <a:ea typeface="Open Sans" panose="020B0606030504020204" pitchFamily="34" charset="0"/>
                <a:cs typeface="Open Sans" panose="020B0606030504020204" pitchFamily="34" charset="0"/>
              </a:rPr>
              <a:t>catalog</a:t>
            </a:r>
            <a:r>
              <a:rPr lang="en-GB" dirty="0">
                <a:latin typeface="Open Sans" panose="020B0606030504020204" pitchFamily="34" charset="0"/>
                <a:ea typeface="Open Sans" panose="020B0606030504020204" pitchFamily="34" charset="0"/>
                <a:cs typeface="Open Sans" panose="020B0606030504020204" pitchFamily="34" charset="0"/>
              </a:rPr>
              <a:t> and business glossary. This role will ensure that data definitions remain consistent across systems and that users have a clear understanding of the data available within the organisation. </a:t>
            </a:r>
          </a:p>
          <a:p>
            <a:pPr marL="285750" indent="-285750">
              <a:buFont typeface="Arial" panose="020B0604020202020204" pitchFamily="34" charset="0"/>
              <a:buChar char="•"/>
            </a:pPr>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b="1" dirty="0">
                <a:latin typeface="Open Sans" panose="020B0606030504020204" pitchFamily="34" charset="0"/>
                <a:ea typeface="Open Sans" panose="020B0606030504020204" pitchFamily="34" charset="0"/>
                <a:cs typeface="Open Sans" panose="020B0606030504020204" pitchFamily="34" charset="0"/>
              </a:rPr>
              <a:t>Master Data Management (MDM)</a:t>
            </a:r>
          </a:p>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Both Data Stewards and the Data Architect should work together to define matching rules, manage golden records and oversee the MDM Hub to ensure a single source of truth for customer and sneaker item data.</a:t>
            </a:r>
          </a:p>
          <a:p>
            <a:endParaRPr lang="en-GB" dirty="0">
              <a:latin typeface="Open Sans" panose="020B0606030504020204" pitchFamily="34" charset="0"/>
              <a:ea typeface="Open Sans" panose="020B0606030504020204" pitchFamily="34" charset="0"/>
              <a:cs typeface="Open Sans" panose="020B0606030504020204" pitchFamily="34" charset="0"/>
            </a:endParaRPr>
          </a:p>
          <a:p>
            <a:pPr>
              <a:buNone/>
            </a:pPr>
            <a:r>
              <a:rPr lang="en-GB" dirty="0">
                <a:latin typeface="Open Sans" panose="020B0606030504020204" pitchFamily="34" charset="0"/>
                <a:ea typeface="Open Sans" panose="020B0606030504020204" pitchFamily="34" charset="0"/>
                <a:cs typeface="Open Sans" panose="020B0606030504020204" pitchFamily="34" charset="0"/>
              </a:rPr>
              <a:t>Based on the information provided, Jessica already has strong business knowledge and would be a good candidate for a Data Steward role because she understands the company's data and business processes. Jake has experience managing the company's databases and could continue supporting the technical aspects of the platform. </a:t>
            </a:r>
          </a:p>
          <a:p>
            <a:pPr>
              <a:buNone/>
            </a:pPr>
            <a:endParaRPr lang="en-GB" dirty="0">
              <a:latin typeface="Open Sans" panose="020B0606030504020204" pitchFamily="34" charset="0"/>
              <a:ea typeface="Open Sans" panose="020B0606030504020204" pitchFamily="34" charset="0"/>
              <a:cs typeface="Open Sans" panose="020B0606030504020204" pitchFamily="34" charset="0"/>
            </a:endParaRPr>
          </a:p>
          <a:p>
            <a:pPr>
              <a:buNone/>
            </a:pPr>
            <a:r>
              <a:rPr lang="en-GB" dirty="0">
                <a:latin typeface="Open Sans" panose="020B0606030504020204" pitchFamily="34" charset="0"/>
                <a:ea typeface="Open Sans" panose="020B0606030504020204" pitchFamily="34" charset="0"/>
                <a:cs typeface="Open Sans" panose="020B0606030504020204" pitchFamily="34" charset="0"/>
              </a:rPr>
              <a:t>However, neither employee appears to have formal experience in enterprise data governance or MDM. Therefore, </a:t>
            </a:r>
            <a:r>
              <a:rPr lang="en-GB" dirty="0" err="1">
                <a:latin typeface="Open Sans" panose="020B0606030504020204" pitchFamily="34" charset="0"/>
                <a:ea typeface="Open Sans" panose="020B0606030504020204" pitchFamily="34" charset="0"/>
                <a:cs typeface="Open Sans" panose="020B0606030504020204" pitchFamily="34" charset="0"/>
              </a:rPr>
              <a:t>SneakerPark</a:t>
            </a:r>
            <a:r>
              <a:rPr lang="en-GB" dirty="0">
                <a:latin typeface="Open Sans" panose="020B0606030504020204" pitchFamily="34" charset="0"/>
                <a:ea typeface="Open Sans" panose="020B0606030504020204" pitchFamily="34" charset="0"/>
                <a:cs typeface="Open Sans" panose="020B0606030504020204" pitchFamily="34" charset="0"/>
              </a:rPr>
              <a:t> should consider hiring a dedicated Data Architect or Data Governance Manager to lead the programme and establish governance standards, policies and processes as the company continues to grow.</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TotalTime>
  <Words>1416</Words>
  <Application>Microsoft Office PowerPoint</Application>
  <PresentationFormat>Custom</PresentationFormat>
  <Paragraphs>97</Paragraphs>
  <Slides>19</Slides>
  <Notes>19</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19</vt:i4>
      </vt:variant>
    </vt:vector>
  </HeadingPairs>
  <TitlesOfParts>
    <vt:vector size="27" baseType="lpstr">
      <vt:lpstr>Helvetica Neue</vt:lpstr>
      <vt:lpstr>Arial</vt:lpstr>
      <vt:lpstr>Open Sans Light</vt:lpstr>
      <vt:lpstr>Open Sans</vt:lpstr>
      <vt:lpstr>Simple Light</vt:lpstr>
      <vt:lpstr>Simple Light</vt:lpstr>
      <vt:lpstr>Simple Light</vt:lpstr>
      <vt:lpstr>White</vt:lpstr>
      <vt:lpstr>Data Governance @ SneakerPark </vt:lpstr>
      <vt:lpstr>Background</vt:lpstr>
      <vt:lpstr>Background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ARJUN AVALAKKI MOHAN</cp:lastModifiedBy>
  <cp:revision>1</cp:revision>
  <dcterms:modified xsi:type="dcterms:W3CDTF">2026-06-02T05:21:55Z</dcterms:modified>
</cp:coreProperties>
</file>