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4" r:id="rId1"/>
    <p:sldMasterId id="2147483695" r:id="rId2"/>
    <p:sldMasterId id="2147483696" r:id="rId3"/>
    <p:sldMasterId id="2147483697" r:id="rId4"/>
  </p:sldMasterIdLst>
  <p:notesMasterIdLst>
    <p:notesMasterId r:id="rId2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x="7772400" cy="10058400"/>
  <p:notesSz cx="6858000" cy="9144000"/>
  <p:embeddedFontLst>
    <p:embeddedFont>
      <p:font typeface="Helvetica Neue" panose="020B0604020202020204" charset="0"/>
      <p:regular r:id="rId29"/>
      <p:bold r:id="rId30"/>
      <p:italic r:id="rId31"/>
      <p:boldItalic r:id="rId32"/>
    </p:embeddedFont>
    <p:embeddedFont>
      <p:font typeface="Open Sans" panose="020B0606030504020204" pitchFamily="34" charset="0"/>
      <p:regular r:id="rId33"/>
      <p:bold r:id="rId34"/>
      <p:italic r:id="rId35"/>
      <p:boldItalic r:id="rId36"/>
    </p:embeddedFont>
    <p:embeddedFont>
      <p:font typeface="Open Sans Light" panose="020B0306030504020204"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231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1.fntdata"/><Relationship Id="rId21" Type="http://schemas.openxmlformats.org/officeDocument/2006/relationships/slide" Target="slides/slide17.xml"/><Relationship Id="rId34" Type="http://schemas.openxmlformats.org/officeDocument/2006/relationships/font" Target="fonts/font6.fntdata"/><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font" Target="fonts/font10.fntdata"/><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JUN AVALAKKI MOHAN" userId="be4ab9aaf12c5868" providerId="LiveId" clId="{C81E60EF-EF5F-4B4B-A4E1-3178676F15CC}"/>
    <pc:docChg chg="custSel modSld">
      <pc:chgData name="ARJUN AVALAKKI MOHAN" userId="be4ab9aaf12c5868" providerId="LiveId" clId="{C81E60EF-EF5F-4B4B-A4E1-3178676F15CC}" dt="2026-05-27T04:15:22.659" v="86" actId="255"/>
      <pc:docMkLst>
        <pc:docMk/>
      </pc:docMkLst>
      <pc:sldChg chg="modSp mod">
        <pc:chgData name="ARJUN AVALAKKI MOHAN" userId="be4ab9aaf12c5868" providerId="LiveId" clId="{C81E60EF-EF5F-4B4B-A4E1-3178676F15CC}" dt="2026-05-26T05:05:20.746" v="29" actId="20577"/>
        <pc:sldMkLst>
          <pc:docMk/>
          <pc:sldMk cId="0" sldId="256"/>
        </pc:sldMkLst>
        <pc:spChg chg="mod">
          <ac:chgData name="ARJUN AVALAKKI MOHAN" userId="be4ab9aaf12c5868" providerId="LiveId" clId="{C81E60EF-EF5F-4B4B-A4E1-3178676F15CC}" dt="2026-05-26T05:05:20.746" v="29" actId="20577"/>
          <ac:spMkLst>
            <pc:docMk/>
            <pc:sldMk cId="0" sldId="256"/>
            <ac:spMk id="180" creationId="{00000000-0000-0000-0000-000000000000}"/>
          </ac:spMkLst>
        </pc:spChg>
      </pc:sldChg>
      <pc:sldChg chg="addSp delSp modSp mod">
        <pc:chgData name="ARJUN AVALAKKI MOHAN" userId="be4ab9aaf12c5868" providerId="LiveId" clId="{C81E60EF-EF5F-4B4B-A4E1-3178676F15CC}" dt="2026-05-27T04:15:22.659" v="86" actId="255"/>
        <pc:sldMkLst>
          <pc:docMk/>
          <pc:sldMk cId="0" sldId="263"/>
        </pc:sldMkLst>
        <pc:spChg chg="mod">
          <ac:chgData name="ARJUN AVALAKKI MOHAN" userId="be4ab9aaf12c5868" providerId="LiveId" clId="{C81E60EF-EF5F-4B4B-A4E1-3178676F15CC}" dt="2026-05-27T04:15:22.659" v="86" actId="255"/>
          <ac:spMkLst>
            <pc:docMk/>
            <pc:sldMk cId="0" sldId="263"/>
            <ac:spMk id="229" creationId="{00000000-0000-0000-0000-000000000000}"/>
          </ac:spMkLst>
        </pc:spChg>
        <pc:picChg chg="add mod">
          <ac:chgData name="ARJUN AVALAKKI MOHAN" userId="be4ab9aaf12c5868" providerId="LiveId" clId="{C81E60EF-EF5F-4B4B-A4E1-3178676F15CC}" dt="2026-05-27T04:13:08.978" v="34" actId="1076"/>
          <ac:picMkLst>
            <pc:docMk/>
            <pc:sldMk cId="0" sldId="263"/>
            <ac:picMk id="3" creationId="{741A04ED-7421-9AB8-1581-89CCD9D747C2}"/>
          </ac:picMkLst>
        </pc:picChg>
        <pc:picChg chg="del">
          <ac:chgData name="ARJUN AVALAKKI MOHAN" userId="be4ab9aaf12c5868" providerId="LiveId" clId="{C81E60EF-EF5F-4B4B-A4E1-3178676F15CC}" dt="2026-05-27T04:12:44.865" v="30" actId="478"/>
          <ac:picMkLst>
            <pc:docMk/>
            <pc:sldMk cId="0" sldId="263"/>
            <ac:picMk id="230"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e9ed12aab_0_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1e9ed12a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9cfc2a9a8d_0_5: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9cfc2a9a8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53cf50bd16_0_1: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53cf50bd1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9cfc2a9a8d_0_0: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9cfc2a9a8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9c24cf9085_0_31: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9c24cf9085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8d8c850c25_0_3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g8d8c850c25_0_33: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9c24cf9085_0_4: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9c24cf908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a1e537952f_0_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a1e537952f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62fb0d8af8_0_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g62fb0d8af8_0_0: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8d8c850c25_0_103: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8d8c850c25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64b864f3db_0_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g64b864f3db_0_1: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a1e537952f_0_14: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a1e537952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9dd260ecd2_0_5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g9dd260ecd2_0_5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9c24cf9085_0_39: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9c24cf9085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9dd260ecd2_0_7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g9dd260ecd2_0_7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9dd260ecd2_0_91: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9dd260ecd2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9c24cf9085_0_71: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9c24cf9085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a45bde9993_0_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ga45bde9993_0_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a45bde9993_0_10: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a45bde999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9dd260ecd2_0_8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g9dd260ecd2_0_80: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9c24cf9085_0_45: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9c24cf9085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9b75228fd4_1_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g9b75228fd4_1_1: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9dd260ecd2_0_98: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9dd260ecd2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5"/>
        <p:cNvGrpSpPr/>
        <p:nvPr/>
      </p:nvGrpSpPr>
      <p:grpSpPr>
        <a:xfrm>
          <a:off x="0" y="0"/>
          <a:ext cx="0" cy="0"/>
          <a:chOff x="0" y="0"/>
          <a:chExt cx="0" cy="0"/>
        </a:xfrm>
      </p:grpSpPr>
      <p:sp>
        <p:nvSpPr>
          <p:cNvPr id="56" name="Google Shape;56;p14"/>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7" name="Google Shape;57;p14"/>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2" name="Google Shape;62;p16"/>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3"/>
        <p:cNvGrpSpPr/>
        <p:nvPr/>
      </p:nvGrpSpPr>
      <p:grpSpPr>
        <a:xfrm>
          <a:off x="0" y="0"/>
          <a:ext cx="0" cy="0"/>
          <a:chOff x="0" y="0"/>
          <a:chExt cx="0" cy="0"/>
        </a:xfrm>
      </p:grpSpPr>
      <p:sp>
        <p:nvSpPr>
          <p:cNvPr id="64" name="Google Shape;64;p17"/>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5" name="Google Shape;65;p17"/>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6" name="Google Shape;66;p17"/>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18"/>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9"/>
        <p:cNvGrpSpPr/>
        <p:nvPr/>
      </p:nvGrpSpPr>
      <p:grpSpPr>
        <a:xfrm>
          <a:off x="0" y="0"/>
          <a:ext cx="0" cy="0"/>
          <a:chOff x="0" y="0"/>
          <a:chExt cx="0" cy="0"/>
        </a:xfrm>
      </p:grpSpPr>
      <p:sp>
        <p:nvSpPr>
          <p:cNvPr id="70" name="Google Shape;70;p19"/>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1" name="Google Shape;71;p19"/>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2"/>
        <p:cNvGrpSpPr/>
        <p:nvPr/>
      </p:nvGrpSpPr>
      <p:grpSpPr>
        <a:xfrm>
          <a:off x="0" y="0"/>
          <a:ext cx="0" cy="0"/>
          <a:chOff x="0" y="0"/>
          <a:chExt cx="0" cy="0"/>
        </a:xfrm>
      </p:grpSpPr>
      <p:sp>
        <p:nvSpPr>
          <p:cNvPr id="73" name="Google Shape;73;p20"/>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4"/>
        <p:cNvGrpSpPr/>
        <p:nvPr/>
      </p:nvGrpSpPr>
      <p:grpSpPr>
        <a:xfrm>
          <a:off x="0" y="0"/>
          <a:ext cx="0" cy="0"/>
          <a:chOff x="0" y="0"/>
          <a:chExt cx="0" cy="0"/>
        </a:xfrm>
      </p:grpSpPr>
      <p:sp>
        <p:nvSpPr>
          <p:cNvPr id="75" name="Google Shape;75;p21"/>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1"/>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77" name="Google Shape;77;p21"/>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78" name="Google Shape;78;p21"/>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9"/>
        <p:cNvGrpSpPr/>
        <p:nvPr/>
      </p:nvGrpSpPr>
      <p:grpSpPr>
        <a:xfrm>
          <a:off x="0" y="0"/>
          <a:ext cx="0" cy="0"/>
          <a:chOff x="0" y="0"/>
          <a:chExt cx="0" cy="0"/>
        </a:xfrm>
      </p:grpSpPr>
      <p:sp>
        <p:nvSpPr>
          <p:cNvPr id="80" name="Google Shape;80;p22"/>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1"/>
        <p:cNvGrpSpPr/>
        <p:nvPr/>
      </p:nvGrpSpPr>
      <p:grpSpPr>
        <a:xfrm>
          <a:off x="0" y="0"/>
          <a:ext cx="0" cy="0"/>
          <a:chOff x="0" y="0"/>
          <a:chExt cx="0" cy="0"/>
        </a:xfrm>
      </p:grpSpPr>
      <p:sp>
        <p:nvSpPr>
          <p:cNvPr id="82" name="Google Shape;82;p23"/>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3" name="Google Shape;83;p23"/>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4"/>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9"/>
        <p:cNvGrpSpPr/>
        <p:nvPr/>
      </p:nvGrpSpPr>
      <p:grpSpPr>
        <a:xfrm>
          <a:off x="0" y="0"/>
          <a:ext cx="0" cy="0"/>
          <a:chOff x="0" y="0"/>
          <a:chExt cx="0" cy="0"/>
        </a:xfrm>
      </p:grpSpPr>
      <p:sp>
        <p:nvSpPr>
          <p:cNvPr id="90" name="Google Shape;90;p26"/>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91" name="Google Shape;91;p26"/>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2"/>
        <p:cNvGrpSpPr/>
        <p:nvPr/>
      </p:nvGrpSpPr>
      <p:grpSpPr>
        <a:xfrm>
          <a:off x="0" y="0"/>
          <a:ext cx="0" cy="0"/>
          <a:chOff x="0" y="0"/>
          <a:chExt cx="0" cy="0"/>
        </a:xfrm>
      </p:grpSpPr>
      <p:sp>
        <p:nvSpPr>
          <p:cNvPr id="93" name="Google Shape;93;p27"/>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4"/>
        <p:cNvGrpSpPr/>
        <p:nvPr/>
      </p:nvGrpSpPr>
      <p:grpSpPr>
        <a:xfrm>
          <a:off x="0" y="0"/>
          <a:ext cx="0" cy="0"/>
          <a:chOff x="0" y="0"/>
          <a:chExt cx="0" cy="0"/>
        </a:xfrm>
      </p:grpSpPr>
      <p:sp>
        <p:nvSpPr>
          <p:cNvPr id="95" name="Google Shape;95;p2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6" name="Google Shape;96;p28"/>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419100" rtl="0">
              <a:spcBef>
                <a:spcPts val="0"/>
              </a:spcBef>
              <a:spcAft>
                <a:spcPts val="0"/>
              </a:spcAft>
              <a:buSzPts val="3000"/>
              <a:buChar char="●"/>
              <a:defRPr sz="3000"/>
            </a:lvl1pPr>
            <a:lvl2pPr marL="914400" lvl="1" indent="-381000" rtl="0">
              <a:spcBef>
                <a:spcPts val="1600"/>
              </a:spcBef>
              <a:spcAft>
                <a:spcPts val="0"/>
              </a:spcAft>
              <a:buSzPts val="2400"/>
              <a:buChar char="○"/>
              <a:defRPr sz="2400"/>
            </a:lvl2pPr>
            <a:lvl3pPr marL="1371600" lvl="2" indent="-342900" rtl="0">
              <a:spcBef>
                <a:spcPts val="1600"/>
              </a:spcBef>
              <a:spcAft>
                <a:spcPts val="0"/>
              </a:spcAft>
              <a:buSzPts val="1800"/>
              <a:buChar char="■"/>
              <a:defRPr sz="1800"/>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7"/>
        <p:cNvGrpSpPr/>
        <p:nvPr/>
      </p:nvGrpSpPr>
      <p:grpSpPr>
        <a:xfrm>
          <a:off x="0" y="0"/>
          <a:ext cx="0" cy="0"/>
          <a:chOff x="0" y="0"/>
          <a:chExt cx="0" cy="0"/>
        </a:xfrm>
      </p:grpSpPr>
      <p:sp>
        <p:nvSpPr>
          <p:cNvPr id="98" name="Google Shape;98;p2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9" name="Google Shape;99;p29"/>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00" name="Google Shape;100;p29"/>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1"/>
        <p:cNvGrpSpPr/>
        <p:nvPr/>
      </p:nvGrpSpPr>
      <p:grpSpPr>
        <a:xfrm>
          <a:off x="0" y="0"/>
          <a:ext cx="0" cy="0"/>
          <a:chOff x="0" y="0"/>
          <a:chExt cx="0" cy="0"/>
        </a:xfrm>
      </p:grpSpPr>
      <p:sp>
        <p:nvSpPr>
          <p:cNvPr id="102" name="Google Shape;102;p30"/>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3"/>
        <p:cNvGrpSpPr/>
        <p:nvPr/>
      </p:nvGrpSpPr>
      <p:grpSpPr>
        <a:xfrm>
          <a:off x="0" y="0"/>
          <a:ext cx="0" cy="0"/>
          <a:chOff x="0" y="0"/>
          <a:chExt cx="0" cy="0"/>
        </a:xfrm>
      </p:grpSpPr>
      <p:sp>
        <p:nvSpPr>
          <p:cNvPr id="104" name="Google Shape;104;p31"/>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5" name="Google Shape;105;p31"/>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6"/>
        <p:cNvGrpSpPr/>
        <p:nvPr/>
      </p:nvGrpSpPr>
      <p:grpSpPr>
        <a:xfrm>
          <a:off x="0" y="0"/>
          <a:ext cx="0" cy="0"/>
          <a:chOff x="0" y="0"/>
          <a:chExt cx="0" cy="0"/>
        </a:xfrm>
      </p:grpSpPr>
      <p:sp>
        <p:nvSpPr>
          <p:cNvPr id="107" name="Google Shape;107;p32"/>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8"/>
        <p:cNvGrpSpPr/>
        <p:nvPr/>
      </p:nvGrpSpPr>
      <p:grpSpPr>
        <a:xfrm>
          <a:off x="0" y="0"/>
          <a:ext cx="0" cy="0"/>
          <a:chOff x="0" y="0"/>
          <a:chExt cx="0" cy="0"/>
        </a:xfrm>
      </p:grpSpPr>
      <p:sp>
        <p:nvSpPr>
          <p:cNvPr id="109" name="Google Shape;109;p33"/>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33"/>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33"/>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12" name="Google Shape;112;p33"/>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3"/>
        <p:cNvGrpSpPr/>
        <p:nvPr/>
      </p:nvGrpSpPr>
      <p:grpSpPr>
        <a:xfrm>
          <a:off x="0" y="0"/>
          <a:ext cx="0" cy="0"/>
          <a:chOff x="0" y="0"/>
          <a:chExt cx="0" cy="0"/>
        </a:xfrm>
      </p:grpSpPr>
      <p:sp>
        <p:nvSpPr>
          <p:cNvPr id="114" name="Google Shape;114;p34"/>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5"/>
        <p:cNvGrpSpPr/>
        <p:nvPr/>
      </p:nvGrpSpPr>
      <p:grpSpPr>
        <a:xfrm>
          <a:off x="0" y="0"/>
          <a:ext cx="0" cy="0"/>
          <a:chOff x="0" y="0"/>
          <a:chExt cx="0" cy="0"/>
        </a:xfrm>
      </p:grpSpPr>
      <p:sp>
        <p:nvSpPr>
          <p:cNvPr id="116" name="Google Shape;116;p35"/>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17" name="Google Shape;117;p35"/>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8"/>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123"/>
        <p:cNvGrpSpPr/>
        <p:nvPr/>
      </p:nvGrpSpPr>
      <p:grpSpPr>
        <a:xfrm>
          <a:off x="0" y="0"/>
          <a:ext cx="0" cy="0"/>
          <a:chOff x="0" y="0"/>
          <a:chExt cx="0" cy="0"/>
        </a:xfrm>
      </p:grpSpPr>
      <p:sp>
        <p:nvSpPr>
          <p:cNvPr id="124" name="Google Shape;124;p38"/>
          <p:cNvSpPr txBox="1">
            <a:spLocks noGrp="1"/>
          </p:cNvSpPr>
          <p:nvPr>
            <p:ph type="title"/>
          </p:nvPr>
        </p:nvSpPr>
        <p:spPr>
          <a:xfrm>
            <a:off x="1540817" y="1689497"/>
            <a:ext cx="4690800" cy="34050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5" name="Google Shape;125;p38"/>
          <p:cNvSpPr txBox="1">
            <a:spLocks noGrp="1"/>
          </p:cNvSpPr>
          <p:nvPr>
            <p:ph type="body" idx="1"/>
          </p:nvPr>
        </p:nvSpPr>
        <p:spPr>
          <a:xfrm>
            <a:off x="1540817" y="5186362"/>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6" name="Google Shape;126;p3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Photo - Horizontal" type="tx">
  <p:cSld name="TITLE_AND_BODY">
    <p:spTree>
      <p:nvGrpSpPr>
        <p:cNvPr id="1" name="Shape 127"/>
        <p:cNvGrpSpPr/>
        <p:nvPr/>
      </p:nvGrpSpPr>
      <p:grpSpPr>
        <a:xfrm>
          <a:off x="0" y="0"/>
          <a:ext cx="0" cy="0"/>
          <a:chOff x="0" y="0"/>
          <a:chExt cx="0" cy="0"/>
        </a:xfrm>
      </p:grpSpPr>
      <p:sp>
        <p:nvSpPr>
          <p:cNvPr id="128" name="Google Shape;128;p39"/>
          <p:cNvSpPr>
            <a:spLocks noGrp="1"/>
          </p:cNvSpPr>
          <p:nvPr>
            <p:ph type="pic" idx="2"/>
          </p:nvPr>
        </p:nvSpPr>
        <p:spPr>
          <a:xfrm>
            <a:off x="1691673" y="654843"/>
            <a:ext cx="4383300" cy="61032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9" name="Google Shape;129;p39"/>
          <p:cNvSpPr txBox="1">
            <a:spLocks noGrp="1"/>
          </p:cNvSpPr>
          <p:nvPr>
            <p:ph type="title"/>
          </p:nvPr>
        </p:nvSpPr>
        <p:spPr>
          <a:xfrm>
            <a:off x="1540817" y="6928247"/>
            <a:ext cx="4690800" cy="14667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0" name="Google Shape;130;p39"/>
          <p:cNvSpPr txBox="1">
            <a:spLocks noGrp="1"/>
          </p:cNvSpPr>
          <p:nvPr>
            <p:ph type="body" idx="1"/>
          </p:nvPr>
        </p:nvSpPr>
        <p:spPr>
          <a:xfrm>
            <a:off x="1540817" y="8447484"/>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1" name="Google Shape;131;p39"/>
          <p:cNvSpPr txBox="1">
            <a:spLocks noGrp="1"/>
          </p:cNvSpPr>
          <p:nvPr>
            <p:ph type="sldNum" idx="12"/>
          </p:nvPr>
        </p:nvSpPr>
        <p:spPr>
          <a:xfrm>
            <a:off x="3804541" y="9534525"/>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132"/>
        <p:cNvGrpSpPr/>
        <p:nvPr/>
      </p:nvGrpSpPr>
      <p:grpSpPr>
        <a:xfrm>
          <a:off x="0" y="0"/>
          <a:ext cx="0" cy="0"/>
          <a:chOff x="0" y="0"/>
          <a:chExt cx="0" cy="0"/>
        </a:xfrm>
      </p:grpSpPr>
      <p:sp>
        <p:nvSpPr>
          <p:cNvPr id="133" name="Google Shape;133;p40"/>
          <p:cNvSpPr txBox="1">
            <a:spLocks noGrp="1"/>
          </p:cNvSpPr>
          <p:nvPr>
            <p:ph type="title"/>
          </p:nvPr>
        </p:nvSpPr>
        <p:spPr>
          <a:xfrm>
            <a:off x="1540817" y="3326606"/>
            <a:ext cx="4690800" cy="34050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4" name="Google Shape;134;p40"/>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135"/>
        <p:cNvGrpSpPr/>
        <p:nvPr/>
      </p:nvGrpSpPr>
      <p:grpSpPr>
        <a:xfrm>
          <a:off x="0" y="0"/>
          <a:ext cx="0" cy="0"/>
          <a:chOff x="0" y="0"/>
          <a:chExt cx="0" cy="0"/>
        </a:xfrm>
      </p:grpSpPr>
      <p:sp>
        <p:nvSpPr>
          <p:cNvPr id="136" name="Google Shape;136;p41"/>
          <p:cNvSpPr>
            <a:spLocks noGrp="1"/>
          </p:cNvSpPr>
          <p:nvPr>
            <p:ph type="pic" idx="2"/>
          </p:nvPr>
        </p:nvSpPr>
        <p:spPr>
          <a:xfrm>
            <a:off x="3982975" y="654843"/>
            <a:ext cx="2391000" cy="8486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7" name="Google Shape;137;p41"/>
          <p:cNvSpPr txBox="1">
            <a:spLocks noGrp="1"/>
          </p:cNvSpPr>
          <p:nvPr>
            <p:ph type="title"/>
          </p:nvPr>
        </p:nvSpPr>
        <p:spPr>
          <a:xfrm>
            <a:off x="1398501" y="654843"/>
            <a:ext cx="2391000" cy="41124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3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8" name="Google Shape;138;p41"/>
          <p:cNvSpPr txBox="1">
            <a:spLocks noGrp="1"/>
          </p:cNvSpPr>
          <p:nvPr>
            <p:ph type="body" idx="1"/>
          </p:nvPr>
        </p:nvSpPr>
        <p:spPr>
          <a:xfrm>
            <a:off x="1398501" y="4911328"/>
            <a:ext cx="2391000" cy="42306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9" name="Google Shape;139;p41"/>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140"/>
        <p:cNvGrpSpPr/>
        <p:nvPr/>
      </p:nvGrpSpPr>
      <p:grpSpPr>
        <a:xfrm>
          <a:off x="0" y="0"/>
          <a:ext cx="0" cy="0"/>
          <a:chOff x="0" y="0"/>
          <a:chExt cx="0" cy="0"/>
        </a:xfrm>
      </p:grpSpPr>
      <p:sp>
        <p:nvSpPr>
          <p:cNvPr id="141" name="Google Shape;141;p42"/>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2" name="Google Shape;142;p42"/>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143"/>
        <p:cNvGrpSpPr/>
        <p:nvPr/>
      </p:nvGrpSpPr>
      <p:grpSpPr>
        <a:xfrm>
          <a:off x="0" y="0"/>
          <a:ext cx="0" cy="0"/>
          <a:chOff x="0" y="0"/>
          <a:chExt cx="0" cy="0"/>
        </a:xfrm>
      </p:grpSpPr>
      <p:sp>
        <p:nvSpPr>
          <p:cNvPr id="144" name="Google Shape;144;p43"/>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5" name="Google Shape;145;p43"/>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6" name="Google Shape;146;p43"/>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147"/>
        <p:cNvGrpSpPr/>
        <p:nvPr/>
      </p:nvGrpSpPr>
      <p:grpSpPr>
        <a:xfrm>
          <a:off x="0" y="0"/>
          <a:ext cx="0" cy="0"/>
          <a:chOff x="0" y="0"/>
          <a:chExt cx="0" cy="0"/>
        </a:xfrm>
      </p:grpSpPr>
      <p:sp>
        <p:nvSpPr>
          <p:cNvPr id="148" name="Google Shape;148;p44"/>
          <p:cNvSpPr>
            <a:spLocks noGrp="1"/>
          </p:cNvSpPr>
          <p:nvPr>
            <p:ph type="pic" idx="2"/>
          </p:nvPr>
        </p:nvSpPr>
        <p:spPr>
          <a:xfrm>
            <a:off x="3982975" y="2684859"/>
            <a:ext cx="2391000" cy="6482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9" name="Google Shape;149;p44"/>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50" name="Google Shape;150;p44"/>
          <p:cNvSpPr txBox="1">
            <a:spLocks noGrp="1"/>
          </p:cNvSpPr>
          <p:nvPr>
            <p:ph type="body" idx="1"/>
          </p:nvPr>
        </p:nvSpPr>
        <p:spPr>
          <a:xfrm>
            <a:off x="1398501" y="2684859"/>
            <a:ext cx="2391000" cy="6482700"/>
          </a:xfrm>
          <a:prstGeom prst="rect">
            <a:avLst/>
          </a:prstGeom>
          <a:noFill/>
          <a:ln>
            <a:noFill/>
          </a:ln>
        </p:spPr>
        <p:txBody>
          <a:bodyPr spcFirstLastPara="1" wrap="square" lIns="34275" tIns="34275" rIns="34275" bIns="34275" anchor="ctr" anchorCtr="0">
            <a:noAutofit/>
          </a:bodyPr>
          <a:lstStyle>
            <a:lvl1pPr marL="457200" marR="0" lvl="0"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1pPr>
            <a:lvl2pPr marL="914400" marR="0" lvl="1"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2pPr>
            <a:lvl3pPr marL="1371600" marR="0" lvl="2"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3pPr>
            <a:lvl4pPr marL="1828800" marR="0" lvl="3"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4pPr>
            <a:lvl5pPr marL="2286000" marR="0" lvl="4"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1" name="Google Shape;151;p44"/>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152"/>
        <p:cNvGrpSpPr/>
        <p:nvPr/>
      </p:nvGrpSpPr>
      <p:grpSpPr>
        <a:xfrm>
          <a:off x="0" y="0"/>
          <a:ext cx="0" cy="0"/>
          <a:chOff x="0" y="0"/>
          <a:chExt cx="0" cy="0"/>
        </a:xfrm>
      </p:grpSpPr>
      <p:sp>
        <p:nvSpPr>
          <p:cNvPr id="153" name="Google Shape;153;p45"/>
          <p:cNvSpPr txBox="1">
            <a:spLocks noGrp="1"/>
          </p:cNvSpPr>
          <p:nvPr>
            <p:ph type="body" idx="1"/>
          </p:nvPr>
        </p:nvSpPr>
        <p:spPr>
          <a:xfrm>
            <a:off x="1398501" y="1309687"/>
            <a:ext cx="4975200" cy="74388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4" name="Google Shape;154;p45"/>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155"/>
        <p:cNvGrpSpPr/>
        <p:nvPr/>
      </p:nvGrpSpPr>
      <p:grpSpPr>
        <a:xfrm>
          <a:off x="0" y="0"/>
          <a:ext cx="0" cy="0"/>
          <a:chOff x="0" y="0"/>
          <a:chExt cx="0" cy="0"/>
        </a:xfrm>
      </p:grpSpPr>
      <p:sp>
        <p:nvSpPr>
          <p:cNvPr id="156" name="Google Shape;156;p46"/>
          <p:cNvSpPr>
            <a:spLocks noGrp="1"/>
          </p:cNvSpPr>
          <p:nvPr>
            <p:ph type="pic" idx="2"/>
          </p:nvPr>
        </p:nvSpPr>
        <p:spPr>
          <a:xfrm>
            <a:off x="3982975" y="5251847"/>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7" name="Google Shape;157;p46"/>
          <p:cNvSpPr>
            <a:spLocks noGrp="1"/>
          </p:cNvSpPr>
          <p:nvPr>
            <p:ph type="pic" idx="3"/>
          </p:nvPr>
        </p:nvSpPr>
        <p:spPr>
          <a:xfrm>
            <a:off x="3985763" y="916781"/>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8" name="Google Shape;158;p46"/>
          <p:cNvSpPr>
            <a:spLocks noGrp="1"/>
          </p:cNvSpPr>
          <p:nvPr>
            <p:ph type="pic" idx="4"/>
          </p:nvPr>
        </p:nvSpPr>
        <p:spPr>
          <a:xfrm>
            <a:off x="1398501" y="916781"/>
            <a:ext cx="2391000" cy="82251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9" name="Google Shape;159;p46"/>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0"/>
        <p:cNvGrpSpPr/>
        <p:nvPr/>
      </p:nvGrpSpPr>
      <p:grpSpPr>
        <a:xfrm>
          <a:off x="0" y="0"/>
          <a:ext cx="0" cy="0"/>
          <a:chOff x="0" y="0"/>
          <a:chExt cx="0" cy="0"/>
        </a:xfrm>
      </p:grpSpPr>
      <p:sp>
        <p:nvSpPr>
          <p:cNvPr id="161" name="Google Shape;161;p47"/>
          <p:cNvSpPr txBox="1">
            <a:spLocks noGrp="1"/>
          </p:cNvSpPr>
          <p:nvPr>
            <p:ph type="body" idx="1"/>
          </p:nvPr>
        </p:nvSpPr>
        <p:spPr>
          <a:xfrm>
            <a:off x="1540817" y="6561534"/>
            <a:ext cx="4690800" cy="4845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2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2" name="Google Shape;162;p47"/>
          <p:cNvSpPr txBox="1">
            <a:spLocks noGrp="1"/>
          </p:cNvSpPr>
          <p:nvPr>
            <p:ph type="body" idx="2"/>
          </p:nvPr>
        </p:nvSpPr>
        <p:spPr>
          <a:xfrm>
            <a:off x="1540817" y="4400259"/>
            <a:ext cx="4690800" cy="708000"/>
          </a:xfrm>
          <a:prstGeom prst="rect">
            <a:avLst/>
          </a:prstGeom>
          <a:noFill/>
          <a:ln>
            <a:noFill/>
          </a:ln>
        </p:spPr>
        <p:txBody>
          <a:bodyPr spcFirstLastPara="1" wrap="square" lIns="34275" tIns="34275" rIns="34275" bIns="34275" anchor="ctr"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20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3" name="Google Shape;163;p4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164"/>
        <p:cNvGrpSpPr/>
        <p:nvPr/>
      </p:nvGrpSpPr>
      <p:grpSpPr>
        <a:xfrm>
          <a:off x="0" y="0"/>
          <a:ext cx="0" cy="0"/>
          <a:chOff x="0" y="0"/>
          <a:chExt cx="0" cy="0"/>
        </a:xfrm>
      </p:grpSpPr>
      <p:sp>
        <p:nvSpPr>
          <p:cNvPr id="165" name="Google Shape;165;p48"/>
          <p:cNvSpPr>
            <a:spLocks noGrp="1"/>
          </p:cNvSpPr>
          <p:nvPr>
            <p:ph type="pic" idx="2"/>
          </p:nvPr>
        </p:nvSpPr>
        <p:spPr>
          <a:xfrm>
            <a:off x="971550" y="0"/>
            <a:ext cx="5829300" cy="100584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6" name="Google Shape;166;p4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67"/>
        <p:cNvGrpSpPr/>
        <p:nvPr/>
      </p:nvGrpSpPr>
      <p:grpSpPr>
        <a:xfrm>
          <a:off x="0" y="0"/>
          <a:ext cx="0" cy="0"/>
          <a:chOff x="0" y="0"/>
          <a:chExt cx="0" cy="0"/>
        </a:xfrm>
      </p:grpSpPr>
      <p:sp>
        <p:nvSpPr>
          <p:cNvPr id="168" name="Google Shape;168;p49"/>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_AND_BODY_1">
  <p:cSld name="TITLE_AND_BODY_1">
    <p:spTree>
      <p:nvGrpSpPr>
        <p:cNvPr id="1" name="Shape 169"/>
        <p:cNvGrpSpPr/>
        <p:nvPr/>
      </p:nvGrpSpPr>
      <p:grpSpPr>
        <a:xfrm>
          <a:off x="0" y="0"/>
          <a:ext cx="0" cy="0"/>
          <a:chOff x="0" y="0"/>
          <a:chExt cx="0" cy="0"/>
        </a:xfrm>
      </p:grpSpPr>
      <p:sp>
        <p:nvSpPr>
          <p:cNvPr id="170" name="Google Shape;170;p50"/>
          <p:cNvSpPr txBox="1">
            <a:spLocks noGrp="1"/>
          </p:cNvSpPr>
          <p:nvPr>
            <p:ph type="title"/>
          </p:nvPr>
        </p:nvSpPr>
        <p:spPr>
          <a:xfrm>
            <a:off x="264945" y="870271"/>
            <a:ext cx="7242600" cy="1119900"/>
          </a:xfrm>
          <a:prstGeom prst="rect">
            <a:avLst/>
          </a:prstGeom>
        </p:spPr>
        <p:txBody>
          <a:bodyPr spcFirstLastPara="1" wrap="square" lIns="34275" tIns="34275" rIns="34275" bIns="34275" anchor="ctr" anchorCtr="0">
            <a:noAutofit/>
          </a:bodyPr>
          <a:lstStyle>
            <a:lvl1pPr lvl="0" rtl="0">
              <a:spcBef>
                <a:spcPts val="0"/>
              </a:spcBef>
              <a:spcAft>
                <a:spcPts val="0"/>
              </a:spcAft>
              <a:buSzPts val="500"/>
              <a:buNone/>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a:endParaRPr/>
          </a:p>
        </p:txBody>
      </p:sp>
      <p:sp>
        <p:nvSpPr>
          <p:cNvPr id="171" name="Google Shape;171;p50"/>
          <p:cNvSpPr txBox="1">
            <a:spLocks noGrp="1"/>
          </p:cNvSpPr>
          <p:nvPr>
            <p:ph type="body" idx="1"/>
          </p:nvPr>
        </p:nvSpPr>
        <p:spPr>
          <a:xfrm>
            <a:off x="264945" y="2253729"/>
            <a:ext cx="7242600" cy="6239700"/>
          </a:xfrm>
          <a:prstGeom prst="rect">
            <a:avLst/>
          </a:prstGeom>
        </p:spPr>
        <p:txBody>
          <a:bodyPr spcFirstLastPara="1" wrap="square" lIns="34275" tIns="34275" rIns="34275" bIns="34275" anchor="ctr" anchorCtr="0">
            <a:noAutofit/>
          </a:bodyPr>
          <a:lstStyle>
            <a:lvl1pPr marL="457200" lvl="0" indent="-317500" rtl="0">
              <a:spcBef>
                <a:spcPts val="2200"/>
              </a:spcBef>
              <a:spcAft>
                <a:spcPts val="0"/>
              </a:spcAft>
              <a:buSzPts val="1400"/>
              <a:buChar char="•"/>
              <a:defRPr/>
            </a:lvl1pPr>
            <a:lvl2pPr marL="914400" lvl="1" indent="-317500" rtl="0">
              <a:spcBef>
                <a:spcPts val="2200"/>
              </a:spcBef>
              <a:spcAft>
                <a:spcPts val="0"/>
              </a:spcAft>
              <a:buSzPts val="1400"/>
              <a:buChar char="•"/>
              <a:defRPr/>
            </a:lvl2pPr>
            <a:lvl3pPr marL="1371600" lvl="2" indent="-317500" rtl="0">
              <a:spcBef>
                <a:spcPts val="2200"/>
              </a:spcBef>
              <a:spcAft>
                <a:spcPts val="0"/>
              </a:spcAft>
              <a:buSzPts val="1400"/>
              <a:buChar char="•"/>
              <a:defRPr/>
            </a:lvl3pPr>
            <a:lvl4pPr marL="1828800" lvl="3" indent="-317500" rtl="0">
              <a:spcBef>
                <a:spcPts val="2200"/>
              </a:spcBef>
              <a:spcAft>
                <a:spcPts val="0"/>
              </a:spcAft>
              <a:buSzPts val="1400"/>
              <a:buChar char="•"/>
              <a:defRPr/>
            </a:lvl4pPr>
            <a:lvl5pPr marL="2286000" lvl="4" indent="-317500" rtl="0">
              <a:spcBef>
                <a:spcPts val="2200"/>
              </a:spcBef>
              <a:spcAft>
                <a:spcPts val="0"/>
              </a:spcAft>
              <a:buSzPts val="1400"/>
              <a:buChar char="•"/>
              <a:defRPr/>
            </a:lvl5pPr>
            <a:lvl6pPr marL="2743200" lvl="5" indent="-317500" rtl="0">
              <a:spcBef>
                <a:spcPts val="2200"/>
              </a:spcBef>
              <a:spcAft>
                <a:spcPts val="0"/>
              </a:spcAft>
              <a:buSzPts val="1400"/>
              <a:buChar char="•"/>
              <a:defRPr/>
            </a:lvl6pPr>
            <a:lvl7pPr marL="3200400" lvl="6" indent="-317500" rtl="0">
              <a:spcBef>
                <a:spcPts val="2200"/>
              </a:spcBef>
              <a:spcAft>
                <a:spcPts val="0"/>
              </a:spcAft>
              <a:buSzPts val="1400"/>
              <a:buChar char="•"/>
              <a:defRPr/>
            </a:lvl7pPr>
            <a:lvl8pPr marL="3657600" lvl="7" indent="-317500" rtl="0">
              <a:spcBef>
                <a:spcPts val="2200"/>
              </a:spcBef>
              <a:spcAft>
                <a:spcPts val="0"/>
              </a:spcAft>
              <a:buSzPts val="1400"/>
              <a:buChar char="•"/>
              <a:defRPr/>
            </a:lvl8pPr>
            <a:lvl9pPr marL="4114800" lvl="8" indent="-317500" rtl="0">
              <a:spcBef>
                <a:spcPts val="2200"/>
              </a:spcBef>
              <a:spcAft>
                <a:spcPts val="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rtl="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53" name="Google Shape;53;p13"/>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pic>
        <p:nvPicPr>
          <p:cNvPr id="54" name="Google Shape;54;p13"/>
          <p:cNvPicPr preferRelativeResize="0"/>
          <p:nvPr/>
        </p:nvPicPr>
        <p:blipFill>
          <a:blip r:embed="rId13">
            <a:alphaModFix/>
          </a:blip>
          <a:stretch>
            <a:fillRect/>
          </a:stretch>
        </p:blipFill>
        <p:spPr>
          <a:xfrm>
            <a:off x="6744176" y="8934689"/>
            <a:ext cx="808095" cy="27314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85"/>
        <p:cNvGrpSpPr/>
        <p:nvPr/>
      </p:nvGrpSpPr>
      <p:grpSpPr>
        <a:xfrm>
          <a:off x="0" y="0"/>
          <a:ext cx="0" cy="0"/>
          <a:chOff x="0" y="0"/>
          <a:chExt cx="0" cy="0"/>
        </a:xfrm>
      </p:grpSpPr>
      <p:sp>
        <p:nvSpPr>
          <p:cNvPr id="86" name="Google Shape;86;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4000"/>
              <a:buFont typeface="Open Sans"/>
              <a:buNone/>
              <a:defRPr sz="4000">
                <a:solidFill>
                  <a:srgbClr val="2E3D49"/>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87" name="Google Shape;87;p25"/>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Light"/>
              <a:buChar char="●"/>
              <a:defRPr sz="1800">
                <a:solidFill>
                  <a:schemeClr val="dk2"/>
                </a:solidFill>
                <a:latin typeface="Open Sans Light"/>
                <a:ea typeface="Open Sans Light"/>
                <a:cs typeface="Open Sans Light"/>
                <a:sym typeface="Open Sans Light"/>
              </a:defRPr>
            </a:lvl1pPr>
            <a:lvl2pPr marL="914400" lvl="1"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2pPr>
            <a:lvl3pPr marL="1371600" lvl="2"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3pPr>
            <a:lvl4pPr marL="1828800" lvl="3"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4pPr>
            <a:lvl5pPr marL="2286000" lvl="4"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5pPr>
            <a:lvl6pPr marL="2743200" lvl="5"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6pPr>
            <a:lvl7pPr marL="3200400" lvl="6"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7pPr>
            <a:lvl8pPr marL="3657600" lvl="7"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8pPr>
            <a:lvl9pPr marL="4114800" lvl="8" indent="-317500" rtl="0">
              <a:lnSpc>
                <a:spcPct val="115000"/>
              </a:lnSpc>
              <a:spcBef>
                <a:spcPts val="1600"/>
              </a:spcBef>
              <a:spcAft>
                <a:spcPts val="160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9pPr>
          </a:lstStyle>
          <a:p>
            <a:endParaRPr/>
          </a:p>
        </p:txBody>
      </p:sp>
      <p:sp>
        <p:nvSpPr>
          <p:cNvPr id="88" name="Google Shape;88;p25"/>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9"/>
        <p:cNvGrpSpPr/>
        <p:nvPr/>
      </p:nvGrpSpPr>
      <p:grpSpPr>
        <a:xfrm>
          <a:off x="0" y="0"/>
          <a:ext cx="0" cy="0"/>
          <a:chOff x="0" y="0"/>
          <a:chExt cx="0" cy="0"/>
        </a:xfrm>
      </p:grpSpPr>
      <p:sp>
        <p:nvSpPr>
          <p:cNvPr id="120" name="Google Shape;120;p37"/>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1" name="Google Shape;121;p37"/>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2" name="Google Shape;122;p3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sz="5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175"/>
        <p:cNvGrpSpPr/>
        <p:nvPr/>
      </p:nvGrpSpPr>
      <p:grpSpPr>
        <a:xfrm>
          <a:off x="0" y="0"/>
          <a:ext cx="0" cy="0"/>
          <a:chOff x="0" y="0"/>
          <a:chExt cx="0" cy="0"/>
        </a:xfrm>
      </p:grpSpPr>
      <p:sp>
        <p:nvSpPr>
          <p:cNvPr id="176" name="Google Shape;176;p51"/>
          <p:cNvSpPr/>
          <p:nvPr/>
        </p:nvSpPr>
        <p:spPr>
          <a:xfrm rot="-5400000">
            <a:off x="4270075" y="6556200"/>
            <a:ext cx="3502200" cy="3502200"/>
          </a:xfrm>
          <a:prstGeom prst="rtTriangle">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7" name="Google Shape;177;p51"/>
          <p:cNvPicPr preferRelativeResize="0"/>
          <p:nvPr/>
        </p:nvPicPr>
        <p:blipFill>
          <a:blip r:embed="rId3">
            <a:alphaModFix/>
          </a:blip>
          <a:stretch>
            <a:fillRect/>
          </a:stretch>
        </p:blipFill>
        <p:spPr>
          <a:xfrm>
            <a:off x="6296025" y="8600600"/>
            <a:ext cx="1052250" cy="1052250"/>
          </a:xfrm>
          <a:prstGeom prst="rect">
            <a:avLst/>
          </a:prstGeom>
          <a:noFill/>
          <a:ln>
            <a:noFill/>
          </a:ln>
        </p:spPr>
      </p:pic>
      <p:sp>
        <p:nvSpPr>
          <p:cNvPr id="178" name="Google Shape;178;p51"/>
          <p:cNvSpPr txBox="1">
            <a:spLocks noGrp="1"/>
          </p:cNvSpPr>
          <p:nvPr>
            <p:ph type="title" idx="4294967295"/>
          </p:nvPr>
        </p:nvSpPr>
        <p:spPr>
          <a:xfrm>
            <a:off x="264895" y="966296"/>
            <a:ext cx="7242600" cy="1119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4000">
                <a:solidFill>
                  <a:srgbClr val="FFFFFF"/>
                </a:solidFill>
              </a:rPr>
              <a:t>Data Governance @ SneakerPark</a:t>
            </a:r>
            <a:endParaRPr sz="4000">
              <a:solidFill>
                <a:srgbClr val="FFFFFF"/>
              </a:solidFill>
            </a:endParaRPr>
          </a:p>
          <a:p>
            <a:pPr marL="0" lvl="0" indent="0" algn="l" rtl="0">
              <a:spcBef>
                <a:spcPts val="0"/>
              </a:spcBef>
              <a:spcAft>
                <a:spcPts val="0"/>
              </a:spcAft>
              <a:buNone/>
            </a:pPr>
            <a:endParaRPr/>
          </a:p>
        </p:txBody>
      </p:sp>
      <p:pic>
        <p:nvPicPr>
          <p:cNvPr id="179" name="Google Shape;179;p51"/>
          <p:cNvPicPr preferRelativeResize="0"/>
          <p:nvPr/>
        </p:nvPicPr>
        <p:blipFill rotWithShape="1">
          <a:blip r:embed="rId4">
            <a:alphaModFix/>
          </a:blip>
          <a:srcRect t="-1820" b="1820"/>
          <a:stretch/>
        </p:blipFill>
        <p:spPr>
          <a:xfrm>
            <a:off x="1617725" y="3728150"/>
            <a:ext cx="4506849" cy="2591575"/>
          </a:xfrm>
          <a:prstGeom prst="rect">
            <a:avLst/>
          </a:prstGeom>
          <a:noFill/>
          <a:ln>
            <a:noFill/>
          </a:ln>
        </p:spPr>
      </p:pic>
      <p:sp>
        <p:nvSpPr>
          <p:cNvPr id="180" name="Google Shape;180;p51"/>
          <p:cNvSpPr txBox="1"/>
          <p:nvPr/>
        </p:nvSpPr>
        <p:spPr>
          <a:xfrm>
            <a:off x="264900" y="9001125"/>
            <a:ext cx="4324200" cy="78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dirty="0">
                <a:solidFill>
                  <a:srgbClr val="EEEEEE"/>
                </a:solidFill>
                <a:latin typeface="Open Sans"/>
                <a:ea typeface="Open Sans"/>
                <a:cs typeface="Open Sans"/>
                <a:sym typeface="Open Sans"/>
              </a:rPr>
              <a:t>Prepared by: Arjun Avalakki Mohan</a:t>
            </a:r>
            <a:endParaRPr i="1" dirty="0">
              <a:solidFill>
                <a:srgbClr val="EEEEEE"/>
              </a:solidFill>
              <a:latin typeface="Open Sans"/>
              <a:ea typeface="Open Sans"/>
              <a:cs typeface="Open Sans"/>
              <a:sym typeface="Open Sans"/>
            </a:endParaRPr>
          </a:p>
          <a:p>
            <a:pPr marL="0" lvl="0" indent="0" algn="l" rtl="0">
              <a:spcBef>
                <a:spcPts val="0"/>
              </a:spcBef>
              <a:spcAft>
                <a:spcPts val="0"/>
              </a:spcAft>
              <a:buNone/>
            </a:pPr>
            <a:endParaRPr i="1" dirty="0">
              <a:solidFill>
                <a:srgbClr val="EEEEEE"/>
              </a:solidFill>
              <a:latin typeface="Open Sans"/>
              <a:ea typeface="Open Sans"/>
              <a:cs typeface="Open Sans"/>
              <a:sym typeface="Open Sans"/>
            </a:endParaRPr>
          </a:p>
          <a:p>
            <a:pPr marL="0" lvl="0" indent="0" algn="l" rtl="0">
              <a:spcBef>
                <a:spcPts val="0"/>
              </a:spcBef>
              <a:spcAft>
                <a:spcPts val="0"/>
              </a:spcAft>
              <a:buNone/>
            </a:pPr>
            <a:r>
              <a:rPr lang="en" i="1" dirty="0">
                <a:solidFill>
                  <a:srgbClr val="EEEEEE"/>
                </a:solidFill>
                <a:latin typeface="Open Sans"/>
                <a:ea typeface="Open Sans"/>
                <a:cs typeface="Open Sans"/>
                <a:sym typeface="Open Sans"/>
              </a:rPr>
              <a:t>Submitted on: </a:t>
            </a:r>
            <a:endParaRPr i="1" dirty="0">
              <a:solidFill>
                <a:srgbClr val="EEEEEE"/>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52"/>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How to use this Template</a:t>
            </a:r>
            <a:endParaRPr/>
          </a:p>
        </p:txBody>
      </p:sp>
      <p:sp>
        <p:nvSpPr>
          <p:cNvPr id="186" name="Google Shape;186;p52"/>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p>
            <a:pPr marL="457200" lvl="0" indent="-368300" algn="l" rtl="0">
              <a:spcBef>
                <a:spcPts val="0"/>
              </a:spcBef>
              <a:spcAft>
                <a:spcPts val="0"/>
              </a:spcAft>
              <a:buSzPts val="2200"/>
              <a:buChar char="●"/>
            </a:pPr>
            <a:r>
              <a:rPr lang="en" sz="2200"/>
              <a:t>Theses slides are provided as a guide to ensure that you submit all the required components to successfully complete your project. For detailed instruction, please read the instruction in the classroom.</a:t>
            </a:r>
            <a:endParaRPr sz="2200"/>
          </a:p>
          <a:p>
            <a:pPr marL="457200" lvl="0" indent="-368300" algn="l" rtl="0">
              <a:spcBef>
                <a:spcPts val="0"/>
              </a:spcBef>
              <a:spcAft>
                <a:spcPts val="0"/>
              </a:spcAft>
              <a:buSzPts val="2200"/>
              <a:buChar char="●"/>
            </a:pPr>
            <a:r>
              <a:rPr lang="en" sz="2200"/>
              <a:t>When presenting your project, please only think of this as a guide. We encouraged you to use creative freedom when making changes as long as the required information is present. </a:t>
            </a:r>
            <a:endParaRPr sz="2200"/>
          </a:p>
          <a:p>
            <a:pPr marL="457200" lvl="0" indent="-368300" algn="l" rtl="0">
              <a:spcBef>
                <a:spcPts val="0"/>
              </a:spcBef>
              <a:spcAft>
                <a:spcPts val="0"/>
              </a:spcAft>
              <a:buSzPts val="2200"/>
              <a:buChar char="●"/>
            </a:pPr>
            <a:r>
              <a:rPr lang="en" sz="2200" b="1">
                <a:latin typeface="Open Sans"/>
                <a:ea typeface="Open Sans"/>
                <a:cs typeface="Open Sans"/>
                <a:sym typeface="Open Sans"/>
              </a:rPr>
              <a:t>Remember to delete this and all</a:t>
            </a:r>
            <a:r>
              <a:rPr lang="en" sz="2200"/>
              <a:t> of the other example slides before you submit your project.</a:t>
            </a:r>
            <a:endParaRPr sz="2200"/>
          </a:p>
          <a:p>
            <a:pPr marL="457200" lvl="0" indent="-368300" algn="l" rtl="0">
              <a:spcBef>
                <a:spcPts val="0"/>
              </a:spcBef>
              <a:spcAft>
                <a:spcPts val="0"/>
              </a:spcAft>
              <a:buSzPts val="2200"/>
              <a:buChar char="●"/>
            </a:pPr>
            <a:r>
              <a:rPr lang="en" sz="2200" b="1">
                <a:latin typeface="Open Sans"/>
                <a:ea typeface="Open Sans"/>
                <a:cs typeface="Open Sans"/>
                <a:sym typeface="Open Sans"/>
              </a:rPr>
              <a:t>Remember to add your name and the date</a:t>
            </a:r>
            <a:r>
              <a:rPr lang="en" sz="2200"/>
              <a:t> to the cover slide</a:t>
            </a:r>
            <a:endParaRPr sz="2200"/>
          </a:p>
          <a:p>
            <a:pPr marL="457200" lvl="0" indent="0" algn="l" rtl="0">
              <a:spcBef>
                <a:spcPts val="1600"/>
              </a:spcBef>
              <a:spcAft>
                <a:spcPts val="1600"/>
              </a:spcAft>
              <a:buNone/>
            </a:pPr>
            <a:endParaRPr sz="2200"/>
          </a:p>
        </p:txBody>
      </p:sp>
      <p:sp>
        <p:nvSpPr>
          <p:cNvPr id="187" name="Google Shape;187;p52"/>
          <p:cNvSpPr txBox="1"/>
          <p:nvPr/>
        </p:nvSpPr>
        <p:spPr>
          <a:xfrm>
            <a:off x="1028425" y="7749175"/>
            <a:ext cx="5652900" cy="111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500">
                <a:solidFill>
                  <a:srgbClr val="FFFFFF"/>
                </a:solidFill>
                <a:latin typeface="Open Sans"/>
                <a:ea typeface="Open Sans"/>
                <a:cs typeface="Open Sans"/>
                <a:sym typeface="Open Sans"/>
              </a:rPr>
              <a:t>Remove this slide</a:t>
            </a:r>
            <a:endParaRPr sz="4500">
              <a:solidFill>
                <a:srgbClr val="FFFFFF"/>
              </a:solidFill>
              <a:latin typeface="Open Sans"/>
              <a:ea typeface="Open Sans"/>
              <a:cs typeface="Open Sans"/>
              <a:sym typeface="Open Sans"/>
            </a:endParaRPr>
          </a:p>
        </p:txBody>
      </p:sp>
      <p:pic>
        <p:nvPicPr>
          <p:cNvPr id="188" name="Google Shape;188;p52"/>
          <p:cNvPicPr preferRelativeResize="0"/>
          <p:nvPr/>
        </p:nvPicPr>
        <p:blipFill rotWithShape="1">
          <a:blip r:embed="rId3">
            <a:alphaModFix/>
          </a:blip>
          <a:srcRect l="18074" t="20989" r="14486" b="11825"/>
          <a:stretch/>
        </p:blipFill>
        <p:spPr>
          <a:xfrm>
            <a:off x="374375" y="7823200"/>
            <a:ext cx="7023750" cy="1749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53"/>
          <p:cNvSpPr txBox="1"/>
          <p:nvPr/>
        </p:nvSpPr>
        <p:spPr>
          <a:xfrm>
            <a:off x="329725" y="742950"/>
            <a:ext cx="6135900" cy="895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sz="4000">
                <a:solidFill>
                  <a:srgbClr val="2E3D49"/>
                </a:solidFill>
                <a:latin typeface="Open Sans"/>
                <a:ea typeface="Open Sans"/>
                <a:cs typeface="Open Sans"/>
                <a:sym typeface="Open Sans"/>
              </a:rPr>
              <a:t>What we provide:</a:t>
            </a:r>
            <a:endParaRPr sz="4000">
              <a:solidFill>
                <a:srgbClr val="2E3D49"/>
              </a:solidFill>
              <a:latin typeface="Open Sans"/>
              <a:ea typeface="Open Sans"/>
              <a:cs typeface="Open Sans"/>
              <a:sym typeface="Open Sans"/>
            </a:endParaRPr>
          </a:p>
        </p:txBody>
      </p:sp>
      <p:sp>
        <p:nvSpPr>
          <p:cNvPr id="194" name="Google Shape;194;p53"/>
          <p:cNvSpPr txBox="1"/>
          <p:nvPr/>
        </p:nvSpPr>
        <p:spPr>
          <a:xfrm>
            <a:off x="1028425" y="7749175"/>
            <a:ext cx="5652900" cy="111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500">
                <a:solidFill>
                  <a:srgbClr val="FFFFFF"/>
                </a:solidFill>
                <a:latin typeface="Open Sans"/>
                <a:ea typeface="Open Sans"/>
                <a:cs typeface="Open Sans"/>
                <a:sym typeface="Open Sans"/>
              </a:rPr>
              <a:t>Remove this slide</a:t>
            </a:r>
            <a:endParaRPr sz="4500">
              <a:solidFill>
                <a:srgbClr val="FFFFFF"/>
              </a:solidFill>
              <a:latin typeface="Open Sans"/>
              <a:ea typeface="Open Sans"/>
              <a:cs typeface="Open Sans"/>
              <a:sym typeface="Open Sans"/>
            </a:endParaRPr>
          </a:p>
        </p:txBody>
      </p:sp>
      <p:pic>
        <p:nvPicPr>
          <p:cNvPr id="195" name="Google Shape;195;p53"/>
          <p:cNvPicPr preferRelativeResize="0"/>
          <p:nvPr/>
        </p:nvPicPr>
        <p:blipFill rotWithShape="1">
          <a:blip r:embed="rId3">
            <a:alphaModFix/>
          </a:blip>
          <a:srcRect l="18074" t="20989" r="14486" b="11825"/>
          <a:stretch/>
        </p:blipFill>
        <p:spPr>
          <a:xfrm>
            <a:off x="374375" y="7823200"/>
            <a:ext cx="7023750" cy="1749275"/>
          </a:xfrm>
          <a:prstGeom prst="rect">
            <a:avLst/>
          </a:prstGeom>
          <a:noFill/>
          <a:ln>
            <a:noFill/>
          </a:ln>
        </p:spPr>
      </p:pic>
      <p:sp>
        <p:nvSpPr>
          <p:cNvPr id="196" name="Google Shape;196;p53"/>
          <p:cNvSpPr txBox="1">
            <a:spLocks noGrp="1"/>
          </p:cNvSpPr>
          <p:nvPr>
            <p:ph type="title"/>
          </p:nvPr>
        </p:nvSpPr>
        <p:spPr>
          <a:xfrm>
            <a:off x="322950" y="5293650"/>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you are required to submit:</a:t>
            </a:r>
            <a:endParaRPr/>
          </a:p>
        </p:txBody>
      </p:sp>
      <p:sp>
        <p:nvSpPr>
          <p:cNvPr id="197" name="Google Shape;197;p53"/>
          <p:cNvSpPr txBox="1">
            <a:spLocks noGrp="1"/>
          </p:cNvSpPr>
          <p:nvPr>
            <p:ph type="body" idx="1"/>
          </p:nvPr>
        </p:nvSpPr>
        <p:spPr>
          <a:xfrm>
            <a:off x="233575" y="6710816"/>
            <a:ext cx="7242600" cy="1119900"/>
          </a:xfrm>
          <a:prstGeom prst="rect">
            <a:avLst/>
          </a:prstGeom>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SzPts val="2000"/>
              <a:buFont typeface="Open Sans"/>
              <a:buChar char="●"/>
            </a:pPr>
            <a:r>
              <a:rPr lang="en" sz="2200"/>
              <a:t>Filled out Slides template.</a:t>
            </a:r>
            <a:endParaRPr sz="2200"/>
          </a:p>
          <a:p>
            <a:pPr marL="457200" marR="0" lvl="0" indent="-355600" algn="l" rtl="0">
              <a:lnSpc>
                <a:spcPct val="115000"/>
              </a:lnSpc>
              <a:spcBef>
                <a:spcPts val="0"/>
              </a:spcBef>
              <a:spcAft>
                <a:spcPts val="0"/>
              </a:spcAft>
              <a:buSzPts val="2000"/>
              <a:buFont typeface="Open Sans"/>
              <a:buChar char="●"/>
            </a:pPr>
            <a:r>
              <a:rPr lang="en" sz="2200"/>
              <a:t>Filled out Sheets template.</a:t>
            </a:r>
            <a:endParaRPr sz="2200"/>
          </a:p>
        </p:txBody>
      </p:sp>
      <p:sp>
        <p:nvSpPr>
          <p:cNvPr id="198" name="Google Shape;198;p53"/>
          <p:cNvSpPr txBox="1">
            <a:spLocks noGrp="1"/>
          </p:cNvSpPr>
          <p:nvPr>
            <p:ph type="body" idx="1"/>
          </p:nvPr>
        </p:nvSpPr>
        <p:spPr>
          <a:xfrm>
            <a:off x="264950" y="1638151"/>
            <a:ext cx="7242600" cy="20913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SzPts val="2000"/>
              <a:buChar char="●"/>
            </a:pPr>
            <a:r>
              <a:rPr lang="en" sz="2200"/>
              <a:t>This Starter Slides Template</a:t>
            </a:r>
            <a:endParaRPr sz="2200"/>
          </a:p>
          <a:p>
            <a:pPr marL="457200" lvl="0" indent="-355600" algn="l" rtl="0">
              <a:spcBef>
                <a:spcPts val="0"/>
              </a:spcBef>
              <a:spcAft>
                <a:spcPts val="0"/>
              </a:spcAft>
              <a:buSzPts val="2000"/>
              <a:buFont typeface="Open Sans"/>
              <a:buChar char="●"/>
            </a:pPr>
            <a:r>
              <a:rPr lang="en" sz="2200"/>
              <a:t>Sheets Template with 4 Tabs - Data Dictionary, Data Quality Issues, Standard Naming Convention, and Business Glossary</a:t>
            </a:r>
            <a:endParaRPr sz="2200"/>
          </a:p>
          <a:p>
            <a:pPr marL="457200" lvl="0" indent="-355600" algn="l" rtl="0">
              <a:spcBef>
                <a:spcPts val="0"/>
              </a:spcBef>
              <a:spcAft>
                <a:spcPts val="0"/>
              </a:spcAft>
              <a:buSzPts val="2000"/>
              <a:buFont typeface="Open Sans"/>
              <a:buChar char="●"/>
            </a:pPr>
            <a:r>
              <a:rPr lang="en" sz="2200"/>
              <a:t>Workspace with an instance of Postgres and code that will create and populate the database you will be working with.</a:t>
            </a:r>
            <a:endParaRPr sz="2200"/>
          </a:p>
          <a:p>
            <a:pPr marL="457200" lvl="0" indent="-355600" algn="l" rtl="0">
              <a:spcBef>
                <a:spcPts val="0"/>
              </a:spcBef>
              <a:spcAft>
                <a:spcPts val="0"/>
              </a:spcAft>
              <a:buSzPts val="2000"/>
              <a:buFont typeface="Open Sans"/>
              <a:buChar char="●"/>
            </a:pPr>
            <a:r>
              <a:rPr lang="en" sz="2200"/>
              <a:t>Grading rubric you can use to ensure you have submitted everything that is required. </a:t>
            </a:r>
            <a:endParaRPr sz="2200"/>
          </a:p>
          <a:p>
            <a:pPr marL="0" marR="0" lvl="0" indent="0" algn="l" rtl="0">
              <a:lnSpc>
                <a:spcPct val="100000"/>
              </a:lnSpc>
              <a:spcBef>
                <a:spcPts val="1600"/>
              </a:spcBef>
              <a:spcAft>
                <a:spcPts val="0"/>
              </a:spcAft>
              <a:buNone/>
            </a:pPr>
            <a:endParaRPr sz="4000">
              <a:solidFill>
                <a:srgbClr val="2E3D49"/>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54"/>
          <p:cNvSpPr txBox="1">
            <a:spLocks noGrp="1"/>
          </p:cNvSpPr>
          <p:nvPr>
            <p:ph type="title"/>
          </p:nvPr>
        </p:nvSpPr>
        <p:spPr>
          <a:xfrm>
            <a:off x="264895" y="1844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Background</a:t>
            </a:r>
            <a:endParaRPr/>
          </a:p>
        </p:txBody>
      </p:sp>
      <p:sp>
        <p:nvSpPr>
          <p:cNvPr id="204" name="Google Shape;204;p54"/>
          <p:cNvSpPr txBox="1">
            <a:spLocks noGrp="1"/>
          </p:cNvSpPr>
          <p:nvPr>
            <p:ph type="body" idx="1"/>
          </p:nvPr>
        </p:nvSpPr>
        <p:spPr>
          <a:xfrm>
            <a:off x="264900" y="1420950"/>
            <a:ext cx="6932700" cy="8332800"/>
          </a:xfrm>
          <a:prstGeom prst="rect">
            <a:avLst/>
          </a:prstGeom>
        </p:spPr>
        <p:txBody>
          <a:bodyPr spcFirstLastPara="1" wrap="square" lIns="91425" tIns="91425" rIns="91425" bIns="91425" anchor="t" anchorCtr="0">
            <a:noAutofit/>
          </a:bodyPr>
          <a:lstStyle/>
          <a:p>
            <a:pPr marL="457200" lvl="0" indent="-336550" algn="just" rtl="0">
              <a:lnSpc>
                <a:spcPct val="150000"/>
              </a:lnSpc>
              <a:spcBef>
                <a:spcPts val="0"/>
              </a:spcBef>
              <a:spcAft>
                <a:spcPts val="0"/>
              </a:spcAft>
              <a:buClr>
                <a:srgbClr val="525C65"/>
              </a:buClr>
              <a:buSzPts val="1700"/>
              <a:buFont typeface="Open Sans"/>
              <a:buChar char="●"/>
            </a:pPr>
            <a:r>
              <a:rPr lang="en" sz="1700" b="1">
                <a:solidFill>
                  <a:srgbClr val="525C65"/>
                </a:solidFill>
                <a:highlight>
                  <a:srgbClr val="FFFFFF"/>
                </a:highlight>
                <a:latin typeface="Open Sans"/>
                <a:ea typeface="Open Sans"/>
                <a:cs typeface="Open Sans"/>
                <a:sym typeface="Open Sans"/>
              </a:rPr>
              <a:t>SneakerPark</a:t>
            </a:r>
            <a:r>
              <a:rPr lang="en" sz="1700">
                <a:solidFill>
                  <a:srgbClr val="525C65"/>
                </a:solidFill>
                <a:highlight>
                  <a:srgbClr val="FFFFFF"/>
                </a:highlight>
                <a:latin typeface="Open Sans"/>
                <a:ea typeface="Open Sans"/>
                <a:cs typeface="Open Sans"/>
                <a:sym typeface="Open Sans"/>
              </a:rPr>
              <a:t> is an online shoe reseller that allows people to buy and sell used and new shoes. Buyers can bid for shoes or buy them outright, and sellers can set a price or sell to the highest bidder.</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Each buyer and seller must have an active account in order to sell, bid, or purchase sneakers using SneakerPark’s website.</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SneakerPark authenticates the shoes before shipping them to the buyer, so before listing an item, the seller must ship it to SneakerPark’s warehouse. Upon receipt, SneakerPark assigns an item number to each pair of sneakers and notifies the seller that they are now free to list their item. If the item is not listed within 45 days, SneakerPark returns it to the seller and sends an invoice to the seller for the shipping cost.</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If the item is found to be inauthentic or in an unacceptable condition, it is also returned back to the seller in a similar fashion.</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When the item sells, the buyer’s account is credited with the purchase price minus the SneakerPark service fee and shipping fees to deliver the item to the buyer.</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Currently, SneakerPark only supports sales within the United States.</a:t>
            </a:r>
            <a:endParaRPr sz="1700">
              <a:solidFill>
                <a:srgbClr val="525C65"/>
              </a:solidFill>
              <a:highlight>
                <a:srgbClr val="FFFFFF"/>
              </a:highlight>
              <a:latin typeface="Open Sans"/>
              <a:ea typeface="Open Sans"/>
              <a:cs typeface="Open Sans"/>
              <a:sym typeface="Open Sans"/>
            </a:endParaRPr>
          </a:p>
          <a:p>
            <a:pPr marL="0" marR="241300" lvl="0" indent="0" algn="just" rtl="0">
              <a:lnSpc>
                <a:spcPct val="150000"/>
              </a:lnSpc>
              <a:spcBef>
                <a:spcPts val="1100"/>
              </a:spcBef>
              <a:spcAft>
                <a:spcPts val="400"/>
              </a:spcAft>
              <a:buClr>
                <a:schemeClr val="dk1"/>
              </a:buClr>
              <a:buSzPts val="1100"/>
              <a:buFont typeface="Arial"/>
              <a:buNone/>
            </a:pPr>
            <a:endParaRPr sz="1700" b="1">
              <a:solidFill>
                <a:srgbClr val="2E3D49"/>
              </a:solidFill>
              <a:highlight>
                <a:srgbClr val="FFFFFF"/>
              </a:highlight>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55"/>
          <p:cNvSpPr txBox="1">
            <a:spLocks noGrp="1"/>
          </p:cNvSpPr>
          <p:nvPr>
            <p:ph type="title"/>
          </p:nvPr>
        </p:nvSpPr>
        <p:spPr>
          <a:xfrm>
            <a:off x="264895" y="403546"/>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Background (cont’d)</a:t>
            </a:r>
            <a:endParaRPr/>
          </a:p>
        </p:txBody>
      </p:sp>
      <p:sp>
        <p:nvSpPr>
          <p:cNvPr id="210" name="Google Shape;210;p55"/>
          <p:cNvSpPr txBox="1"/>
          <p:nvPr/>
        </p:nvSpPr>
        <p:spPr>
          <a:xfrm>
            <a:off x="228600" y="1562100"/>
            <a:ext cx="6876900" cy="2426400"/>
          </a:xfrm>
          <a:prstGeom prst="rect">
            <a:avLst/>
          </a:prstGeom>
          <a:noFill/>
          <a:ln>
            <a:noFill/>
          </a:ln>
        </p:spPr>
        <p:txBody>
          <a:bodyPr spcFirstLastPara="1" wrap="square" lIns="91425" tIns="91425" rIns="91425" bIns="91425" anchor="t" anchorCtr="0">
            <a:noAutofit/>
          </a:bodyPr>
          <a:lstStyle/>
          <a:p>
            <a:pPr marL="457200" lvl="0" indent="-342900" algn="just" rtl="0">
              <a:lnSpc>
                <a:spcPct val="170000"/>
              </a:lnSpc>
              <a:spcBef>
                <a:spcPts val="0"/>
              </a:spcBef>
              <a:spcAft>
                <a:spcPts val="0"/>
              </a:spcAft>
              <a:buClr>
                <a:srgbClr val="525C65"/>
              </a:buClr>
              <a:buSzPts val="1800"/>
              <a:buFont typeface="Open Sans"/>
              <a:buChar char="●"/>
            </a:pPr>
            <a:r>
              <a:rPr lang="en" sz="1800">
                <a:solidFill>
                  <a:srgbClr val="525C65"/>
                </a:solidFill>
                <a:highlight>
                  <a:srgbClr val="FFFFFF"/>
                </a:highlight>
                <a:latin typeface="Open Sans"/>
                <a:ea typeface="Open Sans"/>
                <a:cs typeface="Open Sans"/>
                <a:sym typeface="Open Sans"/>
              </a:rPr>
              <a:t>Below you can see a diagram that will hopefully help you visualize some of SneakerPark's business processes. Keep in mind that it does not capture ALL processes and every nuance, but simply serves as another artifact to use in your project.</a:t>
            </a:r>
            <a:endParaRPr sz="1800">
              <a:solidFill>
                <a:srgbClr val="525C65"/>
              </a:solidFill>
              <a:highlight>
                <a:srgbClr val="FFFFFF"/>
              </a:highlight>
              <a:latin typeface="Open Sans"/>
              <a:ea typeface="Open Sans"/>
              <a:cs typeface="Open Sans"/>
              <a:sym typeface="Open Sans"/>
            </a:endParaRPr>
          </a:p>
        </p:txBody>
      </p:sp>
      <p:pic>
        <p:nvPicPr>
          <p:cNvPr id="211" name="Google Shape;211;p55"/>
          <p:cNvPicPr preferRelativeResize="0"/>
          <p:nvPr/>
        </p:nvPicPr>
        <p:blipFill>
          <a:blip r:embed="rId3">
            <a:alphaModFix/>
          </a:blip>
          <a:stretch>
            <a:fillRect/>
          </a:stretch>
        </p:blipFill>
        <p:spPr>
          <a:xfrm>
            <a:off x="152400" y="4140900"/>
            <a:ext cx="7467599" cy="470863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15"/>
        <p:cNvGrpSpPr/>
        <p:nvPr/>
      </p:nvGrpSpPr>
      <p:grpSpPr>
        <a:xfrm>
          <a:off x="0" y="0"/>
          <a:ext cx="0" cy="0"/>
          <a:chOff x="0" y="0"/>
          <a:chExt cx="0" cy="0"/>
        </a:xfrm>
      </p:grpSpPr>
      <p:sp>
        <p:nvSpPr>
          <p:cNvPr id="216" name="Google Shape;216;p56"/>
          <p:cNvSpPr/>
          <p:nvPr/>
        </p:nvSpPr>
        <p:spPr>
          <a:xfrm>
            <a:off x="3582591" y="3663029"/>
            <a:ext cx="607200" cy="744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17" name="Google Shape;217;p56"/>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18" name="Google Shape;218;p56"/>
          <p:cNvSpPr/>
          <p:nvPr/>
        </p:nvSpPr>
        <p:spPr>
          <a:xfrm>
            <a:off x="911700" y="4003550"/>
            <a:ext cx="5949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1</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Enterprise Data Catalog          Part 1: Enterprise Data Model</a:t>
            </a:r>
            <a:endParaRPr sz="3000">
              <a:solidFill>
                <a:srgbClr val="FFFFFF"/>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57"/>
          <p:cNvSpPr txBox="1"/>
          <p:nvPr/>
        </p:nvSpPr>
        <p:spPr>
          <a:xfrm>
            <a:off x="0" y="-352425"/>
            <a:ext cx="7772400" cy="3977100"/>
          </a:xfrm>
          <a:prstGeom prst="rect">
            <a:avLst/>
          </a:prstGeom>
          <a:noFill/>
          <a:ln>
            <a:noFill/>
          </a:ln>
        </p:spPr>
        <p:txBody>
          <a:bodyPr spcFirstLastPara="1" wrap="square" lIns="91425" tIns="91425" rIns="91425" bIns="91425" anchor="t" anchorCtr="0">
            <a:noAutofit/>
          </a:bodyPr>
          <a:lstStyle/>
          <a:p>
            <a:pPr marL="241300" marR="241300" lvl="0" indent="0" algn="just" rtl="0">
              <a:lnSpc>
                <a:spcPct val="170000"/>
              </a:lnSpc>
              <a:spcBef>
                <a:spcPts val="3800"/>
              </a:spcBef>
              <a:spcAft>
                <a:spcPts val="1100"/>
              </a:spcAft>
              <a:buNone/>
            </a:pPr>
            <a:r>
              <a:rPr lang="en" sz="1600">
                <a:solidFill>
                  <a:srgbClr val="525C65"/>
                </a:solidFill>
                <a:highlight>
                  <a:srgbClr val="FFFFFF"/>
                </a:highlight>
                <a:latin typeface="Open Sans"/>
                <a:ea typeface="Open Sans"/>
                <a:cs typeface="Open Sans"/>
                <a:sym typeface="Open Sans"/>
              </a:rPr>
              <a:t>Create a </a:t>
            </a:r>
            <a:r>
              <a:rPr lang="en" sz="1600" b="1">
                <a:solidFill>
                  <a:srgbClr val="525C65"/>
                </a:solidFill>
                <a:highlight>
                  <a:srgbClr val="FFFFFF"/>
                </a:highlight>
                <a:latin typeface="Open Sans"/>
                <a:ea typeface="Open Sans"/>
                <a:cs typeface="Open Sans"/>
                <a:sym typeface="Open Sans"/>
              </a:rPr>
              <a:t>conceptual</a:t>
            </a:r>
            <a:r>
              <a:rPr lang="en" sz="1600">
                <a:solidFill>
                  <a:srgbClr val="525C65"/>
                </a:solidFill>
                <a:highlight>
                  <a:srgbClr val="FFFFFF"/>
                </a:highlight>
                <a:latin typeface="Open Sans"/>
                <a:ea typeface="Open Sans"/>
                <a:cs typeface="Open Sans"/>
                <a:sym typeface="Open Sans"/>
              </a:rPr>
              <a:t> data model that will provide SneakerPark with a holistic view of its data systems and help you grasp the organization's </a:t>
            </a:r>
            <a:r>
              <a:rPr lang="en" sz="1600" b="1">
                <a:solidFill>
                  <a:srgbClr val="525C65"/>
                </a:solidFill>
                <a:highlight>
                  <a:srgbClr val="FFFFFF"/>
                </a:highlight>
                <a:latin typeface="Open Sans"/>
                <a:ea typeface="Open Sans"/>
                <a:cs typeface="Open Sans"/>
                <a:sym typeface="Open Sans"/>
              </a:rPr>
              <a:t>important entities and relationships</a:t>
            </a:r>
            <a:r>
              <a:rPr lang="en" sz="1600">
                <a:solidFill>
                  <a:srgbClr val="525C65"/>
                </a:solidFill>
                <a:highlight>
                  <a:srgbClr val="FFFFFF"/>
                </a:highlight>
                <a:latin typeface="Open Sans"/>
                <a:ea typeface="Open Sans"/>
                <a:cs typeface="Open Sans"/>
                <a:sym typeface="Open Sans"/>
              </a:rPr>
              <a:t>, which will be instrumental as you move further in the project. You can use Lucidchart or any other diagramming tool of your choice, but please use the Crow’s Foot/IE Notation and please be sure to indicate both cardinality (the type of a relationship such as 1:N or N:N) and optionality (whether the relationship is optional or mandatory).</a:t>
            </a:r>
            <a:endParaRPr sz="1600">
              <a:solidFill>
                <a:srgbClr val="525C65"/>
              </a:solidFill>
              <a:highlight>
                <a:srgbClr val="FFFFFF"/>
              </a:highlight>
              <a:latin typeface="Open Sans"/>
              <a:ea typeface="Open Sans"/>
              <a:cs typeface="Open Sans"/>
              <a:sym typeface="Open Sans"/>
            </a:endParaRPr>
          </a:p>
        </p:txBody>
      </p:sp>
      <p:pic>
        <p:nvPicPr>
          <p:cNvPr id="224" name="Google Shape;224;p57"/>
          <p:cNvPicPr preferRelativeResize="0"/>
          <p:nvPr/>
        </p:nvPicPr>
        <p:blipFill>
          <a:blip r:embed="rId3">
            <a:alphaModFix/>
          </a:blip>
          <a:stretch>
            <a:fillRect/>
          </a:stretch>
        </p:blipFill>
        <p:spPr>
          <a:xfrm>
            <a:off x="1395550" y="4276725"/>
            <a:ext cx="4781550" cy="1504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58"/>
          <p:cNvSpPr txBox="1"/>
          <p:nvPr/>
        </p:nvSpPr>
        <p:spPr>
          <a:xfrm>
            <a:off x="466650" y="467050"/>
            <a:ext cx="6839100" cy="800100"/>
          </a:xfrm>
          <a:prstGeom prst="rect">
            <a:avLst/>
          </a:prstGeom>
          <a:noFill/>
          <a:ln>
            <a:noFill/>
          </a:ln>
        </p:spPr>
        <p:txBody>
          <a:bodyPr spcFirstLastPara="1" wrap="square" lIns="91425" tIns="91425" rIns="91425" bIns="91425" anchor="t" anchorCtr="0">
            <a:noAutofit/>
          </a:bodyPr>
          <a:lstStyle/>
          <a:p>
            <a:pPr marL="0" lvl="0" indent="0" algn="ctr" rtl="0">
              <a:lnSpc>
                <a:spcPct val="170000"/>
              </a:lnSpc>
              <a:spcBef>
                <a:spcPts val="0"/>
              </a:spcBef>
              <a:spcAft>
                <a:spcPts val="0"/>
              </a:spcAft>
              <a:buNone/>
            </a:pPr>
            <a:r>
              <a:rPr lang="en-US" sz="2000" b="1" dirty="0" err="1">
                <a:solidFill>
                  <a:schemeClr val="tx1"/>
                </a:solidFill>
                <a:highlight>
                  <a:schemeClr val="lt1"/>
                </a:highlight>
                <a:latin typeface="Open Sans"/>
                <a:ea typeface="Open Sans"/>
                <a:cs typeface="Open Sans"/>
                <a:sym typeface="Open Sans"/>
              </a:rPr>
              <a:t>SneakerPark</a:t>
            </a:r>
            <a:r>
              <a:rPr lang="en-US" sz="2000" b="1" dirty="0">
                <a:solidFill>
                  <a:schemeClr val="tx1"/>
                </a:solidFill>
                <a:highlight>
                  <a:schemeClr val="lt1"/>
                </a:highlight>
                <a:latin typeface="Open Sans"/>
                <a:ea typeface="Open Sans"/>
                <a:cs typeface="Open Sans"/>
                <a:sym typeface="Open Sans"/>
              </a:rPr>
              <a:t> – Enterprise Conceptual Data Model</a:t>
            </a:r>
            <a:endParaRPr sz="2000" b="1" dirty="0">
              <a:solidFill>
                <a:schemeClr val="tx1"/>
              </a:solidFill>
              <a:highlight>
                <a:schemeClr val="lt1"/>
              </a:highlight>
              <a:latin typeface="Open Sans"/>
              <a:ea typeface="Open Sans"/>
              <a:cs typeface="Open Sans"/>
              <a:sym typeface="Open Sans"/>
            </a:endParaRPr>
          </a:p>
        </p:txBody>
      </p:sp>
      <p:pic>
        <p:nvPicPr>
          <p:cNvPr id="3" name="Picture 2">
            <a:extLst>
              <a:ext uri="{FF2B5EF4-FFF2-40B4-BE49-F238E27FC236}">
                <a16:creationId xmlns:a16="http://schemas.microsoft.com/office/drawing/2014/main" id="{741A04ED-7421-9AB8-1581-89CCD9D747C2}"/>
              </a:ext>
            </a:extLst>
          </p:cNvPr>
          <p:cNvPicPr>
            <a:picLocks noChangeAspect="1"/>
          </p:cNvPicPr>
          <p:nvPr/>
        </p:nvPicPr>
        <p:blipFill>
          <a:blip r:embed="rId3"/>
          <a:stretch>
            <a:fillRect/>
          </a:stretch>
        </p:blipFill>
        <p:spPr>
          <a:xfrm>
            <a:off x="0" y="1669515"/>
            <a:ext cx="7587049" cy="40255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34"/>
        <p:cNvGrpSpPr/>
        <p:nvPr/>
      </p:nvGrpSpPr>
      <p:grpSpPr>
        <a:xfrm>
          <a:off x="0" y="0"/>
          <a:ext cx="0" cy="0"/>
          <a:chOff x="0" y="0"/>
          <a:chExt cx="0" cy="0"/>
        </a:xfrm>
      </p:grpSpPr>
      <p:sp>
        <p:nvSpPr>
          <p:cNvPr id="235" name="Google Shape;235;p59"/>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36" name="Google Shape;236;p59"/>
          <p:cNvSpPr/>
          <p:nvPr/>
        </p:nvSpPr>
        <p:spPr>
          <a:xfrm>
            <a:off x="911700" y="4003550"/>
            <a:ext cx="5949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2</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Enterprise Data Catalog          Part 2: Metadata</a:t>
            </a:r>
            <a:endParaRPr sz="3000">
              <a:solidFill>
                <a:srgbClr val="FFFFFF"/>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60"/>
          <p:cNvSpPr txBox="1">
            <a:spLocks noGrp="1"/>
          </p:cNvSpPr>
          <p:nvPr>
            <p:ph type="body" idx="1"/>
          </p:nvPr>
        </p:nvSpPr>
        <p:spPr>
          <a:xfrm>
            <a:off x="264900" y="110600"/>
            <a:ext cx="7366800" cy="1041900"/>
          </a:xfrm>
          <a:prstGeom prst="rect">
            <a:avLst/>
          </a:prstGeom>
        </p:spPr>
        <p:txBody>
          <a:bodyPr spcFirstLastPara="1" wrap="square" lIns="91425" tIns="91425" rIns="91425" bIns="91425" anchor="t" anchorCtr="0">
            <a:noAutofit/>
          </a:bodyPr>
          <a:lstStyle/>
          <a:p>
            <a:pPr marL="241300" marR="241300" lvl="0" indent="0" algn="just" rtl="0">
              <a:lnSpc>
                <a:spcPct val="170000"/>
              </a:lnSpc>
              <a:spcBef>
                <a:spcPts val="3800"/>
              </a:spcBef>
              <a:spcAft>
                <a:spcPts val="0"/>
              </a:spcAft>
              <a:buNone/>
            </a:pPr>
            <a:r>
              <a:rPr lang="en" sz="1600">
                <a:solidFill>
                  <a:srgbClr val="525C65"/>
                </a:solidFill>
                <a:highlight>
                  <a:srgbClr val="FFFFFF"/>
                </a:highlight>
                <a:latin typeface="Open Sans"/>
                <a:ea typeface="Open Sans"/>
                <a:cs typeface="Open Sans"/>
                <a:sym typeface="Open Sans"/>
              </a:rPr>
              <a:t>Create the first version of the Metadata Catalog by documenting the metadata from all systems in the "Data Dictionary" and the “Enterprise Data Catalog” tabs of the provided Sheets template.</a:t>
            </a:r>
            <a:endParaRPr sz="160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1100"/>
              </a:spcAft>
              <a:buClr>
                <a:schemeClr val="dk1"/>
              </a:buClr>
              <a:buSzPts val="1100"/>
              <a:buFont typeface="Arial"/>
              <a:buNone/>
            </a:pPr>
            <a:r>
              <a:rPr lang="en" sz="1600">
                <a:solidFill>
                  <a:srgbClr val="525C65"/>
                </a:solidFill>
                <a:highlight>
                  <a:srgbClr val="FFFFFF"/>
                </a:highlight>
                <a:latin typeface="Open Sans"/>
                <a:ea typeface="Open Sans"/>
                <a:cs typeface="Open Sans"/>
                <a:sym typeface="Open Sans"/>
              </a:rPr>
              <a:t>Please note that you are required to fill out </a:t>
            </a:r>
            <a:r>
              <a:rPr lang="en" sz="1600" b="1">
                <a:solidFill>
                  <a:srgbClr val="525C65"/>
                </a:solidFill>
                <a:highlight>
                  <a:srgbClr val="FFFFFF"/>
                </a:highlight>
                <a:latin typeface="Open Sans"/>
                <a:ea typeface="Open Sans"/>
                <a:cs typeface="Open Sans"/>
                <a:sym typeface="Open Sans"/>
              </a:rPr>
              <a:t>all fields</a:t>
            </a:r>
            <a:r>
              <a:rPr lang="en" sz="1600">
                <a:solidFill>
                  <a:srgbClr val="525C65"/>
                </a:solidFill>
                <a:highlight>
                  <a:srgbClr val="FFFFFF"/>
                </a:highlight>
                <a:latin typeface="Open Sans"/>
                <a:ea typeface="Open Sans"/>
                <a:cs typeface="Open Sans"/>
                <a:sym typeface="Open Sans"/>
              </a:rPr>
              <a:t> in </a:t>
            </a:r>
            <a:r>
              <a:rPr lang="en" sz="1600" b="1">
                <a:solidFill>
                  <a:srgbClr val="525C65"/>
                </a:solidFill>
                <a:highlight>
                  <a:srgbClr val="FFFFFF"/>
                </a:highlight>
                <a:latin typeface="Open Sans"/>
                <a:ea typeface="Open Sans"/>
                <a:cs typeface="Open Sans"/>
                <a:sym typeface="Open Sans"/>
              </a:rPr>
              <a:t>both tabs</a:t>
            </a:r>
            <a:r>
              <a:rPr lang="en" sz="1600">
                <a:solidFill>
                  <a:srgbClr val="525C65"/>
                </a:solidFill>
                <a:highlight>
                  <a:srgbClr val="FFFFFF"/>
                </a:highlight>
                <a:latin typeface="Open Sans"/>
                <a:ea typeface="Open Sans"/>
                <a:cs typeface="Open Sans"/>
                <a:sym typeface="Open Sans"/>
              </a:rPr>
              <a:t>.</a:t>
            </a:r>
            <a:endParaRPr sz="1600">
              <a:solidFill>
                <a:srgbClr val="525C65"/>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45"/>
        <p:cNvGrpSpPr/>
        <p:nvPr/>
      </p:nvGrpSpPr>
      <p:grpSpPr>
        <a:xfrm>
          <a:off x="0" y="0"/>
          <a:ext cx="0" cy="0"/>
          <a:chOff x="0" y="0"/>
          <a:chExt cx="0" cy="0"/>
        </a:xfrm>
      </p:grpSpPr>
      <p:sp>
        <p:nvSpPr>
          <p:cNvPr id="246" name="Google Shape;246;p61"/>
          <p:cNvSpPr/>
          <p:nvPr/>
        </p:nvSpPr>
        <p:spPr>
          <a:xfrm>
            <a:off x="1051200" y="4003550"/>
            <a:ext cx="5670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3</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Quality</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Part 1: Profiling and Cleansing</a:t>
            </a:r>
            <a:endParaRPr sz="3000">
              <a:solidFill>
                <a:srgbClr val="FFFFFF"/>
              </a:solidFill>
              <a:latin typeface="Open Sans"/>
              <a:ea typeface="Open Sans"/>
              <a:cs typeface="Open Sans"/>
              <a:sym typeface="Open Sans"/>
            </a:endParaRPr>
          </a:p>
        </p:txBody>
      </p:sp>
      <p:sp>
        <p:nvSpPr>
          <p:cNvPr id="247" name="Google Shape;247;p61"/>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62"/>
          <p:cNvSpPr txBox="1"/>
          <p:nvPr/>
        </p:nvSpPr>
        <p:spPr>
          <a:xfrm>
            <a:off x="504500" y="425675"/>
            <a:ext cx="6810600" cy="3000000"/>
          </a:xfrm>
          <a:prstGeom prst="rect">
            <a:avLst/>
          </a:prstGeom>
          <a:noFill/>
          <a:ln>
            <a:noFill/>
          </a:ln>
        </p:spPr>
        <p:txBody>
          <a:bodyPr spcFirstLastPara="1" wrap="square" lIns="91425" tIns="91425" rIns="91425" bIns="91425" anchor="t" anchorCtr="0">
            <a:noAutofit/>
          </a:bodyPr>
          <a:lstStyle/>
          <a:p>
            <a:pPr marL="0" lvl="0" indent="0" algn="just" rtl="0">
              <a:lnSpc>
                <a:spcPct val="170000"/>
              </a:lnSpc>
              <a:spcBef>
                <a:spcPts val="0"/>
              </a:spcBef>
              <a:spcAft>
                <a:spcPts val="0"/>
              </a:spcAft>
              <a:buNone/>
            </a:pPr>
            <a:r>
              <a:rPr lang="en" sz="1600">
                <a:solidFill>
                  <a:srgbClr val="525C65"/>
                </a:solidFill>
                <a:highlight>
                  <a:srgbClr val="FFFFFF"/>
                </a:highlight>
                <a:latin typeface="Open Sans"/>
                <a:ea typeface="Open Sans"/>
                <a:cs typeface="Open Sans"/>
                <a:sym typeface="Open Sans"/>
              </a:rPr>
              <a:t>Profile the data to identify at least </a:t>
            </a:r>
            <a:r>
              <a:rPr lang="en" sz="1600" b="1">
                <a:solidFill>
                  <a:srgbClr val="525C65"/>
                </a:solidFill>
                <a:highlight>
                  <a:srgbClr val="FFFFFF"/>
                </a:highlight>
                <a:latin typeface="Open Sans"/>
                <a:ea typeface="Open Sans"/>
                <a:cs typeface="Open Sans"/>
                <a:sym typeface="Open Sans"/>
              </a:rPr>
              <a:t>3 data quality issues</a:t>
            </a:r>
            <a:r>
              <a:rPr lang="en" sz="1600">
                <a:solidFill>
                  <a:srgbClr val="525C65"/>
                </a:solidFill>
                <a:highlight>
                  <a:srgbClr val="FFFFFF"/>
                </a:highlight>
                <a:latin typeface="Open Sans"/>
                <a:ea typeface="Open Sans"/>
                <a:cs typeface="Open Sans"/>
                <a:sym typeface="Open Sans"/>
              </a:rPr>
              <a:t> you see in the data. Also provide </a:t>
            </a:r>
            <a:r>
              <a:rPr lang="en" sz="1600" b="1">
                <a:solidFill>
                  <a:srgbClr val="525C65"/>
                </a:solidFill>
                <a:highlight>
                  <a:srgbClr val="FFFFFF"/>
                </a:highlight>
                <a:latin typeface="Open Sans"/>
                <a:ea typeface="Open Sans"/>
                <a:cs typeface="Open Sans"/>
                <a:sym typeface="Open Sans"/>
              </a:rPr>
              <a:t>at least 1 data quality issue that you haven’t yet seen</a:t>
            </a:r>
            <a:r>
              <a:rPr lang="en" sz="1600">
                <a:solidFill>
                  <a:srgbClr val="525C65"/>
                </a:solidFill>
                <a:highlight>
                  <a:srgbClr val="FFFFFF"/>
                </a:highlight>
                <a:latin typeface="Open Sans"/>
                <a:ea typeface="Open Sans"/>
                <a:cs typeface="Open Sans"/>
                <a:sym typeface="Open Sans"/>
              </a:rPr>
              <a:t> in the data, but can foresee occurring in the future. Based on the issues you’ve identified, come up with the data quality rule for each data quality issue, including for the one that you foresee.</a:t>
            </a:r>
            <a:endParaRPr sz="160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0"/>
              </a:spcAft>
              <a:buNone/>
            </a:pPr>
            <a:endParaRPr sz="160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1100"/>
              </a:spcAft>
              <a:buNone/>
            </a:pPr>
            <a:r>
              <a:rPr lang="en" sz="1600">
                <a:solidFill>
                  <a:srgbClr val="525C65"/>
                </a:solidFill>
                <a:highlight>
                  <a:srgbClr val="FFFFFF"/>
                </a:highlight>
                <a:latin typeface="Open Sans"/>
                <a:ea typeface="Open Sans"/>
                <a:cs typeface="Open Sans"/>
                <a:sym typeface="Open Sans"/>
              </a:rPr>
              <a:t>Make sure you fill out </a:t>
            </a:r>
            <a:r>
              <a:rPr lang="en" sz="1600" b="1">
                <a:solidFill>
                  <a:srgbClr val="525C65"/>
                </a:solidFill>
                <a:highlight>
                  <a:srgbClr val="FFFFFF"/>
                </a:highlight>
                <a:latin typeface="Open Sans"/>
                <a:ea typeface="Open Sans"/>
                <a:cs typeface="Open Sans"/>
                <a:sym typeface="Open Sans"/>
              </a:rPr>
              <a:t>all</a:t>
            </a:r>
            <a:r>
              <a:rPr lang="en" sz="1600">
                <a:solidFill>
                  <a:srgbClr val="525C65"/>
                </a:solidFill>
                <a:highlight>
                  <a:srgbClr val="FFFFFF"/>
                </a:highlight>
                <a:latin typeface="Open Sans"/>
                <a:ea typeface="Open Sans"/>
                <a:cs typeface="Open Sans"/>
                <a:sym typeface="Open Sans"/>
              </a:rPr>
              <a:t> columns in the "Data Quality Issues" tab with your answers in the provided Sheets template.</a:t>
            </a:r>
            <a:endParaRPr sz="1600">
              <a:solidFill>
                <a:srgbClr val="525C65"/>
              </a:solidFill>
              <a:highlight>
                <a:srgbClr val="FFFFFF"/>
              </a:highlight>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56"/>
        <p:cNvGrpSpPr/>
        <p:nvPr/>
      </p:nvGrpSpPr>
      <p:grpSpPr>
        <a:xfrm>
          <a:off x="0" y="0"/>
          <a:ext cx="0" cy="0"/>
          <a:chOff x="0" y="0"/>
          <a:chExt cx="0" cy="0"/>
        </a:xfrm>
      </p:grpSpPr>
      <p:sp>
        <p:nvSpPr>
          <p:cNvPr id="257" name="Google Shape;257;p63"/>
          <p:cNvSpPr/>
          <p:nvPr/>
        </p:nvSpPr>
        <p:spPr>
          <a:xfrm>
            <a:off x="1422750" y="4013075"/>
            <a:ext cx="49269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4</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Quality</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Part 2: Monitoring</a:t>
            </a:r>
            <a:endParaRPr sz="3000">
              <a:solidFill>
                <a:srgbClr val="FFFFFF"/>
              </a:solidFill>
              <a:latin typeface="Open Sans"/>
              <a:ea typeface="Open Sans"/>
              <a:cs typeface="Open Sans"/>
              <a:sym typeface="Open Sans"/>
            </a:endParaRPr>
          </a:p>
        </p:txBody>
      </p:sp>
      <p:sp>
        <p:nvSpPr>
          <p:cNvPr id="258" name="Google Shape;258;p63"/>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64"/>
          <p:cNvSpPr txBox="1">
            <a:spLocks noGrp="1"/>
          </p:cNvSpPr>
          <p:nvPr>
            <p:ph type="body" idx="1"/>
          </p:nvPr>
        </p:nvSpPr>
        <p:spPr>
          <a:xfrm>
            <a:off x="369675" y="695675"/>
            <a:ext cx="6914100" cy="1371300"/>
          </a:xfrm>
          <a:prstGeom prst="rect">
            <a:avLst/>
          </a:prstGeom>
        </p:spPr>
        <p:txBody>
          <a:bodyPr spcFirstLastPara="1" wrap="square" lIns="91425" tIns="91425" rIns="91425" bIns="91425" anchor="t" anchorCtr="0">
            <a:noAutofit/>
          </a:bodyPr>
          <a:lstStyle/>
          <a:p>
            <a:pPr marL="0" lvl="0" indent="0" algn="l" rtl="0">
              <a:lnSpc>
                <a:spcPct val="170000"/>
              </a:lnSpc>
              <a:spcBef>
                <a:spcPts val="0"/>
              </a:spcBef>
              <a:spcAft>
                <a:spcPts val="0"/>
              </a:spcAft>
              <a:buClr>
                <a:schemeClr val="dk1"/>
              </a:buClr>
              <a:buSzPts val="1100"/>
              <a:buFont typeface="Arial"/>
              <a:buNone/>
            </a:pPr>
            <a:r>
              <a:rPr lang="en" sz="1600">
                <a:solidFill>
                  <a:srgbClr val="525C65"/>
                </a:solidFill>
                <a:highlight>
                  <a:srgbClr val="FFFFFF"/>
                </a:highlight>
                <a:latin typeface="Open Sans"/>
                <a:ea typeface="Open Sans"/>
                <a:cs typeface="Open Sans"/>
                <a:sym typeface="Open Sans"/>
              </a:rPr>
              <a:t>Using the metrics you've created in the last step, please create a mock-up of a data quality </a:t>
            </a:r>
            <a:r>
              <a:rPr lang="en" sz="1600" b="1">
                <a:solidFill>
                  <a:srgbClr val="525C65"/>
                </a:solidFill>
                <a:highlight>
                  <a:srgbClr val="FFFFFF"/>
                </a:highlight>
                <a:latin typeface="Open Sans"/>
                <a:ea typeface="Open Sans"/>
                <a:cs typeface="Open Sans"/>
                <a:sym typeface="Open Sans"/>
              </a:rPr>
              <a:t>monitoring dashboard</a:t>
            </a:r>
            <a:r>
              <a:rPr lang="en" sz="1600">
                <a:solidFill>
                  <a:srgbClr val="525C65"/>
                </a:solidFill>
                <a:highlight>
                  <a:srgbClr val="FFFFFF"/>
                </a:highlight>
                <a:latin typeface="Open Sans"/>
                <a:ea typeface="Open Sans"/>
                <a:cs typeface="Open Sans"/>
                <a:sym typeface="Open Sans"/>
              </a:rPr>
              <a:t> that will be used to monitor the data to ensure compliance with your data quality rules.</a:t>
            </a:r>
            <a:endParaRPr sz="160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r>
              <a:rPr lang="en" sz="1600">
                <a:solidFill>
                  <a:srgbClr val="525C65"/>
                </a:solidFill>
                <a:highlight>
                  <a:srgbClr val="FFFFFF"/>
                </a:highlight>
                <a:latin typeface="Open Sans"/>
                <a:ea typeface="Open Sans"/>
                <a:cs typeface="Open Sans"/>
                <a:sym typeface="Open Sans"/>
              </a:rPr>
              <a:t>Please </a:t>
            </a:r>
            <a:r>
              <a:rPr lang="en" sz="1600" b="1">
                <a:solidFill>
                  <a:srgbClr val="525C65"/>
                </a:solidFill>
                <a:highlight>
                  <a:srgbClr val="FFFFFF"/>
                </a:highlight>
                <a:latin typeface="Open Sans"/>
                <a:ea typeface="Open Sans"/>
                <a:cs typeface="Open Sans"/>
                <a:sym typeface="Open Sans"/>
              </a:rPr>
              <a:t>make sure to label your metrics clearly</a:t>
            </a:r>
            <a:r>
              <a:rPr lang="en" sz="1600">
                <a:solidFill>
                  <a:srgbClr val="525C65"/>
                </a:solidFill>
                <a:highlight>
                  <a:srgbClr val="FFFFFF"/>
                </a:highlight>
                <a:latin typeface="Open Sans"/>
                <a:ea typeface="Open Sans"/>
                <a:cs typeface="Open Sans"/>
                <a:sym typeface="Open Sans"/>
              </a:rPr>
              <a:t> on your mock-up.</a:t>
            </a:r>
            <a:endParaRPr sz="160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endParaRPr sz="160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r>
              <a:rPr lang="en" sz="1600" b="1">
                <a:solidFill>
                  <a:srgbClr val="525C65"/>
                </a:solidFill>
                <a:highlight>
                  <a:schemeClr val="lt1"/>
                </a:highlight>
                <a:latin typeface="Open Sans"/>
                <a:ea typeface="Open Sans"/>
                <a:cs typeface="Open Sans"/>
                <a:sym typeface="Open Sans"/>
              </a:rPr>
              <a:t>Replace the example dashboard below with your own. (obviously feel free to take more space).</a:t>
            </a:r>
            <a:endParaRPr sz="1600">
              <a:solidFill>
                <a:srgbClr val="525C65"/>
              </a:solidFill>
              <a:highlight>
                <a:schemeClr val="lt1"/>
              </a:highlight>
              <a:latin typeface="Open Sans"/>
              <a:ea typeface="Open Sans"/>
              <a:cs typeface="Open Sans"/>
              <a:sym typeface="Open Sans"/>
            </a:endParaRPr>
          </a:p>
          <a:p>
            <a:pPr marL="0" lvl="0" indent="0" algn="l" rtl="0">
              <a:lnSpc>
                <a:spcPct val="170000"/>
              </a:lnSpc>
              <a:spcBef>
                <a:spcPts val="1100"/>
              </a:spcBef>
              <a:spcAft>
                <a:spcPts val="1100"/>
              </a:spcAft>
              <a:buNone/>
            </a:pPr>
            <a:endParaRPr sz="1600">
              <a:solidFill>
                <a:srgbClr val="525C65"/>
              </a:solidFill>
              <a:highlight>
                <a:srgbClr val="FFFFFF"/>
              </a:highlight>
              <a:latin typeface="Open Sans"/>
              <a:ea typeface="Open Sans"/>
              <a:cs typeface="Open Sans"/>
              <a:sym typeface="Open Sans"/>
            </a:endParaRPr>
          </a:p>
        </p:txBody>
      </p:sp>
      <p:pic>
        <p:nvPicPr>
          <p:cNvPr id="264" name="Google Shape;264;p64"/>
          <p:cNvPicPr preferRelativeResize="0"/>
          <p:nvPr/>
        </p:nvPicPr>
        <p:blipFill>
          <a:blip r:embed="rId3">
            <a:alphaModFix/>
          </a:blip>
          <a:stretch>
            <a:fillRect/>
          </a:stretch>
        </p:blipFill>
        <p:spPr>
          <a:xfrm>
            <a:off x="369675" y="4848275"/>
            <a:ext cx="6914099" cy="378271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68"/>
        <p:cNvGrpSpPr/>
        <p:nvPr/>
      </p:nvGrpSpPr>
      <p:grpSpPr>
        <a:xfrm>
          <a:off x="0" y="0"/>
          <a:ext cx="0" cy="0"/>
          <a:chOff x="0" y="0"/>
          <a:chExt cx="0" cy="0"/>
        </a:xfrm>
      </p:grpSpPr>
      <p:sp>
        <p:nvSpPr>
          <p:cNvPr id="269" name="Google Shape;269;p65"/>
          <p:cNvSpPr/>
          <p:nvPr/>
        </p:nvSpPr>
        <p:spPr>
          <a:xfrm>
            <a:off x="539850" y="4051175"/>
            <a:ext cx="66927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5</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Master Data Management</a:t>
            </a:r>
            <a:endParaRPr sz="3000">
              <a:solidFill>
                <a:srgbClr val="FFFFFF"/>
              </a:solidFill>
              <a:latin typeface="Open Sans"/>
              <a:ea typeface="Open Sans"/>
              <a:cs typeface="Open Sans"/>
              <a:sym typeface="Open Sans"/>
            </a:endParaRPr>
          </a:p>
          <a:p>
            <a:pPr marL="0" lvl="0" indent="0" algn="ctr" rtl="0">
              <a:lnSpc>
                <a:spcPct val="150000"/>
              </a:lnSpc>
              <a:spcBef>
                <a:spcPts val="0"/>
              </a:spcBef>
              <a:spcAft>
                <a:spcPts val="0"/>
              </a:spcAft>
              <a:buClr>
                <a:schemeClr val="lt1"/>
              </a:buClr>
              <a:buFont typeface="Open Sans"/>
              <a:buNone/>
            </a:pPr>
            <a:r>
              <a:rPr lang="en" sz="3000">
                <a:solidFill>
                  <a:schemeClr val="lt1"/>
                </a:solidFill>
                <a:latin typeface="Open Sans"/>
                <a:ea typeface="Open Sans"/>
                <a:cs typeface="Open Sans"/>
                <a:sym typeface="Open Sans"/>
              </a:rPr>
              <a:t>Part 1: MDM Architecture</a:t>
            </a:r>
            <a:endParaRPr sz="3000">
              <a:solidFill>
                <a:srgbClr val="FFFFFF"/>
              </a:solidFill>
              <a:latin typeface="Open Sans"/>
              <a:ea typeface="Open Sans"/>
              <a:cs typeface="Open Sans"/>
              <a:sym typeface="Open Sans"/>
            </a:endParaRPr>
          </a:p>
        </p:txBody>
      </p:sp>
      <p:sp>
        <p:nvSpPr>
          <p:cNvPr id="270" name="Google Shape;270;p65"/>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66"/>
          <p:cNvSpPr txBox="1">
            <a:spLocks noGrp="1"/>
          </p:cNvSpPr>
          <p:nvPr>
            <p:ph type="body" idx="1"/>
          </p:nvPr>
        </p:nvSpPr>
        <p:spPr>
          <a:xfrm>
            <a:off x="439225" y="-63075"/>
            <a:ext cx="6907500" cy="4777800"/>
          </a:xfrm>
          <a:prstGeom prst="rect">
            <a:avLst/>
          </a:prstGeom>
        </p:spPr>
        <p:txBody>
          <a:bodyPr spcFirstLastPara="1" wrap="square" lIns="91425" tIns="91425" rIns="91425" bIns="91425" anchor="t" anchorCtr="0">
            <a:noAutofit/>
          </a:bodyPr>
          <a:lstStyle/>
          <a:p>
            <a:pPr marL="0" marR="241300" lvl="0" indent="0" algn="just" rtl="0">
              <a:lnSpc>
                <a:spcPct val="150000"/>
              </a:lnSpc>
              <a:spcBef>
                <a:spcPts val="3800"/>
              </a:spcBef>
              <a:spcAft>
                <a:spcPts val="0"/>
              </a:spcAft>
              <a:buNone/>
            </a:pPr>
            <a:r>
              <a:rPr lang="en" sz="1600">
                <a:solidFill>
                  <a:srgbClr val="525C65"/>
                </a:solidFill>
                <a:highlight>
                  <a:srgbClr val="FFFFFF"/>
                </a:highlight>
                <a:latin typeface="Open Sans"/>
                <a:ea typeface="Open Sans"/>
                <a:cs typeface="Open Sans"/>
                <a:sym typeface="Open Sans"/>
              </a:rPr>
              <a:t>Based on what you’ve read about SneakerPark’s systems and business model, sketch out a proposed </a:t>
            </a:r>
            <a:r>
              <a:rPr lang="en" sz="1600" b="1">
                <a:solidFill>
                  <a:srgbClr val="525C65"/>
                </a:solidFill>
                <a:highlight>
                  <a:srgbClr val="FFFFFF"/>
                </a:highlight>
                <a:latin typeface="Open Sans"/>
                <a:ea typeface="Open Sans"/>
                <a:cs typeface="Open Sans"/>
                <a:sym typeface="Open Sans"/>
              </a:rPr>
              <a:t>MDM implementation architecture</a:t>
            </a:r>
            <a:r>
              <a:rPr lang="en" sz="1600">
                <a:solidFill>
                  <a:srgbClr val="525C65"/>
                </a:solidFill>
                <a:highlight>
                  <a:srgbClr val="FFFFFF"/>
                </a:highlight>
                <a:latin typeface="Open Sans"/>
                <a:ea typeface="Open Sans"/>
                <a:cs typeface="Open Sans"/>
                <a:sym typeface="Open Sans"/>
              </a:rPr>
              <a:t>, and write a </a:t>
            </a:r>
            <a:r>
              <a:rPr lang="en" sz="1600" b="1">
                <a:solidFill>
                  <a:srgbClr val="525C65"/>
                </a:solidFill>
                <a:highlight>
                  <a:srgbClr val="FFFFFF"/>
                </a:highlight>
                <a:latin typeface="Open Sans"/>
                <a:ea typeface="Open Sans"/>
                <a:cs typeface="Open Sans"/>
                <a:sym typeface="Open Sans"/>
              </a:rPr>
              <a:t>detailed explanation</a:t>
            </a:r>
            <a:r>
              <a:rPr lang="en" sz="1600">
                <a:solidFill>
                  <a:srgbClr val="525C65"/>
                </a:solidFill>
                <a:highlight>
                  <a:srgbClr val="FFFFFF"/>
                </a:highlight>
                <a:latin typeface="Open Sans"/>
                <a:ea typeface="Open Sans"/>
                <a:cs typeface="Open Sans"/>
                <a:sym typeface="Open Sans"/>
              </a:rPr>
              <a:t> of </a:t>
            </a:r>
            <a:r>
              <a:rPr lang="en" sz="1600" b="1">
                <a:solidFill>
                  <a:srgbClr val="525C65"/>
                </a:solidFill>
                <a:highlight>
                  <a:srgbClr val="FFFFFF"/>
                </a:highlight>
                <a:latin typeface="Open Sans"/>
                <a:ea typeface="Open Sans"/>
                <a:cs typeface="Open Sans"/>
                <a:sym typeface="Open Sans"/>
              </a:rPr>
              <a:t>why</a:t>
            </a:r>
            <a:r>
              <a:rPr lang="en" sz="1600">
                <a:solidFill>
                  <a:srgbClr val="525C65"/>
                </a:solidFill>
                <a:highlight>
                  <a:srgbClr val="FFFFFF"/>
                </a:highlight>
                <a:latin typeface="Open Sans"/>
                <a:ea typeface="Open Sans"/>
                <a:cs typeface="Open Sans"/>
                <a:sym typeface="Open Sans"/>
              </a:rPr>
              <a:t> you chose this specific approach.</a:t>
            </a:r>
            <a:endParaRPr sz="1600">
              <a:solidFill>
                <a:srgbClr val="525C65"/>
              </a:solidFill>
              <a:highlight>
                <a:srgbClr val="FFFFFF"/>
              </a:highlight>
              <a:latin typeface="Open Sans"/>
              <a:ea typeface="Open Sans"/>
              <a:cs typeface="Open Sans"/>
              <a:sym typeface="Open Sans"/>
            </a:endParaRPr>
          </a:p>
          <a:p>
            <a:pPr marL="0" marR="241300" lvl="0" indent="0" algn="just" rtl="0">
              <a:lnSpc>
                <a:spcPct val="150000"/>
              </a:lnSpc>
              <a:spcBef>
                <a:spcPts val="3800"/>
              </a:spcBef>
              <a:spcAft>
                <a:spcPts val="0"/>
              </a:spcAft>
              <a:buNone/>
            </a:pPr>
            <a:r>
              <a:rPr lang="en" sz="1600" b="1">
                <a:solidFill>
                  <a:srgbClr val="525C65"/>
                </a:solidFill>
                <a:highlight>
                  <a:schemeClr val="lt1"/>
                </a:highlight>
                <a:latin typeface="Open Sans"/>
                <a:ea typeface="Open Sans"/>
                <a:cs typeface="Open Sans"/>
                <a:sym typeface="Open Sans"/>
              </a:rPr>
              <a:t>Tip:</a:t>
            </a:r>
            <a:r>
              <a:rPr lang="en" sz="1600">
                <a:solidFill>
                  <a:srgbClr val="525C65"/>
                </a:solidFill>
                <a:highlight>
                  <a:schemeClr val="lt1"/>
                </a:highlight>
                <a:latin typeface="Open Sans"/>
                <a:ea typeface="Open Sans"/>
                <a:cs typeface="Open Sans"/>
                <a:sym typeface="Open Sans"/>
              </a:rPr>
              <a:t> Think about how your plan and its implementation might affect existing systems.</a:t>
            </a:r>
            <a:endParaRPr sz="1600">
              <a:solidFill>
                <a:srgbClr val="525C65"/>
              </a:solidFill>
              <a:highlight>
                <a:srgbClr val="FFFFFF"/>
              </a:highlight>
              <a:latin typeface="Open Sans"/>
              <a:ea typeface="Open Sans"/>
              <a:cs typeface="Open Sans"/>
              <a:sym typeface="Open Sans"/>
            </a:endParaRPr>
          </a:p>
          <a:p>
            <a:pPr marL="0" lvl="0" indent="0" algn="just" rtl="0">
              <a:spcBef>
                <a:spcPts val="1100"/>
              </a:spcBef>
              <a:spcAft>
                <a:spcPts val="0"/>
              </a:spcAft>
              <a:buNone/>
            </a:pPr>
            <a:r>
              <a:rPr lang="en" sz="1600" b="1">
                <a:solidFill>
                  <a:srgbClr val="525C65"/>
                </a:solidFill>
                <a:highlight>
                  <a:schemeClr val="lt1"/>
                </a:highlight>
                <a:latin typeface="Open Sans"/>
                <a:ea typeface="Open Sans"/>
                <a:cs typeface="Open Sans"/>
                <a:sym typeface="Open Sans"/>
              </a:rPr>
              <a:t>Replace example screenshot below with your own solutions (obviously feel free to take more space). </a:t>
            </a:r>
            <a:endParaRPr sz="1600" b="1">
              <a:solidFill>
                <a:srgbClr val="525C65"/>
              </a:solidFill>
              <a:highlight>
                <a:schemeClr val="lt1"/>
              </a:highlight>
              <a:latin typeface="Open Sans"/>
              <a:ea typeface="Open Sans"/>
              <a:cs typeface="Open Sans"/>
              <a:sym typeface="Open Sans"/>
            </a:endParaRPr>
          </a:p>
          <a:p>
            <a:pPr marL="0" lvl="0" indent="0" algn="just" rtl="0">
              <a:spcBef>
                <a:spcPts val="1600"/>
              </a:spcBef>
              <a:spcAft>
                <a:spcPts val="0"/>
              </a:spcAft>
              <a:buNone/>
            </a:pPr>
            <a:r>
              <a:rPr lang="en" sz="1600" b="1">
                <a:solidFill>
                  <a:srgbClr val="525C65"/>
                </a:solidFill>
                <a:highlight>
                  <a:schemeClr val="lt1"/>
                </a:highlight>
                <a:latin typeface="Open Sans"/>
                <a:ea typeface="Open Sans"/>
                <a:cs typeface="Open Sans"/>
                <a:sym typeface="Open Sans"/>
              </a:rPr>
              <a:t>Next, please write at least a paragraph explaining  your choice.</a:t>
            </a:r>
            <a:endParaRPr sz="1600">
              <a:solidFill>
                <a:srgbClr val="525C65"/>
              </a:solidFill>
              <a:highlight>
                <a:schemeClr val="lt1"/>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a:solidFill>
                <a:srgbClr val="525C65"/>
              </a:solidFill>
              <a:highlight>
                <a:srgbClr val="FFFFFF"/>
              </a:highlight>
              <a:latin typeface="Open Sans"/>
              <a:ea typeface="Open Sans"/>
              <a:cs typeface="Open Sans"/>
              <a:sym typeface="Open Sans"/>
            </a:endParaRPr>
          </a:p>
          <a:p>
            <a:pPr marL="0" marR="241300" lvl="0" indent="0" algn="just" rtl="0">
              <a:lnSpc>
                <a:spcPct val="170000"/>
              </a:lnSpc>
              <a:spcBef>
                <a:spcPts val="3800"/>
              </a:spcBef>
              <a:spcAft>
                <a:spcPts val="0"/>
              </a:spcAft>
              <a:buClr>
                <a:schemeClr val="dk1"/>
              </a:buClr>
              <a:buSzPts val="1100"/>
              <a:buFont typeface="Arial"/>
              <a:buNone/>
            </a:pPr>
            <a:endParaRPr sz="140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Clr>
                <a:schemeClr val="dk1"/>
              </a:buClr>
              <a:buSzPts val="1100"/>
              <a:buFont typeface="Arial"/>
              <a:buNone/>
            </a:pPr>
            <a:endParaRPr sz="1600">
              <a:solidFill>
                <a:srgbClr val="525C65"/>
              </a:solidFill>
              <a:highlight>
                <a:srgbClr val="FFFFFF"/>
              </a:highlight>
              <a:latin typeface="Open Sans"/>
              <a:ea typeface="Open Sans"/>
              <a:cs typeface="Open Sans"/>
              <a:sym typeface="Open Sans"/>
            </a:endParaRPr>
          </a:p>
          <a:p>
            <a:pPr marL="0" lvl="0" indent="0" algn="just" rtl="0">
              <a:spcBef>
                <a:spcPts val="0"/>
              </a:spcBef>
              <a:spcAft>
                <a:spcPts val="0"/>
              </a:spcAft>
              <a:buNone/>
            </a:pPr>
            <a:endParaRPr sz="1600">
              <a:solidFill>
                <a:srgbClr val="525C65"/>
              </a:solidFill>
              <a:highlight>
                <a:srgbClr val="FFFFFF"/>
              </a:highlight>
              <a:latin typeface="Open Sans"/>
              <a:ea typeface="Open Sans"/>
              <a:cs typeface="Open Sans"/>
              <a:sym typeface="Open Sans"/>
            </a:endParaRPr>
          </a:p>
          <a:p>
            <a:pPr marL="0" lvl="0" indent="0" algn="just" rtl="0">
              <a:spcBef>
                <a:spcPts val="1600"/>
              </a:spcBef>
              <a:spcAft>
                <a:spcPts val="0"/>
              </a:spcAft>
              <a:buNone/>
            </a:pPr>
            <a:endParaRPr sz="1600">
              <a:solidFill>
                <a:srgbClr val="525C65"/>
              </a:solidFill>
              <a:highlight>
                <a:srgbClr val="FFFFFF"/>
              </a:highlight>
              <a:latin typeface="Open Sans"/>
              <a:ea typeface="Open Sans"/>
              <a:cs typeface="Open Sans"/>
              <a:sym typeface="Open Sans"/>
            </a:endParaRPr>
          </a:p>
          <a:p>
            <a:pPr marL="0" lvl="0" indent="0" algn="just" rtl="0">
              <a:spcBef>
                <a:spcPts val="1600"/>
              </a:spcBef>
              <a:spcAft>
                <a:spcPts val="1600"/>
              </a:spcAft>
              <a:buNone/>
            </a:pPr>
            <a:endParaRPr sz="1600">
              <a:solidFill>
                <a:srgbClr val="525C65"/>
              </a:solidFill>
              <a:highlight>
                <a:srgbClr val="FFFFFF"/>
              </a:highlight>
              <a:latin typeface="Open Sans"/>
              <a:ea typeface="Open Sans"/>
              <a:cs typeface="Open Sans"/>
              <a:sym typeface="Open Sans"/>
            </a:endParaRPr>
          </a:p>
        </p:txBody>
      </p:sp>
      <p:pic>
        <p:nvPicPr>
          <p:cNvPr id="276" name="Google Shape;276;p66"/>
          <p:cNvPicPr preferRelativeResize="0"/>
          <p:nvPr/>
        </p:nvPicPr>
        <p:blipFill rotWithShape="1">
          <a:blip r:embed="rId3">
            <a:alphaModFix/>
          </a:blip>
          <a:srcRect l="5866" t="3776" r="5654" b="7595"/>
          <a:stretch/>
        </p:blipFill>
        <p:spPr>
          <a:xfrm>
            <a:off x="954513" y="4876800"/>
            <a:ext cx="5876925" cy="41719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67"/>
          <p:cNvSpPr txBox="1">
            <a:spLocks noGrp="1"/>
          </p:cNvSpPr>
          <p:nvPr>
            <p:ph type="body" idx="1"/>
          </p:nvPr>
        </p:nvSpPr>
        <p:spPr>
          <a:xfrm>
            <a:off x="465150" y="524225"/>
            <a:ext cx="6842100" cy="1371300"/>
          </a:xfrm>
          <a:prstGeom prst="rect">
            <a:avLst/>
          </a:prstGeom>
        </p:spPr>
        <p:txBody>
          <a:bodyPr spcFirstLastPara="1" wrap="square" lIns="91425" tIns="91425" rIns="91425" bIns="91425" anchor="t" anchorCtr="0">
            <a:noAutofit/>
          </a:bodyPr>
          <a:lstStyle/>
          <a:p>
            <a:pPr marL="0" lvl="0" indent="0" algn="just" rtl="0">
              <a:spcBef>
                <a:spcPts val="0"/>
              </a:spcBef>
              <a:spcAft>
                <a:spcPts val="1600"/>
              </a:spcAft>
              <a:buClr>
                <a:schemeClr val="dk1"/>
              </a:buClr>
              <a:buSzPts val="1100"/>
              <a:buFont typeface="Arial"/>
              <a:buNone/>
            </a:pPr>
            <a:r>
              <a:rPr lang="en" sz="2200" b="1">
                <a:solidFill>
                  <a:srgbClr val="525C65"/>
                </a:solidFill>
                <a:highlight>
                  <a:schemeClr val="lt1"/>
                </a:highlight>
                <a:latin typeface="Open Sans"/>
                <a:ea typeface="Open Sans"/>
                <a:cs typeface="Open Sans"/>
                <a:sym typeface="Open Sans"/>
              </a:rPr>
              <a:t>Explanation:</a:t>
            </a:r>
            <a:endParaRPr sz="2200">
              <a:solidFill>
                <a:srgbClr val="525C65"/>
              </a:solidFill>
              <a:highlight>
                <a:srgbClr val="FFFFFF"/>
              </a:highlight>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85"/>
        <p:cNvGrpSpPr/>
        <p:nvPr/>
      </p:nvGrpSpPr>
      <p:grpSpPr>
        <a:xfrm>
          <a:off x="0" y="0"/>
          <a:ext cx="0" cy="0"/>
          <a:chOff x="0" y="0"/>
          <a:chExt cx="0" cy="0"/>
        </a:xfrm>
      </p:grpSpPr>
      <p:sp>
        <p:nvSpPr>
          <p:cNvPr id="286" name="Google Shape;286;p68"/>
          <p:cNvSpPr/>
          <p:nvPr/>
        </p:nvSpPr>
        <p:spPr>
          <a:xfrm>
            <a:off x="539850" y="4051175"/>
            <a:ext cx="66927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6</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Master Data Management</a:t>
            </a:r>
            <a:endParaRPr sz="3000">
              <a:solidFill>
                <a:srgbClr val="FFFFFF"/>
              </a:solidFill>
              <a:latin typeface="Open Sans"/>
              <a:ea typeface="Open Sans"/>
              <a:cs typeface="Open Sans"/>
              <a:sym typeface="Open Sans"/>
            </a:endParaRPr>
          </a:p>
          <a:p>
            <a:pPr marL="0" lvl="0" indent="0" algn="ctr" rtl="0">
              <a:lnSpc>
                <a:spcPct val="150000"/>
              </a:lnSpc>
              <a:spcBef>
                <a:spcPts val="0"/>
              </a:spcBef>
              <a:spcAft>
                <a:spcPts val="0"/>
              </a:spcAft>
              <a:buClr>
                <a:schemeClr val="lt1"/>
              </a:buClr>
              <a:buFont typeface="Open Sans"/>
              <a:buNone/>
            </a:pPr>
            <a:r>
              <a:rPr lang="en" sz="3000">
                <a:solidFill>
                  <a:schemeClr val="lt1"/>
                </a:solidFill>
                <a:latin typeface="Open Sans"/>
                <a:ea typeface="Open Sans"/>
                <a:cs typeface="Open Sans"/>
                <a:sym typeface="Open Sans"/>
              </a:rPr>
              <a:t>Part 2: Master Record</a:t>
            </a:r>
            <a:endParaRPr sz="3000">
              <a:solidFill>
                <a:srgbClr val="FFFFFF"/>
              </a:solidFill>
              <a:latin typeface="Open Sans"/>
              <a:ea typeface="Open Sans"/>
              <a:cs typeface="Open Sans"/>
              <a:sym typeface="Open Sans"/>
            </a:endParaRPr>
          </a:p>
        </p:txBody>
      </p:sp>
      <p:sp>
        <p:nvSpPr>
          <p:cNvPr id="287" name="Google Shape;287;p68"/>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69"/>
          <p:cNvSpPr txBox="1">
            <a:spLocks noGrp="1"/>
          </p:cNvSpPr>
          <p:nvPr>
            <p:ph type="body" idx="1"/>
          </p:nvPr>
        </p:nvSpPr>
        <p:spPr>
          <a:xfrm>
            <a:off x="432450" y="717975"/>
            <a:ext cx="6907500" cy="47778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600">
                <a:solidFill>
                  <a:srgbClr val="525C65"/>
                </a:solidFill>
                <a:highlight>
                  <a:srgbClr val="FFFFFF"/>
                </a:highlight>
                <a:latin typeface="Open Sans"/>
                <a:ea typeface="Open Sans"/>
                <a:cs typeface="Open Sans"/>
                <a:sym typeface="Open Sans"/>
              </a:rPr>
              <a:t>In this step, you will define a set of </a:t>
            </a:r>
            <a:r>
              <a:rPr lang="en" sz="1600" b="1">
                <a:solidFill>
                  <a:srgbClr val="525C65"/>
                </a:solidFill>
                <a:highlight>
                  <a:srgbClr val="FFFFFF"/>
                </a:highlight>
                <a:latin typeface="Open Sans"/>
                <a:ea typeface="Open Sans"/>
                <a:cs typeface="Open Sans"/>
                <a:sym typeface="Open Sans"/>
              </a:rPr>
              <a:t>matching rules</a:t>
            </a:r>
            <a:r>
              <a:rPr lang="en" sz="1600">
                <a:solidFill>
                  <a:srgbClr val="525C65"/>
                </a:solidFill>
                <a:highlight>
                  <a:srgbClr val="FFFFFF"/>
                </a:highlight>
                <a:latin typeface="Open Sans"/>
                <a:ea typeface="Open Sans"/>
                <a:cs typeface="Open Sans"/>
                <a:sym typeface="Open Sans"/>
              </a:rPr>
              <a:t> that will be used by the SneakerPark's MDM Hub to match item and customer entities between the company's different systems.</a:t>
            </a:r>
            <a:endParaRPr sz="1600">
              <a:solidFill>
                <a:srgbClr val="525C65"/>
              </a:solidFill>
              <a:highlight>
                <a:srgbClr val="FFFFFF"/>
              </a:highlight>
              <a:latin typeface="Open Sans"/>
              <a:ea typeface="Open Sans"/>
              <a:cs typeface="Open Sans"/>
              <a:sym typeface="Open Sans"/>
            </a:endParaRPr>
          </a:p>
          <a:p>
            <a:pPr marL="0" lvl="0" indent="0" algn="just" rtl="0">
              <a:spcBef>
                <a:spcPts val="1600"/>
              </a:spcBef>
              <a:spcAft>
                <a:spcPts val="0"/>
              </a:spcAft>
              <a:buNone/>
            </a:pPr>
            <a:r>
              <a:rPr lang="en" sz="1600" b="1">
                <a:solidFill>
                  <a:srgbClr val="525C65"/>
                </a:solidFill>
                <a:highlight>
                  <a:srgbClr val="FFFFFF"/>
                </a:highlight>
                <a:latin typeface="Open Sans"/>
                <a:ea typeface="Open Sans"/>
                <a:cs typeface="Open Sans"/>
                <a:sym typeface="Open Sans"/>
              </a:rPr>
              <a:t>Please come up with 4 rules - 2 for Items and 2 for Customers </a:t>
            </a:r>
            <a:r>
              <a:rPr lang="en" sz="1600">
                <a:solidFill>
                  <a:srgbClr val="525C65"/>
                </a:solidFill>
                <a:highlight>
                  <a:srgbClr val="FFFFFF"/>
                </a:highlight>
                <a:latin typeface="Open Sans"/>
                <a:ea typeface="Open Sans"/>
                <a:cs typeface="Open Sans"/>
                <a:sym typeface="Open Sans"/>
              </a:rPr>
              <a:t>and list them below.</a:t>
            </a:r>
            <a:endParaRPr sz="160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a:solidFill>
                <a:srgbClr val="525C65"/>
              </a:solidFill>
              <a:highlight>
                <a:srgbClr val="FFFFFF"/>
              </a:highlight>
              <a:latin typeface="Open Sans"/>
              <a:ea typeface="Open Sans"/>
              <a:cs typeface="Open Sans"/>
              <a:sym typeface="Open Sans"/>
            </a:endParaRPr>
          </a:p>
          <a:p>
            <a:pPr marL="0" marR="241300" lvl="0" indent="0" algn="just" rtl="0">
              <a:lnSpc>
                <a:spcPct val="170000"/>
              </a:lnSpc>
              <a:spcBef>
                <a:spcPts val="3800"/>
              </a:spcBef>
              <a:spcAft>
                <a:spcPts val="0"/>
              </a:spcAft>
              <a:buClr>
                <a:schemeClr val="dk1"/>
              </a:buClr>
              <a:buSzPts val="1100"/>
              <a:buFont typeface="Arial"/>
              <a:buNone/>
            </a:pPr>
            <a:endParaRPr sz="140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Clr>
                <a:schemeClr val="dk1"/>
              </a:buClr>
              <a:buSzPts val="1100"/>
              <a:buFont typeface="Arial"/>
              <a:buNone/>
            </a:pPr>
            <a:endParaRPr sz="1600">
              <a:solidFill>
                <a:srgbClr val="525C65"/>
              </a:solidFill>
              <a:highlight>
                <a:srgbClr val="FFFFFF"/>
              </a:highlight>
              <a:latin typeface="Open Sans"/>
              <a:ea typeface="Open Sans"/>
              <a:cs typeface="Open Sans"/>
              <a:sym typeface="Open Sans"/>
            </a:endParaRPr>
          </a:p>
          <a:p>
            <a:pPr marL="0" lvl="0" indent="0" algn="just" rtl="0">
              <a:spcBef>
                <a:spcPts val="0"/>
              </a:spcBef>
              <a:spcAft>
                <a:spcPts val="0"/>
              </a:spcAft>
              <a:buNone/>
            </a:pPr>
            <a:endParaRPr sz="1600">
              <a:solidFill>
                <a:srgbClr val="525C65"/>
              </a:solidFill>
              <a:highlight>
                <a:srgbClr val="FFFFFF"/>
              </a:highlight>
              <a:latin typeface="Open Sans"/>
              <a:ea typeface="Open Sans"/>
              <a:cs typeface="Open Sans"/>
              <a:sym typeface="Open Sans"/>
            </a:endParaRPr>
          </a:p>
          <a:p>
            <a:pPr marL="0" lvl="0" indent="0" algn="just" rtl="0">
              <a:spcBef>
                <a:spcPts val="1600"/>
              </a:spcBef>
              <a:spcAft>
                <a:spcPts val="0"/>
              </a:spcAft>
              <a:buNone/>
            </a:pPr>
            <a:endParaRPr sz="1600">
              <a:solidFill>
                <a:srgbClr val="525C65"/>
              </a:solidFill>
              <a:highlight>
                <a:srgbClr val="FFFFFF"/>
              </a:highlight>
              <a:latin typeface="Open Sans"/>
              <a:ea typeface="Open Sans"/>
              <a:cs typeface="Open Sans"/>
              <a:sym typeface="Open Sans"/>
            </a:endParaRPr>
          </a:p>
          <a:p>
            <a:pPr marL="0" lvl="0" indent="0" algn="just" rtl="0">
              <a:spcBef>
                <a:spcPts val="1600"/>
              </a:spcBef>
              <a:spcAft>
                <a:spcPts val="1600"/>
              </a:spcAft>
              <a:buNone/>
            </a:pPr>
            <a:endParaRPr sz="1600">
              <a:solidFill>
                <a:srgbClr val="525C65"/>
              </a:solidFill>
              <a:highlight>
                <a:srgbClr val="FFFFFF"/>
              </a:highlight>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96"/>
        <p:cNvGrpSpPr/>
        <p:nvPr/>
      </p:nvGrpSpPr>
      <p:grpSpPr>
        <a:xfrm>
          <a:off x="0" y="0"/>
          <a:ext cx="0" cy="0"/>
          <a:chOff x="0" y="0"/>
          <a:chExt cx="0" cy="0"/>
        </a:xfrm>
      </p:grpSpPr>
      <p:sp>
        <p:nvSpPr>
          <p:cNvPr id="297" name="Google Shape;297;p70"/>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98" name="Google Shape;298;p70"/>
          <p:cNvSpPr/>
          <p:nvPr/>
        </p:nvSpPr>
        <p:spPr>
          <a:xfrm>
            <a:off x="1422750" y="4013075"/>
            <a:ext cx="49269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7</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Governance:</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Roles and Responsibilities</a:t>
            </a:r>
            <a:endParaRPr sz="3000">
              <a:solidFill>
                <a:srgbClr val="FFFFFF"/>
              </a:solidFill>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71"/>
          <p:cNvSpPr txBox="1"/>
          <p:nvPr/>
        </p:nvSpPr>
        <p:spPr>
          <a:xfrm>
            <a:off x="457200" y="447675"/>
            <a:ext cx="6842100" cy="1152600"/>
          </a:xfrm>
          <a:prstGeom prst="rect">
            <a:avLst/>
          </a:prstGeom>
          <a:noFill/>
          <a:ln>
            <a:noFill/>
          </a:ln>
        </p:spPr>
        <p:txBody>
          <a:bodyPr spcFirstLastPara="1" wrap="square" lIns="91425" tIns="91425" rIns="91425" bIns="91425" anchor="t" anchorCtr="0">
            <a:noAutofit/>
          </a:bodyPr>
          <a:lstStyle/>
          <a:p>
            <a:pPr marL="0" lvl="0" indent="0" algn="just" rtl="0">
              <a:lnSpc>
                <a:spcPct val="170000"/>
              </a:lnSpc>
              <a:spcBef>
                <a:spcPts val="0"/>
              </a:spcBef>
              <a:spcAft>
                <a:spcPts val="0"/>
              </a:spcAft>
              <a:buNone/>
            </a:pPr>
            <a:r>
              <a:rPr lang="en" sz="1600">
                <a:solidFill>
                  <a:srgbClr val="525C65"/>
                </a:solidFill>
                <a:highlight>
                  <a:srgbClr val="FFFFFF"/>
                </a:highlight>
                <a:latin typeface="Open Sans"/>
                <a:ea typeface="Open Sans"/>
                <a:cs typeface="Open Sans"/>
                <a:sym typeface="Open Sans"/>
              </a:rPr>
              <a:t>Write 1-2 paragraphs discussing what </a:t>
            </a:r>
            <a:r>
              <a:rPr lang="en" sz="1600" b="1">
                <a:solidFill>
                  <a:srgbClr val="525C65"/>
                </a:solidFill>
                <a:highlight>
                  <a:srgbClr val="FFFFFF"/>
                </a:highlight>
                <a:latin typeface="Open Sans"/>
                <a:ea typeface="Open Sans"/>
                <a:cs typeface="Open Sans"/>
                <a:sym typeface="Open Sans"/>
              </a:rPr>
              <a:t>data governance roles and responsibilities</a:t>
            </a:r>
            <a:r>
              <a:rPr lang="en" sz="1600">
                <a:solidFill>
                  <a:srgbClr val="525C65"/>
                </a:solidFill>
                <a:highlight>
                  <a:srgbClr val="FFFFFF"/>
                </a:highlight>
                <a:latin typeface="Open Sans"/>
                <a:ea typeface="Open Sans"/>
                <a:cs typeface="Open Sans"/>
                <a:sym typeface="Open Sans"/>
              </a:rPr>
              <a:t> will be necessary to oversee this new Data Management initiative. Please be sure to discuss the responsibilities in the context of at </a:t>
            </a:r>
            <a:r>
              <a:rPr lang="en" sz="1600" b="1">
                <a:solidFill>
                  <a:srgbClr val="525C65"/>
                </a:solidFill>
                <a:highlight>
                  <a:srgbClr val="FFFFFF"/>
                </a:highlight>
                <a:latin typeface="Open Sans"/>
                <a:ea typeface="Open Sans"/>
                <a:cs typeface="Open Sans"/>
                <a:sym typeface="Open Sans"/>
              </a:rPr>
              <a:t>least 3 different aspects </a:t>
            </a:r>
            <a:r>
              <a:rPr lang="en" sz="1600">
                <a:solidFill>
                  <a:srgbClr val="525C65"/>
                </a:solidFill>
                <a:highlight>
                  <a:srgbClr val="FFFFFF"/>
                </a:highlight>
                <a:latin typeface="Open Sans"/>
                <a:ea typeface="Open Sans"/>
                <a:cs typeface="Open Sans"/>
                <a:sym typeface="Open Sans"/>
              </a:rPr>
              <a:t>of Data Governance (such as Data Quality Management, Metadata Management, MDM, etc). Based on what you know, do SneakerPark's </a:t>
            </a:r>
            <a:r>
              <a:rPr lang="en" sz="1600" b="1">
                <a:solidFill>
                  <a:srgbClr val="525C65"/>
                </a:solidFill>
                <a:highlight>
                  <a:srgbClr val="FFFFFF"/>
                </a:highlight>
                <a:latin typeface="Open Sans"/>
                <a:ea typeface="Open Sans"/>
                <a:cs typeface="Open Sans"/>
                <a:sym typeface="Open Sans"/>
              </a:rPr>
              <a:t>current employees have the necessary skills</a:t>
            </a:r>
            <a:r>
              <a:rPr lang="en" sz="1600">
                <a:solidFill>
                  <a:srgbClr val="525C65"/>
                </a:solidFill>
                <a:highlight>
                  <a:srgbClr val="FFFFFF"/>
                </a:highlight>
                <a:latin typeface="Open Sans"/>
                <a:ea typeface="Open Sans"/>
                <a:cs typeface="Open Sans"/>
                <a:sym typeface="Open Sans"/>
              </a:rPr>
              <a:t> for these roles or should the company </a:t>
            </a:r>
            <a:r>
              <a:rPr lang="en" sz="1600" b="1">
                <a:solidFill>
                  <a:srgbClr val="525C65"/>
                </a:solidFill>
                <a:highlight>
                  <a:srgbClr val="FFFFFF"/>
                </a:highlight>
                <a:latin typeface="Open Sans"/>
                <a:ea typeface="Open Sans"/>
                <a:cs typeface="Open Sans"/>
                <a:sym typeface="Open Sans"/>
              </a:rPr>
              <a:t>make new hires</a:t>
            </a:r>
            <a:r>
              <a:rPr lang="en" sz="1600">
                <a:solidFill>
                  <a:srgbClr val="525C65"/>
                </a:solidFill>
                <a:highlight>
                  <a:srgbClr val="FFFFFF"/>
                </a:highlight>
                <a:latin typeface="Open Sans"/>
                <a:ea typeface="Open Sans"/>
                <a:cs typeface="Open Sans"/>
                <a:sym typeface="Open Sans"/>
              </a:rPr>
              <a:t>?</a:t>
            </a:r>
            <a:endParaRPr sz="160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0"/>
              </a:spcAft>
              <a:buNone/>
            </a:pPr>
            <a:endParaRPr sz="160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1100"/>
              </a:spcAft>
              <a:buNone/>
            </a:pPr>
            <a:endParaRPr sz="1600">
              <a:solidFill>
                <a:srgbClr val="525C65"/>
              </a:solidFill>
              <a:highlight>
                <a:srgbClr val="FFFFFF"/>
              </a:highlight>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307"/>
        <p:cNvGrpSpPr/>
        <p:nvPr/>
      </p:nvGrpSpPr>
      <p:grpSpPr>
        <a:xfrm>
          <a:off x="0" y="0"/>
          <a:ext cx="0" cy="0"/>
          <a:chOff x="0" y="0"/>
          <a:chExt cx="0" cy="0"/>
        </a:xfrm>
      </p:grpSpPr>
      <p:sp>
        <p:nvSpPr>
          <p:cNvPr id="308" name="Google Shape;308;p72"/>
          <p:cNvSpPr/>
          <p:nvPr/>
        </p:nvSpPr>
        <p:spPr>
          <a:xfrm>
            <a:off x="1422750" y="4013075"/>
            <a:ext cx="49269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Standout Suggestions</a:t>
            </a:r>
            <a:endParaRPr sz="3000">
              <a:solidFill>
                <a:srgbClr val="FFFFFF"/>
              </a:solidFill>
              <a:latin typeface="Open Sans"/>
              <a:ea typeface="Open Sans"/>
              <a:cs typeface="Open Sans"/>
              <a:sym typeface="Open Sans"/>
            </a:endParaRPr>
          </a:p>
        </p:txBody>
      </p:sp>
      <p:sp>
        <p:nvSpPr>
          <p:cNvPr id="309" name="Google Shape;309;p72"/>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73"/>
          <p:cNvSpPr txBox="1"/>
          <p:nvPr/>
        </p:nvSpPr>
        <p:spPr>
          <a:xfrm>
            <a:off x="457200" y="504825"/>
            <a:ext cx="6858000" cy="79836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2E3D49"/>
              </a:buClr>
              <a:buSzPts val="1800"/>
              <a:buFont typeface="Open Sans"/>
              <a:buAutoNum type="arabicPeriod"/>
            </a:pPr>
            <a:r>
              <a:rPr lang="en" sz="1600">
                <a:solidFill>
                  <a:srgbClr val="525C65"/>
                </a:solidFill>
                <a:highlight>
                  <a:srgbClr val="FFFFFF"/>
                </a:highlight>
                <a:latin typeface="Open Sans"/>
                <a:ea typeface="Open Sans"/>
                <a:cs typeface="Open Sans"/>
                <a:sym typeface="Open Sans"/>
              </a:rPr>
              <a:t>Create a Business Glossary for SneakerPark and define common terms such as Item, Buyer, etc. Think and discuss how SneakerPark can improve on the consistency of the terms that its systems currently use. (You can use the “Business Glossary” tab of the same Sheets template you’ve been using for the other parts of this project to get you started.)</a:t>
            </a:r>
            <a:endParaRPr sz="1600">
              <a:solidFill>
                <a:srgbClr val="525C65"/>
              </a:solidFill>
              <a:highlight>
                <a:srgbClr val="FFFFFF"/>
              </a:highlight>
              <a:latin typeface="Open Sans"/>
              <a:ea typeface="Open Sans"/>
              <a:cs typeface="Open Sans"/>
              <a:sym typeface="Open Sans"/>
            </a:endParaRPr>
          </a:p>
          <a:p>
            <a:pPr marL="457200" lvl="0" indent="0" algn="l" rtl="0">
              <a:lnSpc>
                <a:spcPct val="115000"/>
              </a:lnSpc>
              <a:spcBef>
                <a:spcPts val="0"/>
              </a:spcBef>
              <a:spcAft>
                <a:spcPts val="0"/>
              </a:spcAft>
              <a:buNone/>
            </a:pPr>
            <a:endParaRPr sz="1600">
              <a:solidFill>
                <a:srgbClr val="525C65"/>
              </a:solidFill>
              <a:highlight>
                <a:srgbClr val="FFFFFF"/>
              </a:highlight>
              <a:latin typeface="Open Sans"/>
              <a:ea typeface="Open Sans"/>
              <a:cs typeface="Open Sans"/>
              <a:sym typeface="Open Sans"/>
            </a:endParaRPr>
          </a:p>
          <a:p>
            <a:pPr marL="457200" lvl="0" indent="-342900" algn="l" rtl="0">
              <a:lnSpc>
                <a:spcPct val="115000"/>
              </a:lnSpc>
              <a:spcBef>
                <a:spcPts val="0"/>
              </a:spcBef>
              <a:spcAft>
                <a:spcPts val="0"/>
              </a:spcAft>
              <a:buClr>
                <a:srgbClr val="2E3D49"/>
              </a:buClr>
              <a:buSzPts val="1800"/>
              <a:buFont typeface="Open Sans"/>
              <a:buAutoNum type="arabicPeriod"/>
            </a:pPr>
            <a:r>
              <a:rPr lang="en" sz="1600">
                <a:solidFill>
                  <a:srgbClr val="525C65"/>
                </a:solidFill>
                <a:highlight>
                  <a:srgbClr val="FFFFFF"/>
                </a:highlight>
                <a:latin typeface="Open Sans"/>
                <a:ea typeface="Open Sans"/>
                <a:cs typeface="Open Sans"/>
                <a:sym typeface="Open Sans"/>
              </a:rPr>
              <a:t>Document SneakerPark’s current naming conventions. Can you think of any improvements?  (You can use the “Standard Naming Conventions” tab of the same Sheets template you’ve been using for the other parts of this project to get you started.) Some examples of Naming Conventions include;</a:t>
            </a:r>
            <a:endParaRPr sz="1600">
              <a:solidFill>
                <a:srgbClr val="525C65"/>
              </a:solidFill>
              <a:highlight>
                <a:srgbClr val="FFFFFF"/>
              </a:highlight>
              <a:latin typeface="Open Sans"/>
              <a:ea typeface="Open Sans"/>
              <a:cs typeface="Open Sans"/>
              <a:sym typeface="Open Sans"/>
            </a:endParaRPr>
          </a:p>
          <a:p>
            <a:pPr marL="457200" lvl="0" indent="0" algn="l" rtl="0">
              <a:lnSpc>
                <a:spcPct val="115000"/>
              </a:lnSpc>
              <a:spcBef>
                <a:spcPts val="0"/>
              </a:spcBef>
              <a:spcAft>
                <a:spcPts val="0"/>
              </a:spcAft>
              <a:buNone/>
            </a:pPr>
            <a:endParaRPr sz="1600">
              <a:solidFill>
                <a:srgbClr val="525C65"/>
              </a:solidFill>
              <a:highlight>
                <a:srgbClr val="FFFFFF"/>
              </a:highlight>
              <a:latin typeface="Open Sans"/>
              <a:ea typeface="Open Sans"/>
              <a:cs typeface="Open Sans"/>
              <a:sym typeface="Open Sans"/>
            </a:endParaRPr>
          </a:p>
          <a:p>
            <a:pPr marL="914400" lvl="0" indent="-330200" algn="l" rtl="0">
              <a:lnSpc>
                <a:spcPct val="115000"/>
              </a:lnSpc>
              <a:spcBef>
                <a:spcPts val="0"/>
              </a:spcBef>
              <a:spcAft>
                <a:spcPts val="0"/>
              </a:spcAft>
              <a:buClr>
                <a:srgbClr val="525C65"/>
              </a:buClr>
              <a:buSzPts val="1600"/>
              <a:buFont typeface="Open Sans"/>
              <a:buChar char="●"/>
            </a:pPr>
            <a:r>
              <a:rPr lang="en" sz="1600">
                <a:solidFill>
                  <a:srgbClr val="525C65"/>
                </a:solidFill>
                <a:highlight>
                  <a:srgbClr val="FFFFFF"/>
                </a:highlight>
                <a:latin typeface="Open Sans"/>
                <a:ea typeface="Open Sans"/>
                <a:cs typeface="Open Sans"/>
                <a:sym typeface="Open Sans"/>
              </a:rPr>
              <a:t>Do not use spaces or special characters.</a:t>
            </a:r>
            <a:endParaRPr sz="1600">
              <a:solidFill>
                <a:srgbClr val="525C65"/>
              </a:solidFill>
              <a:highlight>
                <a:srgbClr val="FFFFFF"/>
              </a:highlight>
              <a:latin typeface="Open Sans"/>
              <a:ea typeface="Open Sans"/>
              <a:cs typeface="Open Sans"/>
              <a:sym typeface="Open Sans"/>
            </a:endParaRPr>
          </a:p>
          <a:p>
            <a:pPr marL="914400" lvl="0" indent="-330200" algn="l" rtl="0">
              <a:lnSpc>
                <a:spcPct val="115000"/>
              </a:lnSpc>
              <a:spcBef>
                <a:spcPts val="0"/>
              </a:spcBef>
              <a:spcAft>
                <a:spcPts val="0"/>
              </a:spcAft>
              <a:buClr>
                <a:srgbClr val="525C65"/>
              </a:buClr>
              <a:buSzPts val="1600"/>
              <a:buFont typeface="Open Sans"/>
              <a:buChar char="●"/>
            </a:pPr>
            <a:r>
              <a:rPr lang="en" sz="1600">
                <a:solidFill>
                  <a:srgbClr val="525C65"/>
                </a:solidFill>
                <a:highlight>
                  <a:srgbClr val="FFFFFF"/>
                </a:highlight>
                <a:latin typeface="Open Sans"/>
                <a:ea typeface="Open Sans"/>
                <a:cs typeface="Open Sans"/>
                <a:sym typeface="Open Sans"/>
              </a:rPr>
              <a:t>Use only LOWERCASE.</a:t>
            </a:r>
            <a:endParaRPr sz="1600">
              <a:solidFill>
                <a:srgbClr val="525C65"/>
              </a:solidFill>
              <a:highlight>
                <a:srgbClr val="FFFFFF"/>
              </a:highlight>
              <a:latin typeface="Open Sans"/>
              <a:ea typeface="Open Sans"/>
              <a:cs typeface="Open Sans"/>
              <a:sym typeface="Open Sans"/>
            </a:endParaRPr>
          </a:p>
          <a:p>
            <a:pPr marL="914400" lvl="0" indent="-330200" algn="l" rtl="0">
              <a:lnSpc>
                <a:spcPct val="115000"/>
              </a:lnSpc>
              <a:spcBef>
                <a:spcPts val="0"/>
              </a:spcBef>
              <a:spcAft>
                <a:spcPts val="0"/>
              </a:spcAft>
              <a:buClr>
                <a:srgbClr val="525C65"/>
              </a:buClr>
              <a:buSzPts val="1600"/>
              <a:buFont typeface="Open Sans"/>
              <a:buChar char="●"/>
            </a:pPr>
            <a:r>
              <a:rPr lang="en" sz="1600">
                <a:solidFill>
                  <a:srgbClr val="525C65"/>
                </a:solidFill>
                <a:highlight>
                  <a:srgbClr val="FFFFFF"/>
                </a:highlight>
                <a:latin typeface="Open Sans"/>
                <a:ea typeface="Open Sans"/>
                <a:cs typeface="Open Sans"/>
                <a:sym typeface="Open Sans"/>
              </a:rPr>
              <a:t>All identifier fields should end in “_id”.</a:t>
            </a:r>
            <a:endParaRPr sz="1600">
              <a:solidFill>
                <a:srgbClr val="525C65"/>
              </a:solidFill>
              <a:highlight>
                <a:srgbClr val="FFFFFF"/>
              </a:highlight>
              <a:latin typeface="Open Sans"/>
              <a:ea typeface="Open Sans"/>
              <a:cs typeface="Open Sans"/>
              <a:sym typeface="Open Sans"/>
            </a:endParaRPr>
          </a:p>
          <a:p>
            <a:pPr marL="914400" lvl="0" indent="-330200" algn="l" rtl="0">
              <a:lnSpc>
                <a:spcPct val="115000"/>
              </a:lnSpc>
              <a:spcBef>
                <a:spcPts val="0"/>
              </a:spcBef>
              <a:spcAft>
                <a:spcPts val="0"/>
              </a:spcAft>
              <a:buClr>
                <a:srgbClr val="525C65"/>
              </a:buClr>
              <a:buSzPts val="1600"/>
              <a:buFont typeface="Open Sans"/>
              <a:buChar char="●"/>
            </a:pPr>
            <a:r>
              <a:rPr lang="en" sz="1600">
                <a:solidFill>
                  <a:srgbClr val="525C65"/>
                </a:solidFill>
                <a:highlight>
                  <a:srgbClr val="FFFFFF"/>
                </a:highlight>
                <a:latin typeface="Open Sans"/>
                <a:ea typeface="Open Sans"/>
                <a:cs typeface="Open Sans"/>
                <a:sym typeface="Open Sans"/>
              </a:rPr>
              <a:t>Avoid acronyms and abbreviations.</a:t>
            </a:r>
            <a:endParaRPr sz="1600">
              <a:solidFill>
                <a:srgbClr val="525C65"/>
              </a:solidFill>
              <a:highlight>
                <a:srgbClr val="FFFFFF"/>
              </a:highlight>
              <a:latin typeface="Open Sans"/>
              <a:ea typeface="Open Sans"/>
              <a:cs typeface="Open Sans"/>
              <a:sym typeface="Open Sans"/>
            </a:endParaRPr>
          </a:p>
          <a:p>
            <a:pPr marL="457200" lvl="0" indent="0" algn="l" rtl="0">
              <a:lnSpc>
                <a:spcPct val="115000"/>
              </a:lnSpc>
              <a:spcBef>
                <a:spcPts val="0"/>
              </a:spcBef>
              <a:spcAft>
                <a:spcPts val="0"/>
              </a:spcAft>
              <a:buNone/>
            </a:pPr>
            <a:endParaRPr sz="1600">
              <a:solidFill>
                <a:srgbClr val="525C65"/>
              </a:solidFill>
              <a:highlight>
                <a:srgbClr val="FFFFFF"/>
              </a:highlight>
              <a:latin typeface="Open Sans"/>
              <a:ea typeface="Open Sans"/>
              <a:cs typeface="Open Sans"/>
              <a:sym typeface="Open Sans"/>
            </a:endParaRPr>
          </a:p>
          <a:p>
            <a:pPr marL="457200" lvl="0" indent="-342900" algn="l" rtl="0">
              <a:lnSpc>
                <a:spcPct val="115000"/>
              </a:lnSpc>
              <a:spcBef>
                <a:spcPts val="0"/>
              </a:spcBef>
              <a:spcAft>
                <a:spcPts val="0"/>
              </a:spcAft>
              <a:buClr>
                <a:srgbClr val="2E3D49"/>
              </a:buClr>
              <a:buSzPts val="1800"/>
              <a:buFont typeface="Open Sans"/>
              <a:buAutoNum type="arabicPeriod"/>
            </a:pPr>
            <a:r>
              <a:rPr lang="en" sz="1600">
                <a:solidFill>
                  <a:srgbClr val="525C65"/>
                </a:solidFill>
                <a:highlight>
                  <a:srgbClr val="FFFFFF"/>
                </a:highlight>
                <a:latin typeface="Open Sans"/>
                <a:ea typeface="Open Sans"/>
                <a:cs typeface="Open Sans"/>
                <a:sym typeface="Open Sans"/>
              </a:rPr>
              <a:t>Write SQL scripts for the matching rules that you’ve created in Step 6. </a:t>
            </a:r>
            <a:endParaRPr sz="1800">
              <a:solidFill>
                <a:srgbClr val="2E3D49"/>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1213</Words>
  <Application>Microsoft Office PowerPoint</Application>
  <PresentationFormat>Custom</PresentationFormat>
  <Paragraphs>93</Paragraphs>
  <Slides>23</Slides>
  <Notes>23</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23</vt:i4>
      </vt:variant>
    </vt:vector>
  </HeadingPairs>
  <TitlesOfParts>
    <vt:vector size="31" baseType="lpstr">
      <vt:lpstr>Open Sans</vt:lpstr>
      <vt:lpstr>Arial</vt:lpstr>
      <vt:lpstr>Helvetica Neue</vt:lpstr>
      <vt:lpstr>Open Sans Light</vt:lpstr>
      <vt:lpstr>Simple Light</vt:lpstr>
      <vt:lpstr>Simple Light</vt:lpstr>
      <vt:lpstr>Simple Light</vt:lpstr>
      <vt:lpstr>White</vt:lpstr>
      <vt:lpstr>Data Governance @ SneakerPark </vt:lpstr>
      <vt:lpstr>How to use this Template</vt:lpstr>
      <vt:lpstr>What you are required to submit:</vt:lpstr>
      <vt:lpstr>Background</vt:lpstr>
      <vt:lpstr>Background (cont’d)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ARJUN AVALAKKI MOHAN</cp:lastModifiedBy>
  <cp:revision>1</cp:revision>
  <dcterms:modified xsi:type="dcterms:W3CDTF">2026-05-27T04:15:28Z</dcterms:modified>
</cp:coreProperties>
</file>