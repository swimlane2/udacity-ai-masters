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30"/>
  </p:notesMasterIdLst>
  <p:sldIdLst>
    <p:sldId id="256" r:id="rId5"/>
    <p:sldId id="258" r:id="rId6"/>
    <p:sldId id="259" r:id="rId7"/>
    <p:sldId id="260" r:id="rId8"/>
    <p:sldId id="261" r:id="rId9"/>
    <p:sldId id="287" r:id="rId10"/>
    <p:sldId id="262" r:id="rId11"/>
    <p:sldId id="263" r:id="rId12"/>
    <p:sldId id="264" r:id="rId13"/>
    <p:sldId id="265" r:id="rId14"/>
    <p:sldId id="266" r:id="rId15"/>
    <p:sldId id="267" r:id="rId16"/>
    <p:sldId id="268" r:id="rId17"/>
    <p:sldId id="269" r:id="rId18"/>
    <p:sldId id="270" r:id="rId19"/>
    <p:sldId id="271" r:id="rId20"/>
    <p:sldId id="272" r:id="rId21"/>
    <p:sldId id="288" r:id="rId22"/>
    <p:sldId id="273" r:id="rId23"/>
    <p:sldId id="274" r:id="rId24"/>
    <p:sldId id="275" r:id="rId25"/>
    <p:sldId id="276" r:id="rId26"/>
    <p:sldId id="277" r:id="rId27"/>
    <p:sldId id="278" r:id="rId28"/>
    <p:sldId id="279" r:id="rId29"/>
  </p:sldIdLst>
  <p:sldSz cx="7772400" cy="10058400"/>
  <p:notesSz cx="6858000" cy="9144000"/>
  <p:embeddedFontLst>
    <p:embeddedFont>
      <p:font typeface="Helvetica Neue" panose="020B0604020202020204" charset="0"/>
      <p:regular r:id="rId31"/>
      <p:bold r:id="rId32"/>
      <p:italic r:id="rId33"/>
      <p:boldItalic r:id="rId34"/>
    </p:embeddedFont>
    <p:embeddedFont>
      <p:font typeface="Open Sans" panose="020B0606030504020204" pitchFamily="34" charset="0"/>
      <p:regular r:id="rId35"/>
      <p:bold r:id="rId36"/>
      <p:italic r:id="rId37"/>
      <p:boldItalic r:id="rId38"/>
    </p:embeddedFont>
    <p:embeddedFont>
      <p:font typeface="Open Sans Light" panose="020B0306030504020204" pitchFamily="34" charset="0"/>
      <p:regular r:id="rId39"/>
      <p:bold r:id="rId40"/>
      <p:italic r:id="rId41"/>
      <p:boldItalic r:id="rId42"/>
    </p:embeddedFont>
    <p:embeddedFont>
      <p:font typeface="Source Code Pro" panose="020B0509030403020204" pitchFamily="49"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ECDE29-5A9E-4E44-A6A5-88C1A3F6F982}" v="18" dt="2026-05-26T04:40:26.3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24" autoAdjust="0"/>
  </p:normalViewPr>
  <p:slideViewPr>
    <p:cSldViewPr snapToGrid="0">
      <p:cViewPr varScale="1">
        <p:scale>
          <a:sx n="61" d="100"/>
          <a:sy n="61" d="100"/>
        </p:scale>
        <p:origin x="23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JUN AVALAKKI MOHAN" userId="be4ab9aaf12c5868" providerId="LiveId" clId="{C81E60EF-EF5F-4B4B-A4E1-3178676F15CC}"/>
    <pc:docChg chg="undo custSel addSld delSld modSld">
      <pc:chgData name="ARJUN AVALAKKI MOHAN" userId="be4ab9aaf12c5868" providerId="LiveId" clId="{C81E60EF-EF5F-4B4B-A4E1-3178676F15CC}" dt="2026-05-26T04:42:54.778" v="1124" actId="1076"/>
      <pc:docMkLst>
        <pc:docMk/>
      </pc:docMkLst>
      <pc:sldChg chg="modSp mod">
        <pc:chgData name="ARJUN AVALAKKI MOHAN" userId="be4ab9aaf12c5868" providerId="LiveId" clId="{C81E60EF-EF5F-4B4B-A4E1-3178676F15CC}" dt="2026-05-25T04:30:25.809" v="1037" actId="20577"/>
        <pc:sldMkLst>
          <pc:docMk/>
          <pc:sldMk cId="0" sldId="256"/>
        </pc:sldMkLst>
        <pc:spChg chg="mod">
          <ac:chgData name="ARJUN AVALAKKI MOHAN" userId="be4ab9aaf12c5868" providerId="LiveId" clId="{C81E60EF-EF5F-4B4B-A4E1-3178676F15CC}" dt="2026-05-25T04:30:25.809" v="1037" actId="20577"/>
          <ac:spMkLst>
            <pc:docMk/>
            <pc:sldMk cId="0" sldId="256"/>
            <ac:spMk id="180" creationId="{00000000-0000-0000-0000-000000000000}"/>
          </ac:spMkLst>
        </pc:spChg>
      </pc:sldChg>
      <pc:sldChg chg="modNotes">
        <pc:chgData name="ARJUN AVALAKKI MOHAN" userId="be4ab9aaf12c5868" providerId="LiveId" clId="{C81E60EF-EF5F-4B4B-A4E1-3178676F15CC}" dt="2026-05-20T03:54:24.689" v="721"/>
        <pc:sldMkLst>
          <pc:docMk/>
          <pc:sldMk cId="0" sldId="258"/>
        </pc:sldMkLst>
      </pc:sldChg>
      <pc:sldChg chg="modNotes">
        <pc:chgData name="ARJUN AVALAKKI MOHAN" userId="be4ab9aaf12c5868" providerId="LiveId" clId="{C81E60EF-EF5F-4B4B-A4E1-3178676F15CC}" dt="2026-05-20T03:54:24.689" v="721"/>
        <pc:sldMkLst>
          <pc:docMk/>
          <pc:sldMk cId="0" sldId="260"/>
        </pc:sldMkLst>
      </pc:sldChg>
      <pc:sldChg chg="addSp delSp modSp mod modNotes">
        <pc:chgData name="ARJUN AVALAKKI MOHAN" userId="be4ab9aaf12c5868" providerId="LiveId" clId="{C81E60EF-EF5F-4B4B-A4E1-3178676F15CC}" dt="2026-05-19T05:54:56.695" v="560" actId="1076"/>
        <pc:sldMkLst>
          <pc:docMk/>
          <pc:sldMk cId="0" sldId="261"/>
        </pc:sldMkLst>
        <pc:spChg chg="add del mod">
          <ac:chgData name="ARJUN AVALAKKI MOHAN" userId="be4ab9aaf12c5868" providerId="LiveId" clId="{C81E60EF-EF5F-4B4B-A4E1-3178676F15CC}" dt="2026-05-19T05:21:51.333" v="302" actId="1076"/>
          <ac:spMkLst>
            <pc:docMk/>
            <pc:sldMk cId="0" sldId="261"/>
            <ac:spMk id="2" creationId="{FE40C933-DA7A-1810-91D7-F01F73C610E0}"/>
          </ac:spMkLst>
        </pc:spChg>
        <pc:spChg chg="add mod">
          <ac:chgData name="ARJUN AVALAKKI MOHAN" userId="be4ab9aaf12c5868" providerId="LiveId" clId="{C81E60EF-EF5F-4B4B-A4E1-3178676F15CC}" dt="2026-05-19T05:54:56.695" v="560" actId="1076"/>
          <ac:spMkLst>
            <pc:docMk/>
            <pc:sldMk cId="0" sldId="261"/>
            <ac:spMk id="10" creationId="{67C8DE7D-764B-DAC9-3E27-FB7662438923}"/>
          </ac:spMkLst>
        </pc:spChg>
        <pc:spChg chg="add mod">
          <ac:chgData name="ARJUN AVALAKKI MOHAN" userId="be4ab9aaf12c5868" providerId="LiveId" clId="{C81E60EF-EF5F-4B4B-A4E1-3178676F15CC}" dt="2026-05-19T05:54:52.782" v="559" actId="1076"/>
          <ac:spMkLst>
            <pc:docMk/>
            <pc:sldMk cId="0" sldId="261"/>
            <ac:spMk id="12" creationId="{38CBDC82-8DFC-5ACF-17A9-83D6B73CC543}"/>
          </ac:spMkLst>
        </pc:spChg>
        <pc:spChg chg="add mod">
          <ac:chgData name="ARJUN AVALAKKI MOHAN" userId="be4ab9aaf12c5868" providerId="LiveId" clId="{C81E60EF-EF5F-4B4B-A4E1-3178676F15CC}" dt="2026-05-19T05:54:48.034" v="558" actId="14100"/>
          <ac:spMkLst>
            <pc:docMk/>
            <pc:sldMk cId="0" sldId="261"/>
            <ac:spMk id="16" creationId="{7304E2DA-752B-5E59-79D9-996014F94E53}"/>
          </ac:spMkLst>
        </pc:spChg>
        <pc:spChg chg="add del">
          <ac:chgData name="ARJUN AVALAKKI MOHAN" userId="be4ab9aaf12c5868" providerId="LiveId" clId="{C81E60EF-EF5F-4B4B-A4E1-3178676F15CC}" dt="2026-05-19T05:21:12.256" v="292" actId="478"/>
          <ac:spMkLst>
            <pc:docMk/>
            <pc:sldMk cId="0" sldId="261"/>
            <ac:spMk id="212" creationId="{00000000-0000-0000-0000-000000000000}"/>
          </ac:spMkLst>
        </pc:spChg>
      </pc:sldChg>
      <pc:sldChg chg="modSp mod">
        <pc:chgData name="ARJUN AVALAKKI MOHAN" userId="be4ab9aaf12c5868" providerId="LiveId" clId="{C81E60EF-EF5F-4B4B-A4E1-3178676F15CC}" dt="2026-05-19T05:44:58.717" v="495" actId="6549"/>
        <pc:sldMkLst>
          <pc:docMk/>
          <pc:sldMk cId="0" sldId="262"/>
        </pc:sldMkLst>
        <pc:spChg chg="mod">
          <ac:chgData name="ARJUN AVALAKKI MOHAN" userId="be4ab9aaf12c5868" providerId="LiveId" clId="{C81E60EF-EF5F-4B4B-A4E1-3178676F15CC}" dt="2026-05-19T05:44:58.717" v="495" actId="6549"/>
          <ac:spMkLst>
            <pc:docMk/>
            <pc:sldMk cId="0" sldId="262"/>
            <ac:spMk id="219" creationId="{00000000-0000-0000-0000-000000000000}"/>
          </ac:spMkLst>
        </pc:spChg>
      </pc:sldChg>
      <pc:sldChg chg="modSp mod modNotes">
        <pc:chgData name="ARJUN AVALAKKI MOHAN" userId="be4ab9aaf12c5868" providerId="LiveId" clId="{C81E60EF-EF5F-4B4B-A4E1-3178676F15CC}" dt="2026-05-24T06:16:00.399" v="1028" actId="6549"/>
        <pc:sldMkLst>
          <pc:docMk/>
          <pc:sldMk cId="0" sldId="263"/>
        </pc:sldMkLst>
        <pc:spChg chg="mod">
          <ac:chgData name="ARJUN AVALAKKI MOHAN" userId="be4ab9aaf12c5868" providerId="LiveId" clId="{C81E60EF-EF5F-4B4B-A4E1-3178676F15CC}" dt="2026-05-24T06:16:00.399" v="1028" actId="6549"/>
          <ac:spMkLst>
            <pc:docMk/>
            <pc:sldMk cId="0" sldId="263"/>
            <ac:spMk id="225" creationId="{00000000-0000-0000-0000-000000000000}"/>
          </ac:spMkLst>
        </pc:spChg>
      </pc:sldChg>
      <pc:sldChg chg="modSp mod setBg">
        <pc:chgData name="ARJUN AVALAKKI MOHAN" userId="be4ab9aaf12c5868" providerId="LiveId" clId="{C81E60EF-EF5F-4B4B-A4E1-3178676F15CC}" dt="2026-05-20T03:57:51.356" v="764" actId="6549"/>
        <pc:sldMkLst>
          <pc:docMk/>
          <pc:sldMk cId="0" sldId="264"/>
        </pc:sldMkLst>
        <pc:spChg chg="mod">
          <ac:chgData name="ARJUN AVALAKKI MOHAN" userId="be4ab9aaf12c5868" providerId="LiveId" clId="{C81E60EF-EF5F-4B4B-A4E1-3178676F15CC}" dt="2026-05-20T03:54:24.689" v="721"/>
          <ac:spMkLst>
            <pc:docMk/>
            <pc:sldMk cId="0" sldId="264"/>
            <ac:spMk id="230" creationId="{00000000-0000-0000-0000-000000000000}"/>
          </ac:spMkLst>
        </pc:spChg>
        <pc:spChg chg="mod">
          <ac:chgData name="ARJUN AVALAKKI MOHAN" userId="be4ab9aaf12c5868" providerId="LiveId" clId="{C81E60EF-EF5F-4B4B-A4E1-3178676F15CC}" dt="2026-05-20T03:57:51.356" v="764" actId="6549"/>
          <ac:spMkLst>
            <pc:docMk/>
            <pc:sldMk cId="0" sldId="264"/>
            <ac:spMk id="231" creationId="{00000000-0000-0000-0000-000000000000}"/>
          </ac:spMkLst>
        </pc:spChg>
      </pc:sldChg>
      <pc:sldChg chg="modNotes">
        <pc:chgData name="ARJUN AVALAKKI MOHAN" userId="be4ab9aaf12c5868" providerId="LiveId" clId="{C81E60EF-EF5F-4B4B-A4E1-3178676F15CC}" dt="2026-05-20T03:54:24.689" v="721"/>
        <pc:sldMkLst>
          <pc:docMk/>
          <pc:sldMk cId="0" sldId="266"/>
        </pc:sldMkLst>
      </pc:sldChg>
      <pc:sldChg chg="addSp delSp modSp mod modNotes">
        <pc:chgData name="ARJUN AVALAKKI MOHAN" userId="be4ab9aaf12c5868" providerId="LiveId" clId="{C81E60EF-EF5F-4B4B-A4E1-3178676F15CC}" dt="2026-05-23T06:18:14.503" v="897" actId="2085"/>
        <pc:sldMkLst>
          <pc:docMk/>
          <pc:sldMk cId="0" sldId="267"/>
        </pc:sldMkLst>
        <pc:spChg chg="mod">
          <ac:chgData name="ARJUN AVALAKKI MOHAN" userId="be4ab9aaf12c5868" providerId="LiveId" clId="{C81E60EF-EF5F-4B4B-A4E1-3178676F15CC}" dt="2026-05-21T05:20:21.790" v="767" actId="6549"/>
          <ac:spMkLst>
            <pc:docMk/>
            <pc:sldMk cId="0" sldId="267"/>
            <ac:spMk id="249" creationId="{00000000-0000-0000-0000-000000000000}"/>
          </ac:spMkLst>
        </pc:spChg>
        <pc:picChg chg="add mod">
          <ac:chgData name="ARJUN AVALAKKI MOHAN" userId="be4ab9aaf12c5868" providerId="LiveId" clId="{C81E60EF-EF5F-4B4B-A4E1-3178676F15CC}" dt="2026-05-23T06:18:14.503" v="897" actId="2085"/>
          <ac:picMkLst>
            <pc:docMk/>
            <pc:sldMk cId="0" sldId="267"/>
            <ac:picMk id="3" creationId="{0FA426DF-3EB2-5B29-14C6-AD8D9874DE10}"/>
          </ac:picMkLst>
        </pc:picChg>
      </pc:sldChg>
      <pc:sldChg chg="addSp delSp modSp mod modNotes">
        <pc:chgData name="ARJUN AVALAKKI MOHAN" userId="be4ab9aaf12c5868" providerId="LiveId" clId="{C81E60EF-EF5F-4B4B-A4E1-3178676F15CC}" dt="2026-05-23T06:18:07.555" v="896" actId="2085"/>
        <pc:sldMkLst>
          <pc:docMk/>
          <pc:sldMk cId="0" sldId="268"/>
        </pc:sldMkLst>
        <pc:spChg chg="mod">
          <ac:chgData name="ARJUN AVALAKKI MOHAN" userId="be4ab9aaf12c5868" providerId="LiveId" clId="{C81E60EF-EF5F-4B4B-A4E1-3178676F15CC}" dt="2026-05-23T06:15:53.168" v="877" actId="1076"/>
          <ac:spMkLst>
            <pc:docMk/>
            <pc:sldMk cId="0" sldId="268"/>
            <ac:spMk id="256" creationId="{00000000-0000-0000-0000-000000000000}"/>
          </ac:spMkLst>
        </pc:spChg>
        <pc:picChg chg="add mod">
          <ac:chgData name="ARJUN AVALAKKI MOHAN" userId="be4ab9aaf12c5868" providerId="LiveId" clId="{C81E60EF-EF5F-4B4B-A4E1-3178676F15CC}" dt="2026-05-23T06:18:07.555" v="896" actId="2085"/>
          <ac:picMkLst>
            <pc:docMk/>
            <pc:sldMk cId="0" sldId="268"/>
            <ac:picMk id="3" creationId="{C331EB5E-11D8-4A6D-0411-2A0C93A01961}"/>
          </ac:picMkLst>
        </pc:picChg>
      </pc:sldChg>
      <pc:sldChg chg="addSp delSp modSp mod modNotes">
        <pc:chgData name="ARJUN AVALAKKI MOHAN" userId="be4ab9aaf12c5868" providerId="LiveId" clId="{C81E60EF-EF5F-4B4B-A4E1-3178676F15CC}" dt="2026-05-25T04:35:03.466" v="1043" actId="14100"/>
        <pc:sldMkLst>
          <pc:docMk/>
          <pc:sldMk cId="0" sldId="269"/>
        </pc:sldMkLst>
        <pc:spChg chg="mod">
          <ac:chgData name="ARJUN AVALAKKI MOHAN" userId="be4ab9aaf12c5868" providerId="LiveId" clId="{C81E60EF-EF5F-4B4B-A4E1-3178676F15CC}" dt="2026-05-23T06:16:43.534" v="885" actId="14100"/>
          <ac:spMkLst>
            <pc:docMk/>
            <pc:sldMk cId="0" sldId="269"/>
            <ac:spMk id="263" creationId="{00000000-0000-0000-0000-000000000000}"/>
          </ac:spMkLst>
        </pc:spChg>
        <pc:picChg chg="add del mod">
          <ac:chgData name="ARJUN AVALAKKI MOHAN" userId="be4ab9aaf12c5868" providerId="LiveId" clId="{C81E60EF-EF5F-4B4B-A4E1-3178676F15CC}" dt="2026-05-25T04:34:49.496" v="1038" actId="478"/>
          <ac:picMkLst>
            <pc:docMk/>
            <pc:sldMk cId="0" sldId="269"/>
            <ac:picMk id="3" creationId="{4FDF5F04-A16A-8719-A692-B9C7214704D4}"/>
          </ac:picMkLst>
        </pc:picChg>
        <pc:picChg chg="add mod">
          <ac:chgData name="ARJUN AVALAKKI MOHAN" userId="be4ab9aaf12c5868" providerId="LiveId" clId="{C81E60EF-EF5F-4B4B-A4E1-3178676F15CC}" dt="2026-05-25T04:35:03.466" v="1043" actId="14100"/>
          <ac:picMkLst>
            <pc:docMk/>
            <pc:sldMk cId="0" sldId="269"/>
            <ac:picMk id="4" creationId="{24632A6F-727E-0CA6-04D0-E39ACCE132AB}"/>
          </ac:picMkLst>
        </pc:picChg>
      </pc:sldChg>
      <pc:sldChg chg="modNotes">
        <pc:chgData name="ARJUN AVALAKKI MOHAN" userId="be4ab9aaf12c5868" providerId="LiveId" clId="{C81E60EF-EF5F-4B4B-A4E1-3178676F15CC}" dt="2026-05-20T03:54:24.689" v="721"/>
        <pc:sldMkLst>
          <pc:docMk/>
          <pc:sldMk cId="0" sldId="271"/>
        </pc:sldMkLst>
      </pc:sldChg>
      <pc:sldChg chg="addSp delSp modSp mod modNotes">
        <pc:chgData name="ARJUN AVALAKKI MOHAN" userId="be4ab9aaf12c5868" providerId="LiveId" clId="{C81E60EF-EF5F-4B4B-A4E1-3178676F15CC}" dt="2026-05-23T06:54:28.915" v="926" actId="14100"/>
        <pc:sldMkLst>
          <pc:docMk/>
          <pc:sldMk cId="0" sldId="272"/>
        </pc:sldMkLst>
        <pc:spChg chg="add mod">
          <ac:chgData name="ARJUN AVALAKKI MOHAN" userId="be4ab9aaf12c5868" providerId="LiveId" clId="{C81E60EF-EF5F-4B4B-A4E1-3178676F15CC}" dt="2026-05-23T06:54:28.915" v="926" actId="14100"/>
          <ac:spMkLst>
            <pc:docMk/>
            <pc:sldMk cId="0" sldId="272"/>
            <ac:spMk id="11" creationId="{D4ABDF3F-C62F-1A03-305E-9ACEC9558668}"/>
          </ac:spMkLst>
        </pc:spChg>
        <pc:spChg chg="mod">
          <ac:chgData name="ARJUN AVALAKKI MOHAN" userId="be4ab9aaf12c5868" providerId="LiveId" clId="{C81E60EF-EF5F-4B4B-A4E1-3178676F15CC}" dt="2026-05-23T06:48:30.836" v="903" actId="1076"/>
          <ac:spMkLst>
            <pc:docMk/>
            <pc:sldMk cId="0" sldId="272"/>
            <ac:spMk id="282" creationId="{00000000-0000-0000-0000-000000000000}"/>
          </ac:spMkLst>
        </pc:spChg>
        <pc:picChg chg="add mod">
          <ac:chgData name="ARJUN AVALAKKI MOHAN" userId="be4ab9aaf12c5868" providerId="LiveId" clId="{C81E60EF-EF5F-4B4B-A4E1-3178676F15CC}" dt="2026-05-23T06:53:19.197" v="914" actId="1076"/>
          <ac:picMkLst>
            <pc:docMk/>
            <pc:sldMk cId="0" sldId="272"/>
            <ac:picMk id="4" creationId="{4ABB8DA1-DE2B-A470-FD35-BDB987176BFB}"/>
          </ac:picMkLst>
        </pc:picChg>
        <pc:picChg chg="add mod">
          <ac:chgData name="ARJUN AVALAKKI MOHAN" userId="be4ab9aaf12c5868" providerId="LiveId" clId="{C81E60EF-EF5F-4B4B-A4E1-3178676F15CC}" dt="2026-05-23T06:53:21.538" v="915" actId="1076"/>
          <ac:picMkLst>
            <pc:docMk/>
            <pc:sldMk cId="0" sldId="272"/>
            <ac:picMk id="10" creationId="{49044BF0-8CAC-97D0-42E8-72488806D257}"/>
          </ac:picMkLst>
        </pc:picChg>
      </pc:sldChg>
      <pc:sldChg chg="addSp delSp modSp mod modNotes">
        <pc:chgData name="ARJUN AVALAKKI MOHAN" userId="be4ab9aaf12c5868" providerId="LiveId" clId="{C81E60EF-EF5F-4B4B-A4E1-3178676F15CC}" dt="2026-05-24T06:22:16.735" v="1033" actId="14100"/>
        <pc:sldMkLst>
          <pc:docMk/>
          <pc:sldMk cId="0" sldId="273"/>
        </pc:sldMkLst>
        <pc:spChg chg="mod">
          <ac:chgData name="ARJUN AVALAKKI MOHAN" userId="be4ab9aaf12c5868" providerId="LiveId" clId="{C81E60EF-EF5F-4B4B-A4E1-3178676F15CC}" dt="2026-05-24T05:46:13.843" v="957" actId="1076"/>
          <ac:spMkLst>
            <pc:docMk/>
            <pc:sldMk cId="0" sldId="273"/>
            <ac:spMk id="289" creationId="{00000000-0000-0000-0000-000000000000}"/>
          </ac:spMkLst>
        </pc:spChg>
        <pc:picChg chg="add mod">
          <ac:chgData name="ARJUN AVALAKKI MOHAN" userId="be4ab9aaf12c5868" providerId="LiveId" clId="{C81E60EF-EF5F-4B4B-A4E1-3178676F15CC}" dt="2026-05-24T06:22:16.735" v="1033" actId="14100"/>
          <ac:picMkLst>
            <pc:docMk/>
            <pc:sldMk cId="0" sldId="273"/>
            <ac:picMk id="4" creationId="{E7D7F0C1-09C7-B9D4-ADCE-9AB087EE1367}"/>
          </ac:picMkLst>
        </pc:picChg>
      </pc:sldChg>
      <pc:sldChg chg="addSp delSp modSp mod modNotes">
        <pc:chgData name="ARJUN AVALAKKI MOHAN" userId="be4ab9aaf12c5868" providerId="LiveId" clId="{C81E60EF-EF5F-4B4B-A4E1-3178676F15CC}" dt="2026-05-24T05:53:38.804" v="963" actId="1076"/>
        <pc:sldMkLst>
          <pc:docMk/>
          <pc:sldMk cId="0" sldId="274"/>
        </pc:sldMkLst>
        <pc:spChg chg="mod">
          <ac:chgData name="ARJUN AVALAKKI MOHAN" userId="be4ab9aaf12c5868" providerId="LiveId" clId="{C81E60EF-EF5F-4B4B-A4E1-3178676F15CC}" dt="2026-05-24T05:53:34.405" v="961" actId="6549"/>
          <ac:spMkLst>
            <pc:docMk/>
            <pc:sldMk cId="0" sldId="274"/>
            <ac:spMk id="296" creationId="{00000000-0000-0000-0000-000000000000}"/>
          </ac:spMkLst>
        </pc:spChg>
        <pc:picChg chg="add mod">
          <ac:chgData name="ARJUN AVALAKKI MOHAN" userId="be4ab9aaf12c5868" providerId="LiveId" clId="{C81E60EF-EF5F-4B4B-A4E1-3178676F15CC}" dt="2026-05-24T05:53:38.804" v="963" actId="1076"/>
          <ac:picMkLst>
            <pc:docMk/>
            <pc:sldMk cId="0" sldId="274"/>
            <ac:picMk id="3" creationId="{9C254158-8C0A-2798-C371-0E517A405794}"/>
          </ac:picMkLst>
        </pc:picChg>
      </pc:sldChg>
      <pc:sldChg chg="addSp delSp modSp mod modNotes">
        <pc:chgData name="ARJUN AVALAKKI MOHAN" userId="be4ab9aaf12c5868" providerId="LiveId" clId="{C81E60EF-EF5F-4B4B-A4E1-3178676F15CC}" dt="2026-05-24T05:55:40.958" v="973" actId="1076"/>
        <pc:sldMkLst>
          <pc:docMk/>
          <pc:sldMk cId="0" sldId="275"/>
        </pc:sldMkLst>
        <pc:spChg chg="mod">
          <ac:chgData name="ARJUN AVALAKKI MOHAN" userId="be4ab9aaf12c5868" providerId="LiveId" clId="{C81E60EF-EF5F-4B4B-A4E1-3178676F15CC}" dt="2026-05-24T05:55:37.894" v="972" actId="1076"/>
          <ac:spMkLst>
            <pc:docMk/>
            <pc:sldMk cId="0" sldId="275"/>
            <ac:spMk id="303" creationId="{00000000-0000-0000-0000-000000000000}"/>
          </ac:spMkLst>
        </pc:spChg>
        <pc:picChg chg="add mod">
          <ac:chgData name="ARJUN AVALAKKI MOHAN" userId="be4ab9aaf12c5868" providerId="LiveId" clId="{C81E60EF-EF5F-4B4B-A4E1-3178676F15CC}" dt="2026-05-24T05:55:40.958" v="973" actId="1076"/>
          <ac:picMkLst>
            <pc:docMk/>
            <pc:sldMk cId="0" sldId="275"/>
            <ac:picMk id="3" creationId="{26EEDA14-9EDB-090D-C1DB-8484BDC7DB29}"/>
          </ac:picMkLst>
        </pc:picChg>
      </pc:sldChg>
      <pc:sldChg chg="addSp delSp modSp mod modNotes">
        <pc:chgData name="ARJUN AVALAKKI MOHAN" userId="be4ab9aaf12c5868" providerId="LiveId" clId="{C81E60EF-EF5F-4B4B-A4E1-3178676F15CC}" dt="2026-05-24T05:59:48.090" v="984" actId="14100"/>
        <pc:sldMkLst>
          <pc:docMk/>
          <pc:sldMk cId="0" sldId="276"/>
        </pc:sldMkLst>
        <pc:spChg chg="mod">
          <ac:chgData name="ARJUN AVALAKKI MOHAN" userId="be4ab9aaf12c5868" providerId="LiveId" clId="{C81E60EF-EF5F-4B4B-A4E1-3178676F15CC}" dt="2026-05-24T05:59:40.193" v="982" actId="1076"/>
          <ac:spMkLst>
            <pc:docMk/>
            <pc:sldMk cId="0" sldId="276"/>
            <ac:spMk id="310" creationId="{00000000-0000-0000-0000-000000000000}"/>
          </ac:spMkLst>
        </pc:spChg>
        <pc:picChg chg="add mod">
          <ac:chgData name="ARJUN AVALAKKI MOHAN" userId="be4ab9aaf12c5868" providerId="LiveId" clId="{C81E60EF-EF5F-4B4B-A4E1-3178676F15CC}" dt="2026-05-24T05:59:48.090" v="984" actId="14100"/>
          <ac:picMkLst>
            <pc:docMk/>
            <pc:sldMk cId="0" sldId="276"/>
            <ac:picMk id="3" creationId="{BADAC383-CE7A-5023-827F-1EEAFC70C372}"/>
          </ac:picMkLst>
        </pc:picChg>
      </pc:sldChg>
      <pc:sldChg chg="addSp delSp modSp mod modNotes">
        <pc:chgData name="ARJUN AVALAKKI MOHAN" userId="be4ab9aaf12c5868" providerId="LiveId" clId="{C81E60EF-EF5F-4B4B-A4E1-3178676F15CC}" dt="2026-05-24T06:03:31.527" v="1002" actId="14100"/>
        <pc:sldMkLst>
          <pc:docMk/>
          <pc:sldMk cId="0" sldId="277"/>
        </pc:sldMkLst>
        <pc:spChg chg="mod">
          <ac:chgData name="ARJUN AVALAKKI MOHAN" userId="be4ab9aaf12c5868" providerId="LiveId" clId="{C81E60EF-EF5F-4B4B-A4E1-3178676F15CC}" dt="2026-05-24T06:03:20.026" v="998" actId="20577"/>
          <ac:spMkLst>
            <pc:docMk/>
            <pc:sldMk cId="0" sldId="277"/>
            <ac:spMk id="317" creationId="{00000000-0000-0000-0000-000000000000}"/>
          </ac:spMkLst>
        </pc:spChg>
        <pc:picChg chg="add mod">
          <ac:chgData name="ARJUN AVALAKKI MOHAN" userId="be4ab9aaf12c5868" providerId="LiveId" clId="{C81E60EF-EF5F-4B4B-A4E1-3178676F15CC}" dt="2026-05-24T06:03:31.527" v="1002" actId="14100"/>
          <ac:picMkLst>
            <pc:docMk/>
            <pc:sldMk cId="0" sldId="277"/>
            <ac:picMk id="3" creationId="{C9927469-411D-D575-839D-84C34A8510E9}"/>
          </ac:picMkLst>
        </pc:picChg>
      </pc:sldChg>
      <pc:sldChg chg="addSp delSp modSp mod modNotes">
        <pc:chgData name="ARJUN AVALAKKI MOHAN" userId="be4ab9aaf12c5868" providerId="LiveId" clId="{C81E60EF-EF5F-4B4B-A4E1-3178676F15CC}" dt="2026-05-24T06:06:03.388" v="1013" actId="14100"/>
        <pc:sldMkLst>
          <pc:docMk/>
          <pc:sldMk cId="0" sldId="278"/>
        </pc:sldMkLst>
        <pc:spChg chg="mod">
          <ac:chgData name="ARJUN AVALAKKI MOHAN" userId="be4ab9aaf12c5868" providerId="LiveId" clId="{C81E60EF-EF5F-4B4B-A4E1-3178676F15CC}" dt="2026-05-24T06:05:44.177" v="1009" actId="14100"/>
          <ac:spMkLst>
            <pc:docMk/>
            <pc:sldMk cId="0" sldId="278"/>
            <ac:spMk id="324" creationId="{00000000-0000-0000-0000-000000000000}"/>
          </ac:spMkLst>
        </pc:spChg>
        <pc:picChg chg="add mod">
          <ac:chgData name="ARJUN AVALAKKI MOHAN" userId="be4ab9aaf12c5868" providerId="LiveId" clId="{C81E60EF-EF5F-4B4B-A4E1-3178676F15CC}" dt="2026-05-24T06:06:03.388" v="1013" actId="14100"/>
          <ac:picMkLst>
            <pc:docMk/>
            <pc:sldMk cId="0" sldId="278"/>
            <ac:picMk id="3" creationId="{ACFCD5A7-D41D-6C52-2B9C-D691A8AA9C0D}"/>
          </ac:picMkLst>
        </pc:picChg>
      </pc:sldChg>
      <pc:sldChg chg="modSp mod modNotes">
        <pc:chgData name="ARJUN AVALAKKI MOHAN" userId="be4ab9aaf12c5868" providerId="LiveId" clId="{C81E60EF-EF5F-4B4B-A4E1-3178676F15CC}" dt="2026-05-26T04:42:54.778" v="1124" actId="1076"/>
        <pc:sldMkLst>
          <pc:docMk/>
          <pc:sldMk cId="0" sldId="279"/>
        </pc:sldMkLst>
        <pc:spChg chg="mod">
          <ac:chgData name="ARJUN AVALAKKI MOHAN" userId="be4ab9aaf12c5868" providerId="LiveId" clId="{C81E60EF-EF5F-4B4B-A4E1-3178676F15CC}" dt="2026-05-26T04:42:54.778" v="1124" actId="1076"/>
          <ac:spMkLst>
            <pc:docMk/>
            <pc:sldMk cId="0" sldId="279"/>
            <ac:spMk id="331" creationId="{00000000-0000-0000-0000-000000000000}"/>
          </ac:spMkLst>
        </pc:spChg>
      </pc:sldChg>
      <pc:sldChg chg="modSp new mod">
        <pc:chgData name="ARJUN AVALAKKI MOHAN" userId="be4ab9aaf12c5868" providerId="LiveId" clId="{C81E60EF-EF5F-4B4B-A4E1-3178676F15CC}" dt="2026-05-19T05:49:43.113" v="518" actId="2710"/>
        <pc:sldMkLst>
          <pc:docMk/>
          <pc:sldMk cId="2187238618" sldId="287"/>
        </pc:sldMkLst>
        <pc:spChg chg="mod">
          <ac:chgData name="ARJUN AVALAKKI MOHAN" userId="be4ab9aaf12c5868" providerId="LiveId" clId="{C81E60EF-EF5F-4B4B-A4E1-3178676F15CC}" dt="2026-05-19T05:11:26.698" v="236"/>
          <ac:spMkLst>
            <pc:docMk/>
            <pc:sldMk cId="2187238618" sldId="287"/>
            <ac:spMk id="2" creationId="{7F6E1C2B-213D-3408-1FCB-027AF66006F9}"/>
          </ac:spMkLst>
        </pc:spChg>
        <pc:spChg chg="mod">
          <ac:chgData name="ARJUN AVALAKKI MOHAN" userId="be4ab9aaf12c5868" providerId="LiveId" clId="{C81E60EF-EF5F-4B4B-A4E1-3178676F15CC}" dt="2026-05-19T05:49:43.113" v="518" actId="2710"/>
          <ac:spMkLst>
            <pc:docMk/>
            <pc:sldMk cId="2187238618" sldId="287"/>
            <ac:spMk id="3" creationId="{A2BB68B0-9E76-0DFB-F8C8-9B4F0B1EC2F7}"/>
          </ac:spMkLst>
        </pc:spChg>
      </pc:sldChg>
      <pc:sldChg chg="addSp delSp modSp add mod">
        <pc:chgData name="ARJUN AVALAKKI MOHAN" userId="be4ab9aaf12c5868" providerId="LiveId" clId="{C81E60EF-EF5F-4B4B-A4E1-3178676F15CC}" dt="2026-05-24T05:39:32.306" v="948" actId="1076"/>
        <pc:sldMkLst>
          <pc:docMk/>
          <pc:sldMk cId="484767743" sldId="288"/>
        </pc:sldMkLst>
        <pc:spChg chg="mod">
          <ac:chgData name="ARJUN AVALAKKI MOHAN" userId="be4ab9aaf12c5868" providerId="LiveId" clId="{C81E60EF-EF5F-4B4B-A4E1-3178676F15CC}" dt="2026-05-24T05:39:32.306" v="948" actId="1076"/>
          <ac:spMkLst>
            <pc:docMk/>
            <pc:sldMk cId="484767743" sldId="288"/>
            <ac:spMk id="11" creationId="{97E99462-E313-08C0-92C2-6581D6E45DD1}"/>
          </ac:spMkLst>
        </pc:spChg>
        <pc:picChg chg="add mod">
          <ac:chgData name="ARJUN AVALAKKI MOHAN" userId="be4ab9aaf12c5868" providerId="LiveId" clId="{C81E60EF-EF5F-4B4B-A4E1-3178676F15CC}" dt="2026-05-24T05:39:06.059" v="944" actId="14100"/>
          <ac:picMkLst>
            <pc:docMk/>
            <pc:sldMk cId="484767743" sldId="288"/>
            <ac:picMk id="8" creationId="{7506F691-7B00-3236-49B2-A466B351F89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d8c850c25_0_3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d8c850c2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8d8c850c25_0_8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8d8c850c2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8d8c850c25_0_5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8d8c850c25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8d8c850c25_0_6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8d8c850c2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8d8c850c25_0_7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8d8c850c25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8d8c850c25_0_6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8d8c850c25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d8c850c25_0_9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d8c850c25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8d8c850c25_0_9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8d8c850c2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8d8c850c25_0_10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8d8c850c2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8d8c850c25_0_12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8d8c850c25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8d8c850c25_0_118: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8d8c850c2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a:extLst>
            <a:ext uri="{FF2B5EF4-FFF2-40B4-BE49-F238E27FC236}">
              <a16:creationId xmlns:a16="http://schemas.microsoft.com/office/drawing/2014/main" id="{3980FA25-D600-FF76-1D7B-AA865D3E6123}"/>
            </a:ext>
          </a:extLst>
        </p:cNvPr>
        <p:cNvGrpSpPr/>
        <p:nvPr/>
      </p:nvGrpSpPr>
      <p:grpSpPr>
        <a:xfrm>
          <a:off x="0" y="0"/>
          <a:ext cx="0" cy="0"/>
          <a:chOff x="0" y="0"/>
          <a:chExt cx="0" cy="0"/>
        </a:xfrm>
      </p:grpSpPr>
      <p:sp>
        <p:nvSpPr>
          <p:cNvPr id="278" name="Google Shape;278;g8d8c850c25_0_118:notes">
            <a:extLst>
              <a:ext uri="{FF2B5EF4-FFF2-40B4-BE49-F238E27FC236}">
                <a16:creationId xmlns:a16="http://schemas.microsoft.com/office/drawing/2014/main" id="{F9A222EF-319D-E5D7-CEB3-7E7AAABA8DA4}"/>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8d8c850c25_0_118:notes">
            <a:extLst>
              <a:ext uri="{FF2B5EF4-FFF2-40B4-BE49-F238E27FC236}">
                <a16:creationId xmlns:a16="http://schemas.microsoft.com/office/drawing/2014/main" id="{E39644E9-FB08-685B-802D-BEC2ACB270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591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8d8c850c25_0_11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8d8c850c25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8c7a96e589_1_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8c7a96e589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8c7a96e589_1_1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8c7a96e589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8c7a96e589_1_1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8c7a96e589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8c7a96e589_1_2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8c7a96e589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8c7a96e589_1_3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8c7a96e589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8c49221f98_6_1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8c49221f98_6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hyperlink" Target="https://drive.google.com/file/d/1YdBZPpaIQvnD9NbgkeLMb5PeFtnhGGRP/view?usp=sharing"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5.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4SgnE_0wNpuPdF5ss94GGqIBfcxLnpIF/view" TargetMode="External"/><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049275" y="8353850"/>
            <a:ext cx="1375200" cy="1375200"/>
          </a:xfrm>
          <a:prstGeom prst="rect">
            <a:avLst/>
          </a:prstGeom>
          <a:noFill/>
          <a:ln>
            <a:noFill/>
          </a:ln>
        </p:spPr>
      </p:pic>
      <p:pic>
        <p:nvPicPr>
          <p:cNvPr id="178" name="Google Shape;178;p51"/>
          <p:cNvPicPr preferRelativeResize="0"/>
          <p:nvPr/>
        </p:nvPicPr>
        <p:blipFill>
          <a:blip r:embed="rId4">
            <a:alphaModFix/>
          </a:blip>
          <a:stretch>
            <a:fillRect/>
          </a:stretch>
        </p:blipFill>
        <p:spPr>
          <a:xfrm>
            <a:off x="1146225" y="2111300"/>
            <a:ext cx="5479925" cy="5479925"/>
          </a:xfrm>
          <a:prstGeom prst="rect">
            <a:avLst/>
          </a:prstGeom>
          <a:noFill/>
          <a:ln>
            <a:noFill/>
          </a:ln>
        </p:spPr>
      </p:pic>
      <p:sp>
        <p:nvSpPr>
          <p:cNvPr id="179" name="Google Shape;179;p51"/>
          <p:cNvSpPr txBox="1">
            <a:spLocks noGrp="1"/>
          </p:cNvSpPr>
          <p:nvPr>
            <p:ph type="title" idx="4294967295"/>
          </p:nvPr>
        </p:nvSpPr>
        <p:spPr>
          <a:xfrm>
            <a:off x="264945" y="423371"/>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Tech ABC Corp - HR Database</a:t>
            </a:r>
            <a:endParaRPr sz="4000">
              <a:solidFill>
                <a:srgbClr val="FFFFFF"/>
              </a:solidFill>
            </a:endParaRPr>
          </a:p>
          <a:p>
            <a:pPr marL="0" lvl="0" indent="0" algn="l" rtl="0">
              <a:spcBef>
                <a:spcPts val="0"/>
              </a:spcBef>
              <a:spcAft>
                <a:spcPts val="0"/>
              </a:spcAft>
              <a:buNone/>
            </a:pPr>
            <a:endParaRPr/>
          </a:p>
        </p:txBody>
      </p:sp>
      <p:sp>
        <p:nvSpPr>
          <p:cNvPr id="180" name="Google Shape;180;p51"/>
          <p:cNvSpPr txBox="1">
            <a:spLocks noGrp="1"/>
          </p:cNvSpPr>
          <p:nvPr>
            <p:ph type="title" idx="4294967295"/>
          </p:nvPr>
        </p:nvSpPr>
        <p:spPr>
          <a:xfrm>
            <a:off x="264945" y="107454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500" dirty="0">
                <a:solidFill>
                  <a:srgbClr val="FFFFFF"/>
                </a:solidFill>
              </a:rPr>
              <a:t>[Arjun Avalakki Mohan &amp; 25/05/2026]</a:t>
            </a:r>
            <a:endParaRPr sz="2500" dirty="0">
              <a:solidFill>
                <a:srgbClr val="FFFFFF"/>
              </a:solidFill>
            </a:endParaRPr>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Business Scenario</a:t>
            </a:r>
            <a:endParaRPr dirty="0"/>
          </a:p>
        </p:txBody>
      </p:sp>
      <p:sp>
        <p:nvSpPr>
          <p:cNvPr id="194" name="Google Shape;194;p53"/>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marR="241300" lvl="0" indent="0" algn="l" rtl="0">
              <a:lnSpc>
                <a:spcPct val="170000"/>
              </a:lnSpc>
              <a:spcBef>
                <a:spcPts val="0"/>
              </a:spcBef>
              <a:spcAft>
                <a:spcPts val="0"/>
              </a:spcAft>
              <a:buClr>
                <a:schemeClr val="dk1"/>
              </a:buClr>
              <a:buSzPts val="1100"/>
              <a:buFont typeface="Arial"/>
              <a:buNone/>
            </a:pPr>
            <a:r>
              <a:rPr lang="en" sz="1350" b="1" dirty="0">
                <a:solidFill>
                  <a:srgbClr val="2E3D49"/>
                </a:solidFill>
                <a:highlight>
                  <a:srgbClr val="FFFFFF"/>
                </a:highlight>
                <a:latin typeface="Open Sans"/>
                <a:ea typeface="Open Sans"/>
                <a:cs typeface="Open Sans"/>
                <a:sym typeface="Open Sans"/>
              </a:rPr>
              <a:t>  </a:t>
            </a:r>
            <a:r>
              <a:rPr lang="en" sz="1500" b="1" dirty="0">
                <a:solidFill>
                  <a:srgbClr val="2E3D49"/>
                </a:solidFill>
                <a:highlight>
                  <a:srgbClr val="FFFFFF"/>
                </a:highlight>
                <a:latin typeface="Open Sans"/>
                <a:ea typeface="Open Sans"/>
                <a:cs typeface="Open Sans"/>
                <a:sym typeface="Open Sans"/>
              </a:rPr>
              <a:t>   Business requirement</a:t>
            </a:r>
            <a:endParaRPr sz="1500" b="1" dirty="0">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40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Tech ABC Corp saw explosive growth with a sudden appearance onto the gaming scene with their new AI-powered video game console. As a result, they have gone from a small 10 person operation to 200 employees and 5 locations in under a year. HR is having trouble keeping up with the growth, since they are still maintaining employee information in a spreadsheet. While that worked for ten employees, it has becoming increasingly cumbersome to manage as the company expands.</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As such, the HR department has tasked you, as the new data architect, to design and build a database capable of managing their employee information.</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2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dirty="0">
                <a:solidFill>
                  <a:srgbClr val="2E3D49"/>
                </a:solidFill>
                <a:highlight>
                  <a:srgbClr val="FFFFFF"/>
                </a:highlight>
                <a:latin typeface="Open Sans"/>
                <a:ea typeface="Open Sans"/>
                <a:cs typeface="Open Sans"/>
                <a:sym typeface="Open Sans"/>
              </a:rPr>
              <a:t>Dataset</a:t>
            </a:r>
            <a:endParaRPr sz="1500" b="1" dirty="0">
              <a:solidFill>
                <a:srgbClr val="2E3D49"/>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rgbClr val="FFFFFF"/>
                </a:highlight>
                <a:latin typeface="Open Sans"/>
                <a:ea typeface="Open Sans"/>
                <a:cs typeface="Open Sans"/>
                <a:sym typeface="Open Sans"/>
              </a:rPr>
              <a:t>The </a:t>
            </a:r>
            <a:r>
              <a:rPr lang="en" sz="1300" u="sng" dirty="0">
                <a:solidFill>
                  <a:schemeClr val="hlink"/>
                </a:solidFill>
                <a:highlight>
                  <a:srgbClr val="FFFFFF"/>
                </a:highlight>
                <a:latin typeface="Open Sans"/>
                <a:ea typeface="Open Sans"/>
                <a:cs typeface="Open Sans"/>
                <a:sym typeface="Open Sans"/>
                <a:hlinkClick r:id="rId3"/>
              </a:rPr>
              <a:t>HR dataset</a:t>
            </a:r>
            <a:r>
              <a:rPr lang="en" sz="1300" dirty="0">
                <a:solidFill>
                  <a:srgbClr val="525C65"/>
                </a:solidFill>
                <a:highlight>
                  <a:srgbClr val="FFFFFF"/>
                </a:highlight>
                <a:latin typeface="Open Sans"/>
                <a:ea typeface="Open Sans"/>
                <a:cs typeface="Open Sans"/>
                <a:sym typeface="Open Sans"/>
              </a:rPr>
              <a:t> you will be working with is an Excel workbook which consists of 206 records, with eleven columns. The data is in human readable format, and has not been normalized at all. The data lists the names of employees at Tech ABC Corp as well as information such as job title, department, manager's name, hire date, start date, end date, work location, and salary.</a:t>
            </a: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endParaRPr sz="1300" dirty="0">
              <a:solidFill>
                <a:srgbClr val="525C65"/>
              </a:solidFill>
              <a:highlight>
                <a:srgbClr val="FFFFFF"/>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500" b="1" dirty="0">
                <a:solidFill>
                  <a:srgbClr val="2E3D49"/>
                </a:solidFill>
                <a:highlight>
                  <a:schemeClr val="lt1"/>
                </a:highlight>
                <a:latin typeface="Open Sans"/>
                <a:ea typeface="Open Sans"/>
                <a:cs typeface="Open Sans"/>
                <a:sym typeface="Open Sans"/>
              </a:rPr>
              <a:t>IT Department Best Practices</a:t>
            </a:r>
            <a:endParaRPr sz="1500" b="1" dirty="0">
              <a:solidFill>
                <a:srgbClr val="2E3D49"/>
              </a:solidFill>
              <a:highlight>
                <a:schemeClr val="lt1"/>
              </a:highlight>
              <a:latin typeface="Open Sans"/>
              <a:ea typeface="Open Sans"/>
              <a:cs typeface="Open Sans"/>
              <a:sym typeface="Open Sans"/>
            </a:endParaRPr>
          </a:p>
          <a:p>
            <a:pPr marL="241300" marR="241300" lvl="0" indent="0" algn="l" rtl="0">
              <a:lnSpc>
                <a:spcPct val="170000"/>
              </a:lnSpc>
              <a:spcBef>
                <a:spcPts val="0"/>
              </a:spcBef>
              <a:spcAft>
                <a:spcPts val="0"/>
              </a:spcAft>
              <a:buClr>
                <a:schemeClr val="dk1"/>
              </a:buClr>
              <a:buSzPts val="1100"/>
              <a:buFont typeface="Arial"/>
              <a:buNone/>
            </a:pPr>
            <a:r>
              <a:rPr lang="en" sz="1300" dirty="0">
                <a:solidFill>
                  <a:srgbClr val="525C65"/>
                </a:solidFill>
                <a:highlight>
                  <a:schemeClr val="lt1"/>
                </a:highlight>
                <a:latin typeface="Open Sans"/>
                <a:ea typeface="Open Sans"/>
                <a:cs typeface="Open Sans"/>
                <a:sym typeface="Open Sans"/>
              </a:rPr>
              <a:t>The IT Department has certain Best Practices policies for databases you should follow, as detailed in the </a:t>
            </a:r>
            <a:r>
              <a:rPr lang="en" sz="1300" u="sng" dirty="0">
                <a:solidFill>
                  <a:schemeClr val="hlink"/>
                </a:solidFill>
                <a:highlight>
                  <a:schemeClr val="lt1"/>
                </a:highlight>
                <a:latin typeface="Open Sans"/>
                <a:ea typeface="Open Sans"/>
                <a:cs typeface="Open Sans"/>
                <a:sym typeface="Open Sans"/>
                <a:hlinkClick r:id="rId4"/>
              </a:rPr>
              <a:t>Best Practices document</a:t>
            </a:r>
            <a:r>
              <a:rPr lang="en" sz="1300" dirty="0">
                <a:solidFill>
                  <a:srgbClr val="525C65"/>
                </a:solidFill>
                <a:highlight>
                  <a:schemeClr val="lt1"/>
                </a:highlight>
                <a:latin typeface="Open Sans"/>
                <a:ea typeface="Open Sans"/>
                <a:cs typeface="Open Sans"/>
                <a:sym typeface="Open Sans"/>
              </a:rPr>
              <a:t>.</a:t>
            </a:r>
            <a:endParaRPr sz="1300" dirty="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98"/>
        <p:cNvGrpSpPr/>
        <p:nvPr/>
      </p:nvGrpSpPr>
      <p:grpSpPr>
        <a:xfrm>
          <a:off x="0" y="0"/>
          <a:ext cx="0" cy="0"/>
          <a:chOff x="0" y="0"/>
          <a:chExt cx="0" cy="0"/>
        </a:xfrm>
      </p:grpSpPr>
      <p:sp>
        <p:nvSpPr>
          <p:cNvPr id="199" name="Google Shape;199;p54"/>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0" name="Google Shape;200;p54"/>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01" name="Google Shape;201;p54"/>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Architecture Foundations</a:t>
            </a:r>
            <a:endParaRPr sz="3000">
              <a:solidFill>
                <a:srgbClr val="FFFFFF"/>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5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1: Data Architecture Foundations</a:t>
            </a:r>
            <a:endParaRPr/>
          </a:p>
        </p:txBody>
      </p:sp>
      <p:sp>
        <p:nvSpPr>
          <p:cNvPr id="207" name="Google Shape;207;p55"/>
          <p:cNvSpPr txBox="1">
            <a:spLocks noGrp="1"/>
          </p:cNvSpPr>
          <p:nvPr>
            <p:ph type="body" idx="1"/>
          </p:nvPr>
        </p:nvSpPr>
        <p:spPr>
          <a:xfrm>
            <a:off x="264950" y="2253724"/>
            <a:ext cx="7242600" cy="753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000" dirty="0">
              <a:solidFill>
                <a:schemeClr val="dk1"/>
              </a:solidFill>
              <a:highlight>
                <a:srgbClr val="DBE2E8"/>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Hi,</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Welcome to Tech ABC Corp. We are excited to have some new talent onboard. As you may already know, Tech ABC Corp has recently experienced a lot of growth. Our AI powered video game console WOPR has been hugely successful and as a result, our company has grown from 10 employees to 200 in only 6 months (and we are projecting a 20% growth a year for the next 5 years). We have also grown from our Dallas, Texas office, to 4 other locations nationwide: New York City, NY, San Francisco, CA, Minneapolis, MN, and Nashville, TN.</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While this growth is great, it is really starting to put a strain on our record keeping in HR. We currently maintain all employee information on a shared spreadsheet. When HR consisted of only myself, managing everyone on an Excel spreadsheet was simple, but now that it is a shared document I am having serious reservations about data integrity and data security. If the wrong person got their hands on the HR file, they would see the salaries of every employee in the company, all the way up to the president.</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After speaking with Jacob Lauber, the manager of IT, he suggested I put in a request to have my HR Excel file converted into a database. He suggested I reach out to you as I am told you have experience in designing and building databases. When you are building this, please keep in mind that I want any employee with a domain login to be have read only access the database. I just don't want them having access to salary information. That needs to be restricted to HR and management level employees only. Management and HR employees should also be the only ones with write access. By our current estimates, 90% of users will be read only.</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I also want to make sure you know that am looking to turn my spreadsheet into a live database, one I can input and edit information into. I am not really concerned with reporting capabilities at the moment. Since we are working with employee data we are required by federal regulations to maintain this data for at least 7 years; additionally, since this is considered business critical data, we need to make sure it gets backed up properly.</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As a final consideration. We would like to be able to connect with the payroll department's system in the future. They maintain employee attendance and paid time off information. It would be nice if the two systems could interface in the future</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I am looking forward to working with you and seeing what kind of database you design for us.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Thanks,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Sarah Collins</a:t>
            </a:r>
            <a:endParaRPr sz="1000" dirty="0">
              <a:solidFill>
                <a:srgbClr val="525C65"/>
              </a:solidFill>
              <a:highlight>
                <a:srgbClr val="FFFFFF"/>
              </a:highlight>
              <a:latin typeface="Open Sans"/>
              <a:ea typeface="Open Sans"/>
              <a:cs typeface="Open Sans"/>
              <a:sym typeface="Open Sans"/>
            </a:endParaRPr>
          </a:p>
          <a:p>
            <a:pPr marL="0" lvl="0" indent="0" algn="l" rtl="0">
              <a:lnSpc>
                <a:spcPct val="115000"/>
              </a:lnSpc>
              <a:spcBef>
                <a:spcPts val="0"/>
              </a:spcBef>
              <a:spcAft>
                <a:spcPts val="0"/>
              </a:spcAft>
              <a:buClr>
                <a:schemeClr val="dk1"/>
              </a:buClr>
              <a:buSzPts val="1100"/>
              <a:buFont typeface="Arial"/>
              <a:buNone/>
            </a:pPr>
            <a:r>
              <a:rPr lang="en" sz="1000" dirty="0">
                <a:solidFill>
                  <a:srgbClr val="525C65"/>
                </a:solidFill>
                <a:highlight>
                  <a:srgbClr val="FFFFFF"/>
                </a:highlight>
                <a:latin typeface="Open Sans"/>
                <a:ea typeface="Open Sans"/>
                <a:cs typeface="Open Sans"/>
                <a:sym typeface="Open Sans"/>
              </a:rPr>
              <a:t>Head of HR</a:t>
            </a:r>
            <a:endParaRPr sz="11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Clr>
                <a:schemeClr val="dk1"/>
              </a:buClr>
              <a:buSzPts val="1100"/>
              <a:buFont typeface="Arial"/>
              <a:buNone/>
            </a:pPr>
            <a:endParaRPr sz="1000" dirty="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5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Business Requirement</a:t>
            </a:r>
            <a:endParaRPr dirty="0"/>
          </a:p>
        </p:txBody>
      </p:sp>
      <p:sp>
        <p:nvSpPr>
          <p:cNvPr id="2" name="Google Shape;213;p56">
            <a:extLst>
              <a:ext uri="{FF2B5EF4-FFF2-40B4-BE49-F238E27FC236}">
                <a16:creationId xmlns:a16="http://schemas.microsoft.com/office/drawing/2014/main" id="{FE40C933-DA7A-1810-91D7-F01F73C610E0}"/>
              </a:ext>
            </a:extLst>
          </p:cNvPr>
          <p:cNvSpPr txBox="1">
            <a:spLocks/>
          </p:cNvSpPr>
          <p:nvPr/>
        </p:nvSpPr>
        <p:spPr>
          <a:xfrm>
            <a:off x="907451" y="7562335"/>
            <a:ext cx="2978749" cy="220116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15000"/>
              </a:lnSpc>
              <a:spcBef>
                <a:spcPts val="0"/>
              </a:spcBef>
              <a:spcAft>
                <a:spcPts val="0"/>
              </a:spcAft>
              <a:buClr>
                <a:schemeClr val="dk2"/>
              </a:buClr>
              <a:buSzPts val="3000"/>
              <a:buFont typeface="Open Sans Light"/>
              <a:buChar char="●"/>
              <a:defRPr sz="3000" b="0" i="0" u="none" strike="noStrike" cap="none">
                <a:solidFill>
                  <a:schemeClr val="dk2"/>
                </a:solidFill>
                <a:latin typeface="Open Sans Light"/>
                <a:ea typeface="Open Sans Light"/>
                <a:cs typeface="Open Sans Light"/>
                <a:sym typeface="Open Sans Light"/>
              </a:defRPr>
            </a:lvl1pPr>
            <a:lvl2pPr marL="914400" marR="0" lvl="1" indent="-381000" algn="l" rtl="0">
              <a:lnSpc>
                <a:spcPct val="115000"/>
              </a:lnSpc>
              <a:spcBef>
                <a:spcPts val="1600"/>
              </a:spcBef>
              <a:spcAft>
                <a:spcPts val="0"/>
              </a:spcAft>
              <a:buClr>
                <a:schemeClr val="dk2"/>
              </a:buClr>
              <a:buSzPts val="2400"/>
              <a:buFont typeface="Open Sans Light"/>
              <a:buChar char="○"/>
              <a:defRPr sz="2400" b="0" i="0" u="none" strike="noStrike" cap="none">
                <a:solidFill>
                  <a:schemeClr val="dk2"/>
                </a:solidFill>
                <a:latin typeface="Open Sans Light"/>
                <a:ea typeface="Open Sans Light"/>
                <a:cs typeface="Open Sans Light"/>
                <a:sym typeface="Open Sans Light"/>
              </a:defRPr>
            </a:lvl2pPr>
            <a:lvl3pPr marL="1371600" marR="0" lvl="2" indent="-342900" algn="l" rtl="0">
              <a:lnSpc>
                <a:spcPct val="115000"/>
              </a:lnSpc>
              <a:spcBef>
                <a:spcPts val="1600"/>
              </a:spcBef>
              <a:spcAft>
                <a:spcPts val="0"/>
              </a:spcAft>
              <a:buClr>
                <a:schemeClr val="dk2"/>
              </a:buClr>
              <a:buSzPts val="1800"/>
              <a:buFont typeface="Open Sans Light"/>
              <a:buChar char="■"/>
              <a:defRPr sz="1800" b="0" i="0" u="none" strike="noStrike" cap="none">
                <a:solidFill>
                  <a:schemeClr val="dk2"/>
                </a:solidFill>
                <a:latin typeface="Open Sans Light"/>
                <a:ea typeface="Open Sans Light"/>
                <a:cs typeface="Open Sans Light"/>
                <a:sym typeface="Open Sans Light"/>
              </a:defRPr>
            </a:lvl3pPr>
            <a:lvl4pPr marL="1828800" marR="0" lvl="3"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4pPr>
            <a:lvl5pPr marL="2286000" marR="0" lvl="4"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5pPr>
            <a:lvl6pPr marL="2743200" marR="0" lvl="5"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6pPr>
            <a:lvl7pPr marL="3200400" marR="0" lvl="6"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7pPr>
            <a:lvl8pPr marL="3657600" marR="0" lvl="7"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8pPr>
            <a:lvl9pPr marL="4114800" marR="0" lvl="8" indent="-317500" algn="l" rtl="0">
              <a:lnSpc>
                <a:spcPct val="115000"/>
              </a:lnSpc>
              <a:spcBef>
                <a:spcPts val="1600"/>
              </a:spcBef>
              <a:spcAft>
                <a:spcPts val="160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9pPr>
          </a:lstStyle>
          <a:p>
            <a:pPr indent="0">
              <a:spcBef>
                <a:spcPts val="1600"/>
              </a:spcBef>
              <a:spcAft>
                <a:spcPts val="1600"/>
              </a:spcAft>
              <a:buNone/>
            </a:pPr>
            <a:endParaRPr lang="en-US" sz="1400" dirty="0"/>
          </a:p>
        </p:txBody>
      </p:sp>
      <p:sp>
        <p:nvSpPr>
          <p:cNvPr id="10" name="TextBox 9">
            <a:extLst>
              <a:ext uri="{FF2B5EF4-FFF2-40B4-BE49-F238E27FC236}">
                <a16:creationId xmlns:a16="http://schemas.microsoft.com/office/drawing/2014/main" id="{67C8DE7D-764B-DAC9-3E27-FB7662438923}"/>
              </a:ext>
            </a:extLst>
          </p:cNvPr>
          <p:cNvSpPr txBox="1"/>
          <p:nvPr/>
        </p:nvSpPr>
        <p:spPr>
          <a:xfrm>
            <a:off x="2977933" y="6449352"/>
            <a:ext cx="2070482" cy="1169551"/>
          </a:xfrm>
          <a:prstGeom prst="rect">
            <a:avLst/>
          </a:prstGeom>
          <a:noFill/>
        </p:spPr>
        <p:txBody>
          <a:bodyPr wrap="square">
            <a:spAutoFit/>
          </a:bodyPr>
          <a:lstStyle/>
          <a:p>
            <a:r>
              <a:rPr lang="en-GB" dirty="0">
                <a:solidFill>
                  <a:schemeClr val="dk2"/>
                </a:solidFill>
                <a:latin typeface="Open Sans Light"/>
                <a:ea typeface="Open Sans Light"/>
                <a:cs typeface="Open Sans Light"/>
                <a:sym typeface="Open Sans Light"/>
              </a:rPr>
              <a:t>- Manager name</a:t>
            </a:r>
            <a:br>
              <a:rPr lang="en-GB" dirty="0">
                <a:solidFill>
                  <a:schemeClr val="dk2"/>
                </a:solidFill>
                <a:latin typeface="Open Sans Light"/>
                <a:ea typeface="Open Sans Light"/>
                <a:cs typeface="Open Sans Light"/>
                <a:sym typeface="Open Sans Light"/>
              </a:rPr>
            </a:br>
            <a:r>
              <a:rPr lang="en-GB" dirty="0">
                <a:solidFill>
                  <a:schemeClr val="dk2"/>
                </a:solidFill>
                <a:latin typeface="Open Sans Light"/>
                <a:ea typeface="Open Sans Light"/>
                <a:cs typeface="Open Sans Light"/>
                <a:sym typeface="Open Sans Light"/>
              </a:rPr>
              <a:t>- Salary</a:t>
            </a:r>
            <a:br>
              <a:rPr lang="en-GB" dirty="0">
                <a:solidFill>
                  <a:schemeClr val="dk2"/>
                </a:solidFill>
                <a:latin typeface="Open Sans Light"/>
                <a:ea typeface="Open Sans Light"/>
                <a:cs typeface="Open Sans Light"/>
                <a:sym typeface="Open Sans Light"/>
              </a:rPr>
            </a:br>
            <a:r>
              <a:rPr lang="en-GB" dirty="0">
                <a:solidFill>
                  <a:schemeClr val="dk2"/>
                </a:solidFill>
                <a:latin typeface="Open Sans Light"/>
                <a:ea typeface="Open Sans Light"/>
                <a:cs typeface="Open Sans Light"/>
                <a:sym typeface="Open Sans Light"/>
              </a:rPr>
              <a:t>- Start and end dates</a:t>
            </a:r>
            <a:br>
              <a:rPr lang="en-GB" dirty="0">
                <a:solidFill>
                  <a:schemeClr val="dk2"/>
                </a:solidFill>
                <a:latin typeface="Open Sans Light"/>
                <a:ea typeface="Open Sans Light"/>
                <a:cs typeface="Open Sans Light"/>
                <a:sym typeface="Open Sans Light"/>
              </a:rPr>
            </a:br>
            <a:r>
              <a:rPr lang="en-GB" dirty="0">
                <a:solidFill>
                  <a:schemeClr val="dk2"/>
                </a:solidFill>
                <a:latin typeface="Open Sans Light"/>
                <a:ea typeface="Open Sans Light"/>
                <a:cs typeface="Open Sans Light"/>
                <a:sym typeface="Open Sans Light"/>
              </a:rPr>
              <a:t>- Work location details</a:t>
            </a:r>
            <a:br>
              <a:rPr lang="en-GB" dirty="0">
                <a:solidFill>
                  <a:schemeClr val="dk2"/>
                </a:solidFill>
                <a:latin typeface="Open Sans Light"/>
                <a:ea typeface="Open Sans Light"/>
                <a:cs typeface="Open Sans Light"/>
                <a:sym typeface="Open Sans Light"/>
              </a:rPr>
            </a:br>
            <a:r>
              <a:rPr lang="en-GB" dirty="0">
                <a:solidFill>
                  <a:schemeClr val="dk2"/>
                </a:solidFill>
                <a:latin typeface="Open Sans Light"/>
                <a:ea typeface="Open Sans Light"/>
                <a:cs typeface="Open Sans Light"/>
                <a:sym typeface="Open Sans Light"/>
              </a:rPr>
              <a:t>- Education level</a:t>
            </a:r>
          </a:p>
        </p:txBody>
      </p:sp>
      <p:sp>
        <p:nvSpPr>
          <p:cNvPr id="12" name="TextBox 11">
            <a:extLst>
              <a:ext uri="{FF2B5EF4-FFF2-40B4-BE49-F238E27FC236}">
                <a16:creationId xmlns:a16="http://schemas.microsoft.com/office/drawing/2014/main" id="{38CBDC82-8DFC-5ACF-17A9-83D6B73CC543}"/>
              </a:ext>
            </a:extLst>
          </p:cNvPr>
          <p:cNvSpPr txBox="1"/>
          <p:nvPr/>
        </p:nvSpPr>
        <p:spPr>
          <a:xfrm>
            <a:off x="907451" y="6449352"/>
            <a:ext cx="2070482" cy="1384995"/>
          </a:xfrm>
          <a:prstGeom prst="rect">
            <a:avLst/>
          </a:prstGeom>
          <a:noFill/>
        </p:spPr>
        <p:txBody>
          <a:bodyPr wrap="square">
            <a:spAutoFit/>
          </a:bodyPr>
          <a:lstStyle/>
          <a:p>
            <a:r>
              <a:rPr lang="en-GB" dirty="0">
                <a:solidFill>
                  <a:schemeClr val="dk2"/>
                </a:solidFill>
                <a:latin typeface="Open Sans Light"/>
                <a:ea typeface="Open Sans Light"/>
                <a:cs typeface="Open Sans Light"/>
              </a:rPr>
              <a:t>- Employee ID</a:t>
            </a:r>
          </a:p>
          <a:p>
            <a:r>
              <a:rPr lang="en-GB" dirty="0">
                <a:solidFill>
                  <a:schemeClr val="dk2"/>
                </a:solidFill>
                <a:latin typeface="Open Sans Light"/>
                <a:ea typeface="Open Sans Light"/>
                <a:cs typeface="Open Sans Light"/>
              </a:rPr>
              <a:t>- Employee name</a:t>
            </a:r>
            <a:br>
              <a:rPr lang="en-GB" dirty="0">
                <a:solidFill>
                  <a:schemeClr val="dk2"/>
                </a:solidFill>
                <a:latin typeface="Open Sans Light"/>
                <a:ea typeface="Open Sans Light"/>
                <a:cs typeface="Open Sans Light"/>
              </a:rPr>
            </a:br>
            <a:r>
              <a:rPr lang="en-GB" dirty="0">
                <a:solidFill>
                  <a:schemeClr val="dk2"/>
                </a:solidFill>
                <a:latin typeface="Open Sans Light"/>
                <a:ea typeface="Open Sans Light"/>
                <a:cs typeface="Open Sans Light"/>
              </a:rPr>
              <a:t>- Email address</a:t>
            </a:r>
            <a:br>
              <a:rPr lang="en-GB" dirty="0">
                <a:solidFill>
                  <a:schemeClr val="dk2"/>
                </a:solidFill>
                <a:latin typeface="Open Sans Light"/>
                <a:ea typeface="Open Sans Light"/>
                <a:cs typeface="Open Sans Light"/>
              </a:rPr>
            </a:br>
            <a:r>
              <a:rPr lang="en-GB" dirty="0">
                <a:solidFill>
                  <a:schemeClr val="dk2"/>
                </a:solidFill>
                <a:latin typeface="Open Sans Light"/>
                <a:ea typeface="Open Sans Light"/>
                <a:cs typeface="Open Sans Light"/>
              </a:rPr>
              <a:t>- Hire date</a:t>
            </a:r>
            <a:br>
              <a:rPr lang="en-GB" dirty="0">
                <a:solidFill>
                  <a:schemeClr val="dk2"/>
                </a:solidFill>
                <a:latin typeface="Open Sans Light"/>
                <a:ea typeface="Open Sans Light"/>
                <a:cs typeface="Open Sans Light"/>
              </a:rPr>
            </a:br>
            <a:r>
              <a:rPr lang="en-GB" dirty="0">
                <a:solidFill>
                  <a:schemeClr val="dk2"/>
                </a:solidFill>
                <a:latin typeface="Open Sans Light"/>
                <a:ea typeface="Open Sans Light"/>
                <a:cs typeface="Open Sans Light"/>
              </a:rPr>
              <a:t>- Job title</a:t>
            </a:r>
            <a:br>
              <a:rPr lang="en-GB" dirty="0">
                <a:solidFill>
                  <a:schemeClr val="dk2"/>
                </a:solidFill>
                <a:latin typeface="Open Sans Light"/>
                <a:ea typeface="Open Sans Light"/>
                <a:cs typeface="Open Sans Light"/>
              </a:rPr>
            </a:br>
            <a:r>
              <a:rPr lang="en-GB" dirty="0">
                <a:solidFill>
                  <a:schemeClr val="dk2"/>
                </a:solidFill>
                <a:latin typeface="Open Sans Light"/>
                <a:ea typeface="Open Sans Light"/>
                <a:cs typeface="Open Sans Light"/>
              </a:rPr>
              <a:t>- Department</a:t>
            </a:r>
          </a:p>
        </p:txBody>
      </p:sp>
      <p:sp>
        <p:nvSpPr>
          <p:cNvPr id="16" name="Text Placeholder 15">
            <a:extLst>
              <a:ext uri="{FF2B5EF4-FFF2-40B4-BE49-F238E27FC236}">
                <a16:creationId xmlns:a16="http://schemas.microsoft.com/office/drawing/2014/main" id="{7304E2DA-752B-5E59-79D9-996014F94E53}"/>
              </a:ext>
            </a:extLst>
          </p:cNvPr>
          <p:cNvSpPr>
            <a:spLocks noGrp="1"/>
          </p:cNvSpPr>
          <p:nvPr>
            <p:ph type="body" idx="1"/>
          </p:nvPr>
        </p:nvSpPr>
        <p:spPr>
          <a:xfrm>
            <a:off x="264945" y="2253729"/>
            <a:ext cx="7242600" cy="4167391"/>
          </a:xfrm>
        </p:spPr>
        <p:txBody>
          <a:bodyPr/>
          <a:lstStyle/>
          <a:p>
            <a:pPr indent="-349250">
              <a:lnSpc>
                <a:spcPct val="100000"/>
              </a:lnSpc>
              <a:spcBef>
                <a:spcPts val="1600"/>
              </a:spcBef>
              <a:buSzPts val="1900"/>
              <a:buFont typeface="Open Sans"/>
              <a:buChar char="●"/>
            </a:pPr>
            <a:r>
              <a:rPr lang="en-US" sz="1800" b="1" dirty="0">
                <a:latin typeface="Open Sans"/>
                <a:ea typeface="Open Sans"/>
                <a:cs typeface="Open Sans"/>
              </a:rPr>
              <a:t>Purpose of the new database:</a:t>
            </a:r>
          </a:p>
          <a:p>
            <a:pPr indent="0">
              <a:lnSpc>
                <a:spcPct val="100000"/>
              </a:lnSpc>
              <a:buClr>
                <a:schemeClr val="dk1"/>
              </a:buClr>
              <a:buSzPts val="1100"/>
              <a:buNone/>
            </a:pPr>
            <a:r>
              <a:rPr lang="en-US" sz="1400" dirty="0"/>
              <a:t>The purpose of the new database is to provide HR with a secure and reliable system to manage employee information as the company continues to grow. It is intended to replace the current shared spreadsheet, improve data integrity and security, and provide a live system where employee information can be updated and maintained more efficiently.</a:t>
            </a:r>
          </a:p>
          <a:p>
            <a:pPr indent="-349250">
              <a:lnSpc>
                <a:spcPct val="100000"/>
              </a:lnSpc>
              <a:spcBef>
                <a:spcPts val="1600"/>
              </a:spcBef>
              <a:buSzPts val="1900"/>
              <a:buFont typeface="Open Sans"/>
              <a:buChar char="●"/>
            </a:pPr>
            <a:r>
              <a:rPr lang="en-US" sz="1800" b="1" dirty="0">
                <a:latin typeface="Open Sans"/>
                <a:ea typeface="Open Sans"/>
                <a:cs typeface="Open Sans"/>
              </a:rPr>
              <a:t>Describe current data management solution:</a:t>
            </a:r>
          </a:p>
          <a:p>
            <a:pPr indent="0">
              <a:lnSpc>
                <a:spcPct val="100000"/>
              </a:lnSpc>
              <a:buClr>
                <a:schemeClr val="dk1"/>
              </a:buClr>
              <a:buSzPts val="1100"/>
              <a:buNone/>
            </a:pPr>
            <a:r>
              <a:rPr lang="en-US" sz="1400" dirty="0"/>
              <a:t>The current HR solution is based on a shared spreadsheet.</a:t>
            </a:r>
          </a:p>
          <a:p>
            <a:pPr indent="0">
              <a:lnSpc>
                <a:spcPct val="100000"/>
              </a:lnSpc>
              <a:buClr>
                <a:schemeClr val="dk1"/>
              </a:buClr>
              <a:buSzPts val="1100"/>
              <a:buNone/>
            </a:pPr>
            <a:r>
              <a:rPr lang="en-US" sz="1400" dirty="0"/>
              <a:t>- Employee data is stored in Excel.</a:t>
            </a:r>
          </a:p>
          <a:p>
            <a:pPr indent="0">
              <a:lnSpc>
                <a:spcPct val="100000"/>
              </a:lnSpc>
              <a:buClr>
                <a:schemeClr val="dk1"/>
              </a:buClr>
              <a:buSzPts val="1100"/>
              <a:buNone/>
            </a:pPr>
            <a:r>
              <a:rPr lang="en-US" sz="1400" dirty="0"/>
              <a:t>- The spreadsheet is manually maintained by HR.</a:t>
            </a:r>
          </a:p>
          <a:p>
            <a:pPr indent="0">
              <a:lnSpc>
                <a:spcPct val="100000"/>
              </a:lnSpc>
              <a:buClr>
                <a:schemeClr val="dk1"/>
              </a:buClr>
              <a:buSzPts val="1100"/>
              <a:buNone/>
            </a:pPr>
            <a:r>
              <a:rPr lang="en-US" sz="1400" dirty="0"/>
              <a:t>- The solution is becoming difficult to manage as the company grows.</a:t>
            </a:r>
          </a:p>
          <a:p>
            <a:pPr indent="0">
              <a:lnSpc>
                <a:spcPct val="100000"/>
              </a:lnSpc>
              <a:buClr>
                <a:schemeClr val="dk1"/>
              </a:buClr>
              <a:buSzPts val="1100"/>
              <a:buNone/>
            </a:pPr>
            <a:r>
              <a:rPr lang="en-US" sz="1400" dirty="0"/>
              <a:t>- There are concerns around data security and data integrity.</a:t>
            </a:r>
          </a:p>
          <a:p>
            <a:pPr marL="38100" indent="0">
              <a:buNone/>
            </a:pPr>
            <a:endParaRPr lang="en-US" sz="1400" dirty="0">
              <a:latin typeface="Open Sans "/>
            </a:endParaRPr>
          </a:p>
          <a:p>
            <a:pPr indent="-349250">
              <a:lnSpc>
                <a:spcPct val="100000"/>
              </a:lnSpc>
              <a:spcBef>
                <a:spcPts val="1600"/>
              </a:spcBef>
              <a:buSzPts val="1900"/>
              <a:buFont typeface="Open Sans"/>
              <a:buChar char="●"/>
            </a:pPr>
            <a:r>
              <a:rPr lang="en-US" sz="1800" b="1" dirty="0">
                <a:latin typeface="Open Sans"/>
                <a:ea typeface="Open Sans"/>
                <a:cs typeface="Open Sans"/>
              </a:rPr>
              <a:t>Describe current data available:</a:t>
            </a:r>
          </a:p>
          <a:p>
            <a:pPr indent="0">
              <a:lnSpc>
                <a:spcPct val="100000"/>
              </a:lnSpc>
              <a:buClr>
                <a:schemeClr val="dk1"/>
              </a:buClr>
              <a:buSzPts val="1100"/>
              <a:buNone/>
            </a:pPr>
            <a:r>
              <a:rPr lang="en-US" sz="1400" dirty="0"/>
              <a:t>The current spreadsheet contains employee information including:</a:t>
            </a:r>
          </a:p>
          <a:p>
            <a:pPr marL="38100" indent="0">
              <a:buNone/>
            </a:pPr>
            <a:endParaRPr lang="en-GB" sz="1400" dirty="0">
              <a:latin typeface="Open Sans "/>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1C2B-213D-3408-1FCB-027AF66006F9}"/>
              </a:ext>
            </a:extLst>
          </p:cNvPr>
          <p:cNvSpPr>
            <a:spLocks noGrp="1"/>
          </p:cNvSpPr>
          <p:nvPr>
            <p:ph type="title"/>
          </p:nvPr>
        </p:nvSpPr>
        <p:spPr/>
        <p:txBody>
          <a:bodyPr/>
          <a:lstStyle/>
          <a:p>
            <a:r>
              <a:rPr lang="en" dirty="0"/>
              <a:t>Data Architect Business Requirement</a:t>
            </a:r>
            <a:endParaRPr lang="en-GB" dirty="0"/>
          </a:p>
        </p:txBody>
      </p:sp>
      <p:sp>
        <p:nvSpPr>
          <p:cNvPr id="3" name="Text Placeholder 2">
            <a:extLst>
              <a:ext uri="{FF2B5EF4-FFF2-40B4-BE49-F238E27FC236}">
                <a16:creationId xmlns:a16="http://schemas.microsoft.com/office/drawing/2014/main" id="{A2BB68B0-9E76-0DFB-F8C8-9B4F0B1EC2F7}"/>
              </a:ext>
            </a:extLst>
          </p:cNvPr>
          <p:cNvSpPr>
            <a:spLocks noGrp="1"/>
          </p:cNvSpPr>
          <p:nvPr>
            <p:ph type="body" idx="1"/>
          </p:nvPr>
        </p:nvSpPr>
        <p:spPr/>
        <p:txBody>
          <a:bodyPr/>
          <a:lstStyle/>
          <a:p>
            <a:pPr lvl="0" indent="-349250">
              <a:lnSpc>
                <a:spcPct val="100000"/>
              </a:lnSpc>
              <a:spcBef>
                <a:spcPts val="1600"/>
              </a:spcBef>
              <a:buSzPts val="1900"/>
              <a:buFont typeface="Open Sans"/>
              <a:buChar char="●"/>
            </a:pPr>
            <a:r>
              <a:rPr lang="en-US" sz="1800" b="1" dirty="0">
                <a:latin typeface="Open Sans"/>
                <a:ea typeface="Open Sans"/>
                <a:cs typeface="Open Sans"/>
                <a:sym typeface="Open Sans"/>
              </a:rPr>
              <a:t>Additional data requests:</a:t>
            </a:r>
          </a:p>
          <a:p>
            <a:pPr lvl="0" indent="0">
              <a:lnSpc>
                <a:spcPct val="100000"/>
              </a:lnSpc>
              <a:buClr>
                <a:schemeClr val="dk1"/>
              </a:buClr>
              <a:buSzPts val="1100"/>
              <a:buNone/>
            </a:pPr>
            <a:r>
              <a:rPr lang="en-US" sz="1400" dirty="0"/>
              <a:t>The HR department would like the database to support future integration with the payroll system. Future integration may include:</a:t>
            </a:r>
          </a:p>
          <a:p>
            <a:pPr lvl="0" indent="0">
              <a:lnSpc>
                <a:spcPct val="100000"/>
              </a:lnSpc>
              <a:buClr>
                <a:schemeClr val="dk1"/>
              </a:buClr>
              <a:buSzPts val="1100"/>
              <a:buNone/>
            </a:pPr>
            <a:r>
              <a:rPr lang="en-US" sz="1400" dirty="0"/>
              <a:t>- Employee attendance information</a:t>
            </a:r>
          </a:p>
          <a:p>
            <a:pPr lvl="0" indent="0">
              <a:lnSpc>
                <a:spcPct val="100000"/>
              </a:lnSpc>
              <a:buClr>
                <a:schemeClr val="dk1"/>
              </a:buClr>
              <a:buSzPts val="1100"/>
              <a:buNone/>
            </a:pPr>
            <a:r>
              <a:rPr lang="en-US" sz="1400" dirty="0"/>
              <a:t>- Paid time off (PTO) information</a:t>
            </a:r>
          </a:p>
          <a:p>
            <a:pPr lvl="0" indent="0">
              <a:lnSpc>
                <a:spcPct val="100000"/>
              </a:lnSpc>
              <a:buClr>
                <a:schemeClr val="dk1"/>
              </a:buClr>
              <a:buSzPts val="1100"/>
              <a:buNone/>
            </a:pPr>
            <a:r>
              <a:rPr lang="en-US" sz="1400" dirty="0"/>
              <a:t>- Payroll-related employee data</a:t>
            </a:r>
          </a:p>
          <a:p>
            <a:pPr lvl="0" indent="-349250">
              <a:lnSpc>
                <a:spcPct val="100000"/>
              </a:lnSpc>
              <a:spcBef>
                <a:spcPts val="1600"/>
              </a:spcBef>
              <a:buSzPts val="1900"/>
              <a:buFont typeface="Open Sans"/>
              <a:buChar char="●"/>
            </a:pPr>
            <a:r>
              <a:rPr lang="en-US" sz="1800" b="1" dirty="0">
                <a:latin typeface="Open Sans"/>
                <a:ea typeface="Open Sans"/>
                <a:cs typeface="Open Sans"/>
                <a:sym typeface="Open Sans"/>
              </a:rPr>
              <a:t>Who will own/manage data</a:t>
            </a:r>
          </a:p>
          <a:p>
            <a:pPr lvl="0" indent="0">
              <a:lnSpc>
                <a:spcPct val="100000"/>
              </a:lnSpc>
              <a:buNone/>
            </a:pPr>
            <a:r>
              <a:rPr lang="en-US" sz="1400" dirty="0"/>
              <a:t>The HR department will own and manage the employee data stored in the database. Responsibilities includes:</a:t>
            </a:r>
          </a:p>
          <a:p>
            <a:pPr lvl="0" indent="0">
              <a:lnSpc>
                <a:spcPct val="100000"/>
              </a:lnSpc>
              <a:buNone/>
            </a:pPr>
            <a:r>
              <a:rPr lang="en-US" sz="1400" dirty="0"/>
              <a:t>- Maintaining employee records</a:t>
            </a:r>
          </a:p>
          <a:p>
            <a:pPr lvl="0" indent="0">
              <a:lnSpc>
                <a:spcPct val="100000"/>
              </a:lnSpc>
              <a:buNone/>
            </a:pPr>
            <a:r>
              <a:rPr lang="en-US" sz="1400" dirty="0"/>
              <a:t>- Managing updates and corrections</a:t>
            </a:r>
          </a:p>
          <a:p>
            <a:pPr lvl="0" indent="0">
              <a:lnSpc>
                <a:spcPct val="100000"/>
              </a:lnSpc>
              <a:buNone/>
            </a:pPr>
            <a:r>
              <a:rPr lang="en-US" sz="1400" dirty="0"/>
              <a:t>- Controlling access to sensitive information</a:t>
            </a:r>
          </a:p>
          <a:p>
            <a:pPr lvl="0" indent="0">
              <a:lnSpc>
                <a:spcPct val="100000"/>
              </a:lnSpc>
              <a:buNone/>
            </a:pPr>
            <a:r>
              <a:rPr lang="en-US" sz="1400" dirty="0"/>
              <a:t>- Ensuring employee information remains accurate and up to date</a:t>
            </a:r>
          </a:p>
          <a:p>
            <a:pPr lvl="0" indent="0">
              <a:lnSpc>
                <a:spcPct val="100000"/>
              </a:lnSpc>
              <a:buNone/>
            </a:pPr>
            <a:endParaRPr lang="en-US" sz="1400" dirty="0"/>
          </a:p>
          <a:p>
            <a:pPr lvl="0" indent="-349250">
              <a:lnSpc>
                <a:spcPct val="100000"/>
              </a:lnSpc>
              <a:buSzPts val="1900"/>
              <a:buFont typeface="Open Sans"/>
              <a:buChar char="●"/>
            </a:pPr>
            <a:r>
              <a:rPr lang="en-US" sz="1800" b="1" dirty="0">
                <a:latin typeface="Open Sans"/>
                <a:ea typeface="Open Sans"/>
                <a:cs typeface="Open Sans"/>
                <a:sym typeface="Open Sans"/>
              </a:rPr>
              <a:t>Who will have access to database</a:t>
            </a:r>
          </a:p>
          <a:p>
            <a:pPr lvl="0" indent="0">
              <a:lnSpc>
                <a:spcPct val="100000"/>
              </a:lnSpc>
              <a:buClr>
                <a:schemeClr val="dk1"/>
              </a:buClr>
              <a:buSzPts val="1100"/>
              <a:buNone/>
            </a:pPr>
            <a:r>
              <a:rPr lang="en-US" sz="1400" dirty="0"/>
              <a:t>The database will be accessible to employees with a company domain login. Access restrictions will include:</a:t>
            </a:r>
          </a:p>
          <a:p>
            <a:pPr lvl="0" indent="0">
              <a:lnSpc>
                <a:spcPct val="100000"/>
              </a:lnSpc>
              <a:buClr>
                <a:schemeClr val="dk1"/>
              </a:buClr>
              <a:buSzPts val="1100"/>
              <a:buNone/>
            </a:pPr>
            <a:r>
              <a:rPr lang="en-US" sz="1400" dirty="0"/>
              <a:t>- General employees will have read-only access</a:t>
            </a:r>
          </a:p>
          <a:p>
            <a:pPr lvl="0" indent="0">
              <a:lnSpc>
                <a:spcPct val="100000"/>
              </a:lnSpc>
              <a:buClr>
                <a:schemeClr val="dk1"/>
              </a:buClr>
              <a:buSzPts val="1100"/>
              <a:buNone/>
            </a:pPr>
            <a:r>
              <a:rPr lang="en-US" sz="1400" dirty="0"/>
              <a:t>- HR and management employees will have write access</a:t>
            </a:r>
          </a:p>
          <a:p>
            <a:pPr lvl="0" indent="0">
              <a:lnSpc>
                <a:spcPct val="100000"/>
              </a:lnSpc>
              <a:buClr>
                <a:schemeClr val="dk1"/>
              </a:buClr>
              <a:buSzPts val="1100"/>
              <a:buNone/>
            </a:pPr>
            <a:r>
              <a:rPr lang="en-US" sz="1400" dirty="0"/>
              <a:t>- Salary information will be restricted to HR and management users only</a:t>
            </a:r>
          </a:p>
          <a:p>
            <a:endParaRPr lang="en-GB" sz="1800" dirty="0"/>
          </a:p>
        </p:txBody>
      </p:sp>
    </p:spTree>
    <p:extLst>
      <p:ext uri="{BB962C8B-B14F-4D97-AF65-F5344CB8AC3E}">
        <p14:creationId xmlns:p14="http://schemas.microsoft.com/office/powerpoint/2010/main" val="2187238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5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Architect Business Requirement</a:t>
            </a:r>
            <a:endParaRPr/>
          </a:p>
        </p:txBody>
      </p:sp>
      <p:sp>
        <p:nvSpPr>
          <p:cNvPr id="219" name="Google Shape;219;p57"/>
          <p:cNvSpPr txBox="1">
            <a:spLocks noGrp="1"/>
          </p:cNvSpPr>
          <p:nvPr>
            <p:ph type="body" idx="1"/>
          </p:nvPr>
        </p:nvSpPr>
        <p:spPr>
          <a:xfrm>
            <a:off x="264950" y="2253724"/>
            <a:ext cx="7242600" cy="5112276"/>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Estimated size of database</a:t>
            </a:r>
          </a:p>
          <a:p>
            <a:pPr lvl="0" indent="0">
              <a:buClr>
                <a:schemeClr val="dk1"/>
              </a:buClr>
              <a:buSzPts val="1100"/>
              <a:buNone/>
            </a:pPr>
            <a:r>
              <a:rPr lang="en-US" sz="1400" dirty="0"/>
              <a:t>The current database is expected to contain approximately:</a:t>
            </a:r>
          </a:p>
          <a:p>
            <a:pPr lvl="0" indent="0">
              <a:buClr>
                <a:schemeClr val="dk1"/>
              </a:buClr>
              <a:buSzPts val="1100"/>
              <a:buNone/>
            </a:pPr>
            <a:r>
              <a:rPr lang="en-US" sz="1400" dirty="0"/>
              <a:t>- 205 employee records (rows)</a:t>
            </a:r>
          </a:p>
          <a:p>
            <a:pPr lvl="0" indent="0">
              <a:buClr>
                <a:schemeClr val="dk1"/>
              </a:buClr>
              <a:buSzPts val="1100"/>
              <a:buNone/>
            </a:pPr>
            <a:r>
              <a:rPr lang="en-US" sz="1400" dirty="0"/>
              <a:t>- 15 data fields (columns)</a:t>
            </a:r>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Estimated annual growth</a:t>
            </a:r>
            <a:endParaRPr lang="en-US" sz="2000" dirty="0"/>
          </a:p>
          <a:p>
            <a:pPr lvl="0" indent="0">
              <a:buClr>
                <a:schemeClr val="dk1"/>
              </a:buClr>
              <a:buSzPts val="1100"/>
              <a:buNone/>
            </a:pPr>
            <a:r>
              <a:rPr lang="en-US" sz="1400" dirty="0"/>
              <a:t>The business is projecting approximately:</a:t>
            </a:r>
          </a:p>
          <a:p>
            <a:pPr lvl="0" indent="0">
              <a:buClr>
                <a:schemeClr val="dk1"/>
              </a:buClr>
              <a:buSzPts val="1100"/>
              <a:buNone/>
            </a:pPr>
            <a:r>
              <a:rPr lang="en-US" sz="1400" dirty="0"/>
              <a:t>- 20% annual growth in employee data</a:t>
            </a:r>
          </a:p>
          <a:p>
            <a:pPr lvl="0" indent="0">
              <a:buClr>
                <a:schemeClr val="dk1"/>
              </a:buClr>
              <a:buSzPts val="1100"/>
              <a:buNone/>
            </a:pPr>
            <a:r>
              <a:rPr lang="en-US" sz="1400" dirty="0"/>
              <a:t>- Continued expansion across multiple office locations over the next 5 years</a:t>
            </a:r>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Is any of the data sensitive/restricted</a:t>
            </a:r>
            <a:endParaRPr sz="1900" b="1" dirty="0">
              <a:latin typeface="Open Sans"/>
              <a:ea typeface="Open Sans"/>
              <a:cs typeface="Open Sans"/>
              <a:sym typeface="Open Sans"/>
            </a:endParaRPr>
          </a:p>
          <a:p>
            <a:pPr lvl="0" indent="0">
              <a:buClr>
                <a:schemeClr val="dk1"/>
              </a:buClr>
              <a:buSzPts val="1100"/>
              <a:buNone/>
            </a:pPr>
            <a:r>
              <a:rPr lang="en-US" sz="1400" dirty="0"/>
              <a:t>The following information should be treated as sensitive and restricted:</a:t>
            </a:r>
          </a:p>
          <a:p>
            <a:pPr lvl="0" indent="0">
              <a:buClr>
                <a:schemeClr val="dk1"/>
              </a:buClr>
              <a:buSzPts val="1100"/>
              <a:buNone/>
            </a:pPr>
            <a:r>
              <a:rPr lang="en-US" sz="1400" dirty="0"/>
              <a:t>- Employee salary information</a:t>
            </a:r>
          </a:p>
          <a:p>
            <a:pPr lvl="0" indent="0">
              <a:buClr>
                <a:schemeClr val="dk1"/>
              </a:buClr>
              <a:buSzPts val="1100"/>
              <a:buNone/>
            </a:pPr>
            <a:r>
              <a:rPr lang="en-US" sz="1400" dirty="0"/>
              <a:t>- Employee personal information</a:t>
            </a:r>
          </a:p>
          <a:p>
            <a:pPr lvl="0" indent="0">
              <a:buClr>
                <a:schemeClr val="dk1"/>
              </a:buClr>
              <a:buSzPts val="1100"/>
              <a:buNone/>
            </a:pPr>
            <a:r>
              <a:rPr lang="en-US" sz="1400" dirty="0"/>
              <a:t>- HR management and reporting structure information</a:t>
            </a:r>
          </a:p>
          <a:p>
            <a:pPr marL="0" lvl="0" indent="0" algn="l" rtl="0">
              <a:spcBef>
                <a:spcPts val="0"/>
              </a:spcBef>
              <a:spcAft>
                <a:spcPts val="0"/>
              </a:spcAft>
              <a:buNone/>
            </a:pPr>
            <a:endParaRPr sz="1900" b="1" dirty="0">
              <a:latin typeface="Open Sans"/>
              <a:ea typeface="Open Sans"/>
              <a:cs typeface="Open Sans"/>
              <a:sym typeface="Open Sans"/>
            </a:endParaRPr>
          </a:p>
          <a:p>
            <a:pPr marL="457200" lvl="0" indent="0" algn="l" rtl="0">
              <a:lnSpc>
                <a:spcPct val="100000"/>
              </a:lnSpc>
              <a:spcBef>
                <a:spcPts val="1600"/>
              </a:spcBef>
              <a:spcAft>
                <a:spcPts val="0"/>
              </a:spcAft>
              <a:buNone/>
            </a:pPr>
            <a:endParaRPr sz="1700" dirty="0"/>
          </a:p>
          <a:p>
            <a:pPr marL="457200" lvl="0" indent="0" algn="l" rtl="0">
              <a:lnSpc>
                <a:spcPct val="100000"/>
              </a:lnSpc>
              <a:spcBef>
                <a:spcPts val="0"/>
              </a:spcBef>
              <a:spcAft>
                <a:spcPts val="0"/>
              </a:spcAft>
              <a:buNone/>
            </a:pPr>
            <a:endParaRPr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5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Data Architect Technical Requirement</a:t>
            </a:r>
            <a:endParaRPr/>
          </a:p>
        </p:txBody>
      </p:sp>
      <p:sp>
        <p:nvSpPr>
          <p:cNvPr id="225" name="Google Shape;225;p58"/>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Justification for the new database</a:t>
            </a:r>
            <a:endParaRPr lang="en-US" sz="1800" dirty="0"/>
          </a:p>
          <a:p>
            <a:pPr lvl="0" indent="0">
              <a:buClr>
                <a:schemeClr val="dk1"/>
              </a:buClr>
              <a:buSzPts val="1100"/>
              <a:buNone/>
            </a:pPr>
            <a:r>
              <a:rPr lang="en-US" sz="1400" dirty="0"/>
              <a:t>The new database is required to:</a:t>
            </a:r>
          </a:p>
          <a:p>
            <a:pPr lvl="0" indent="0">
              <a:buClr>
                <a:schemeClr val="dk1"/>
              </a:buClr>
              <a:buSzPts val="1100"/>
              <a:buNone/>
            </a:pPr>
            <a:r>
              <a:rPr lang="en-US" sz="1400" dirty="0"/>
              <a:t>- Improve data security and restrict access to sensitive salary information</a:t>
            </a:r>
          </a:p>
          <a:p>
            <a:pPr lvl="0" indent="0">
              <a:buClr>
                <a:schemeClr val="dk1"/>
              </a:buClr>
              <a:buSzPts val="1100"/>
              <a:buNone/>
            </a:pPr>
            <a:r>
              <a:rPr lang="en-US" sz="1400" dirty="0"/>
              <a:t>- Improve data integrity and reduce risks caused by manual spreadsheet updates</a:t>
            </a:r>
          </a:p>
          <a:p>
            <a:pPr lvl="0" indent="0">
              <a:buClr>
                <a:schemeClr val="dk1"/>
              </a:buClr>
              <a:buSzPts val="1100"/>
              <a:buNone/>
            </a:pPr>
            <a:r>
              <a:rPr lang="en-US" sz="1400" dirty="0"/>
              <a:t>- Support future business growth and increasing employee records</a:t>
            </a:r>
          </a:p>
          <a:p>
            <a:pPr lvl="0" indent="0">
              <a:buClr>
                <a:schemeClr val="dk1"/>
              </a:buClr>
              <a:buSzPts val="1100"/>
              <a:buNone/>
            </a:pPr>
            <a:r>
              <a:rPr lang="en-US" sz="1400" dirty="0"/>
              <a:t>- Provide a centralized system for managing employee information</a:t>
            </a: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Database objects</a:t>
            </a:r>
            <a:endParaRPr sz="1900" b="1" dirty="0">
              <a:latin typeface="Open Sans"/>
              <a:ea typeface="Open Sans"/>
              <a:cs typeface="Open Sans"/>
              <a:sym typeface="Open Sans"/>
            </a:endParaRPr>
          </a:p>
          <a:p>
            <a:pPr lvl="0" indent="0">
              <a:buNone/>
            </a:pPr>
            <a:r>
              <a:rPr lang="en-US" sz="1400" dirty="0"/>
              <a:t>The database will include the following objects:</a:t>
            </a:r>
          </a:p>
          <a:p>
            <a:pPr lvl="0" indent="0">
              <a:buNone/>
            </a:pPr>
            <a:r>
              <a:rPr lang="en-US" sz="1400" dirty="0"/>
              <a:t>- Employee table</a:t>
            </a:r>
          </a:p>
          <a:p>
            <a:pPr lvl="0" indent="0">
              <a:buNone/>
            </a:pPr>
            <a:r>
              <a:rPr lang="en-US" sz="1400" dirty="0"/>
              <a:t>- Department table</a:t>
            </a:r>
          </a:p>
          <a:p>
            <a:pPr lvl="0" indent="0">
              <a:buNone/>
            </a:pPr>
            <a:r>
              <a:rPr lang="en-US" sz="1400" dirty="0"/>
              <a:t>- Job title table</a:t>
            </a:r>
          </a:p>
          <a:p>
            <a:pPr lvl="0" indent="0">
              <a:buNone/>
            </a:pPr>
            <a:r>
              <a:rPr lang="en-US" sz="1400" dirty="0"/>
              <a:t>- Location table</a:t>
            </a:r>
          </a:p>
          <a:p>
            <a:pPr lvl="0" indent="0">
              <a:buNone/>
            </a:pPr>
            <a:r>
              <a:rPr lang="en-US" sz="1400" dirty="0"/>
              <a:t>- Education level table</a:t>
            </a:r>
          </a:p>
          <a:p>
            <a:pPr lvl="0" indent="0">
              <a:buNone/>
            </a:pPr>
            <a:r>
              <a:rPr lang="en-US" sz="1400" dirty="0"/>
              <a:t>- Employee job history table</a:t>
            </a:r>
          </a:p>
          <a:p>
            <a:pPr lvl="0" indent="0">
              <a:buNone/>
            </a:pPr>
            <a:r>
              <a:rPr lang="en-US" sz="1400" dirty="0"/>
              <a:t>- Employee salary table</a:t>
            </a:r>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Data ingestion</a:t>
            </a:r>
            <a:endParaRPr sz="1900" b="1" dirty="0">
              <a:latin typeface="Open Sans"/>
              <a:ea typeface="Open Sans"/>
              <a:cs typeface="Open Sans"/>
              <a:sym typeface="Open Sans"/>
            </a:endParaRPr>
          </a:p>
          <a:p>
            <a:pPr indent="0">
              <a:buNone/>
            </a:pPr>
            <a:r>
              <a:rPr lang="en-US" sz="1400" dirty="0"/>
              <a:t>The proposed data ingestion method is “</a:t>
            </a:r>
            <a:r>
              <a:rPr lang="en-US" sz="1400" b="1" dirty="0"/>
              <a:t>ETL (Extract, Transform, Load)</a:t>
            </a:r>
            <a:r>
              <a:rPr lang="en-US" sz="1400" dirty="0"/>
              <a:t>”. This approach is suitable because the current employee data is stored in Excel spreadsheets and will need to be cleaned and loaded into the new database.</a:t>
            </a:r>
            <a:endParaRPr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9"/>
        <p:cNvGrpSpPr/>
        <p:nvPr/>
      </p:nvGrpSpPr>
      <p:grpSpPr>
        <a:xfrm>
          <a:off x="0" y="0"/>
          <a:ext cx="0" cy="0"/>
          <a:chOff x="0" y="0"/>
          <a:chExt cx="0" cy="0"/>
        </a:xfrm>
      </p:grpSpPr>
      <p:sp>
        <p:nvSpPr>
          <p:cNvPr id="230" name="Google Shape;230;p59"/>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Data Architect Technical Requirement</a:t>
            </a:r>
            <a:endParaRPr dirty="0"/>
          </a:p>
        </p:txBody>
      </p:sp>
      <p:sp>
        <p:nvSpPr>
          <p:cNvPr id="231" name="Google Shape;231;p59"/>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Data governance (Ownership and User access)</a:t>
            </a:r>
            <a:endParaRPr sz="1900" b="1" dirty="0">
              <a:latin typeface="Open Sans"/>
              <a:ea typeface="Open Sans"/>
              <a:cs typeface="Open Sans"/>
              <a:sym typeface="Open Sans"/>
            </a:endParaRPr>
          </a:p>
          <a:p>
            <a:pPr indent="0">
              <a:lnSpc>
                <a:spcPct val="100000"/>
              </a:lnSpc>
              <a:spcBef>
                <a:spcPts val="1600"/>
              </a:spcBef>
              <a:buNone/>
            </a:pPr>
            <a:r>
              <a:rPr lang="en" sz="1400" b="1" dirty="0">
                <a:latin typeface="Open Sans"/>
                <a:ea typeface="Open Sans"/>
                <a:cs typeface="Open Sans"/>
                <a:sym typeface="Open Sans"/>
              </a:rPr>
              <a:t>Ownership: </a:t>
            </a:r>
            <a:r>
              <a:rPr lang="en-GB" sz="1400" dirty="0"/>
              <a:t>HR will own and maintain the employee data. IT will manage database security, backups, and access control.</a:t>
            </a:r>
            <a:endParaRPr sz="1400" dirty="0"/>
          </a:p>
          <a:p>
            <a:pPr indent="0">
              <a:lnSpc>
                <a:spcPct val="100000"/>
              </a:lnSpc>
              <a:spcBef>
                <a:spcPts val="1600"/>
              </a:spcBef>
              <a:buNone/>
            </a:pPr>
            <a:r>
              <a:rPr lang="en" sz="1400" b="1" dirty="0">
                <a:latin typeface="Open Sans"/>
                <a:ea typeface="Open Sans"/>
                <a:cs typeface="Open Sans"/>
                <a:sym typeface="Open Sans"/>
              </a:rPr>
              <a:t>User Access: </a:t>
            </a:r>
            <a:r>
              <a:rPr lang="en-GB" sz="1400" dirty="0"/>
              <a:t>General employees will have read-only access. HR and management users will have read and write access. Salary information will only be accessible to HR and management users.</a:t>
            </a:r>
          </a:p>
          <a:p>
            <a:pPr marL="457200" lvl="0" indent="-349250" algn="l" rtl="0">
              <a:spcBef>
                <a:spcPts val="0"/>
              </a:spcBef>
              <a:spcAft>
                <a:spcPts val="0"/>
              </a:spcAft>
              <a:buSzPts val="1900"/>
              <a:buFont typeface="Open Sans"/>
              <a:buChar char="●"/>
            </a:pPr>
            <a:endParaRPr lang="en" sz="1900" b="1" dirty="0">
              <a:latin typeface="Open Sans"/>
              <a:ea typeface="Open Sans"/>
              <a:cs typeface="Open Sans"/>
              <a:sym typeface="Open Sans"/>
            </a:endParaRPr>
          </a:p>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Scalability</a:t>
            </a:r>
          </a:p>
          <a:p>
            <a:pPr lvl="0" indent="0">
              <a:buNone/>
            </a:pPr>
            <a:r>
              <a:rPr lang="en-GB" sz="1400" dirty="0"/>
              <a:t>Replication or sharding is not required at this stage. The database size is small, and expected growth can be handled by a standard relational database design.</a:t>
            </a:r>
          </a:p>
          <a:p>
            <a:pPr marL="107950" indent="0">
              <a:buSzPts val="1900"/>
              <a:buNone/>
            </a:pPr>
            <a:endParaRPr lang="en-GB" sz="1700" b="1" dirty="0">
              <a:latin typeface="Open Sans"/>
              <a:ea typeface="Open Sans"/>
              <a:cs typeface="Open Sans"/>
              <a:sym typeface="Open Sans"/>
            </a:endParaRPr>
          </a:p>
          <a:p>
            <a:pPr indent="-349250">
              <a:buSzPts val="1900"/>
              <a:buFont typeface="Open Sans"/>
              <a:buChar char="●"/>
            </a:pPr>
            <a:r>
              <a:rPr lang="en" sz="1900" b="1" dirty="0">
                <a:latin typeface="Open Sans"/>
                <a:ea typeface="Open Sans"/>
                <a:cs typeface="Open Sans"/>
                <a:sym typeface="Open Sans"/>
              </a:rPr>
              <a:t>Flexibility</a:t>
            </a:r>
            <a:endParaRPr sz="1900" b="1" dirty="0">
              <a:latin typeface="Open Sans"/>
              <a:ea typeface="Open Sans"/>
              <a:cs typeface="Open Sans"/>
            </a:endParaRPr>
          </a:p>
          <a:p>
            <a:pPr lvl="0" indent="0">
              <a:buNone/>
            </a:pPr>
            <a:r>
              <a:rPr lang="en-GB" sz="1400" dirty="0"/>
              <a:t>The database will use unique employee IDs to support future system integration. Data will be stored in normalized tables to support future payroll integration.</a:t>
            </a:r>
          </a:p>
          <a:p>
            <a:pPr lvl="0" indent="0">
              <a:spcBef>
                <a:spcPts val="1600"/>
              </a:spcBef>
              <a:buNone/>
            </a:pPr>
            <a:r>
              <a:rPr lang="en" sz="1900" b="1" dirty="0">
                <a:latin typeface="Open Sans"/>
                <a:ea typeface="Open Sans"/>
                <a:cs typeface="Open Sans"/>
                <a:sym typeface="Open Sans"/>
              </a:rPr>
              <a:t>Storage &amp; retention</a:t>
            </a:r>
            <a:endParaRPr sz="1900" b="1" dirty="0">
              <a:latin typeface="Open Sans"/>
              <a:ea typeface="Open Sans"/>
              <a:cs typeface="Open Sans"/>
              <a:sym typeface="Open Sans"/>
            </a:endParaRPr>
          </a:p>
          <a:p>
            <a:pPr lvl="0" indent="0">
              <a:lnSpc>
                <a:spcPct val="100000"/>
              </a:lnSpc>
              <a:spcBef>
                <a:spcPts val="1600"/>
              </a:spcBef>
              <a:buNone/>
            </a:pPr>
            <a:r>
              <a:rPr lang="en" sz="1400" b="1" dirty="0">
                <a:latin typeface="Open Sans"/>
                <a:ea typeface="Open Sans"/>
                <a:cs typeface="Open Sans"/>
                <a:sym typeface="Open Sans"/>
              </a:rPr>
              <a:t>Storage (disk or in-memory): </a:t>
            </a:r>
            <a:r>
              <a:rPr lang="en-GB" sz="1400" dirty="0"/>
              <a:t>Disk-based storage will be used for the database.</a:t>
            </a:r>
            <a:endParaRPr sz="1400" dirty="0"/>
          </a:p>
          <a:p>
            <a:pPr marL="457200" lvl="0" indent="0" algn="l" rtl="0">
              <a:lnSpc>
                <a:spcPct val="100000"/>
              </a:lnSpc>
              <a:spcBef>
                <a:spcPts val="0"/>
              </a:spcBef>
              <a:spcAft>
                <a:spcPts val="0"/>
              </a:spcAft>
              <a:buNone/>
            </a:pPr>
            <a:endParaRPr sz="1400" dirty="0"/>
          </a:p>
          <a:p>
            <a:pPr lvl="0" indent="0">
              <a:lnSpc>
                <a:spcPct val="100000"/>
              </a:lnSpc>
              <a:buNone/>
            </a:pPr>
            <a:r>
              <a:rPr lang="en" sz="1400" b="1" dirty="0">
                <a:latin typeface="Open Sans"/>
                <a:ea typeface="Open Sans"/>
                <a:cs typeface="Open Sans"/>
                <a:sym typeface="Open Sans"/>
              </a:rPr>
              <a:t>Retention: </a:t>
            </a:r>
            <a:r>
              <a:rPr lang="en-GB" sz="1400" dirty="0"/>
              <a:t>Employee data must be retained for a minimum of 7 years.</a:t>
            </a:r>
            <a:endParaRPr sz="1400" dirty="0"/>
          </a:p>
          <a:p>
            <a:pPr marL="457200" lvl="0" indent="0" algn="l" rtl="0">
              <a:lnSpc>
                <a:spcPct val="100000"/>
              </a:lnSpc>
              <a:spcBef>
                <a:spcPts val="0"/>
              </a:spcBef>
              <a:spcAft>
                <a:spcPts val="0"/>
              </a:spcAft>
              <a:buNone/>
            </a:pPr>
            <a:endParaRPr sz="1700" dirty="0"/>
          </a:p>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Backup</a:t>
            </a:r>
            <a:endParaRPr sz="1900" b="1" dirty="0">
              <a:latin typeface="Open Sans"/>
              <a:ea typeface="Open Sans"/>
              <a:cs typeface="Open Sans"/>
              <a:sym typeface="Open Sans"/>
            </a:endParaRPr>
          </a:p>
          <a:p>
            <a:pPr lvl="0" indent="0">
              <a:buNone/>
            </a:pPr>
            <a:r>
              <a:rPr lang="en-GB" sz="1400" dirty="0"/>
              <a:t>- Weekly full and Daily incremental backups will be performed.</a:t>
            </a:r>
          </a:p>
          <a:p>
            <a:pPr lvl="0" indent="0">
              <a:buNone/>
            </a:pPr>
            <a:r>
              <a:rPr lang="en-GB" sz="1400" dirty="0"/>
              <a:t>- Backups are required because the database contains business critical HR data</a:t>
            </a:r>
            <a:endParaRPr sz="1400" dirty="0"/>
          </a:p>
          <a:p>
            <a:pPr marL="0" lvl="0" indent="0" algn="l" rtl="0">
              <a:lnSpc>
                <a:spcPct val="100000"/>
              </a:lnSpc>
              <a:spcBef>
                <a:spcPts val="0"/>
              </a:spcBef>
              <a:spcAft>
                <a:spcPts val="0"/>
              </a:spcAft>
              <a:buClr>
                <a:schemeClr val="dk1"/>
              </a:buClr>
              <a:buSzPts val="1100"/>
              <a:buFont typeface="Arial"/>
              <a:buNone/>
            </a:pPr>
            <a:endParaRPr sz="1700" dirty="0"/>
          </a:p>
        </p:txBody>
      </p:sp>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5"/>
        <p:cNvGrpSpPr/>
        <p:nvPr/>
      </p:nvGrpSpPr>
      <p:grpSpPr>
        <a:xfrm>
          <a:off x="0" y="0"/>
          <a:ext cx="0" cy="0"/>
          <a:chOff x="0" y="0"/>
          <a:chExt cx="0" cy="0"/>
        </a:xfrm>
      </p:grpSpPr>
      <p:sp>
        <p:nvSpPr>
          <p:cNvPr id="236" name="Google Shape;236;p60"/>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Relational Database Design</a:t>
            </a:r>
            <a:endParaRPr sz="3000">
              <a:solidFill>
                <a:srgbClr val="FFFFFF"/>
              </a:solidFill>
              <a:latin typeface="Open Sans"/>
              <a:ea typeface="Open Sans"/>
              <a:cs typeface="Open Sans"/>
              <a:sym typeface="Open Sans"/>
            </a:endParaRPr>
          </a:p>
        </p:txBody>
      </p:sp>
      <p:sp>
        <p:nvSpPr>
          <p:cNvPr id="237" name="Google Shape;237;p6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6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Step 2: Relational Database Design</a:t>
            </a:r>
            <a:endParaRPr/>
          </a:p>
        </p:txBody>
      </p:sp>
      <p:sp>
        <p:nvSpPr>
          <p:cNvPr id="243" name="Google Shape;243;p61"/>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None/>
            </a:pPr>
            <a:r>
              <a:rPr lang="en" sz="1500">
                <a:solidFill>
                  <a:srgbClr val="525C65"/>
                </a:solidFill>
                <a:highlight>
                  <a:srgbClr val="FFFFFF"/>
                </a:highlight>
                <a:latin typeface="Open Sans"/>
                <a:ea typeface="Open Sans"/>
                <a:cs typeface="Open Sans"/>
                <a:sym typeface="Open Sans"/>
              </a:rPr>
              <a:t>This step is where you will go through the process of designing a new database for Tech ABC Corp's HR department. Using the </a:t>
            </a:r>
            <a:r>
              <a:rPr lang="en" sz="1500" u="sng">
                <a:solidFill>
                  <a:schemeClr val="hlink"/>
                </a:solidFill>
                <a:highlight>
                  <a:srgbClr val="FFFFFF"/>
                </a:highlight>
                <a:latin typeface="Open Sans"/>
                <a:ea typeface="Open Sans"/>
                <a:cs typeface="Open Sans"/>
                <a:sym typeface="Open Sans"/>
                <a:hlinkClick r:id="rId3"/>
              </a:rPr>
              <a:t>dataset</a:t>
            </a:r>
            <a:r>
              <a:rPr lang="en" sz="1500">
                <a:solidFill>
                  <a:srgbClr val="525C65"/>
                </a:solidFill>
                <a:highlight>
                  <a:srgbClr val="FFFFFF"/>
                </a:highlight>
                <a:latin typeface="Open Sans"/>
                <a:ea typeface="Open Sans"/>
                <a:cs typeface="Open Sans"/>
                <a:sym typeface="Open Sans"/>
              </a:rPr>
              <a:t> provided, along with the requirements gathered in step one, you are going to develop a relational database set to the 3NF.</a:t>
            </a:r>
            <a:endParaRPr sz="1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500">
                <a:solidFill>
                  <a:srgbClr val="525C65"/>
                </a:solidFill>
                <a:highlight>
                  <a:srgbClr val="FFFFFF"/>
                </a:highlight>
                <a:latin typeface="Open Sans"/>
                <a:ea typeface="Open Sans"/>
                <a:cs typeface="Open Sans"/>
                <a:sym typeface="Open Sans"/>
              </a:rPr>
              <a:t>Using Lucidchart, you will create 3 entity relationship diagrams (ERDs) to show how you developed the final design for your data.</a:t>
            </a:r>
            <a:endParaRPr sz="1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5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Clr>
                <a:schemeClr val="dk1"/>
              </a:buClr>
              <a:buSzPts val="1100"/>
              <a:buFont typeface="Arial"/>
              <a:buNone/>
            </a:pPr>
            <a:r>
              <a:rPr lang="en" sz="1500">
                <a:solidFill>
                  <a:srgbClr val="525C65"/>
                </a:solidFill>
                <a:highlight>
                  <a:srgbClr val="FFFFFF"/>
                </a:highlight>
                <a:latin typeface="Open Sans"/>
                <a:ea typeface="Open Sans"/>
                <a:cs typeface="Open Sans"/>
                <a:sym typeface="Open Sans"/>
              </a:rPr>
              <a:t>You will submit a screenshot for each of the 3 ERDs you create. You will find detailed instructions for developing each of the ERDs over the next several pages.</a:t>
            </a:r>
            <a:endParaRPr sz="1500">
              <a:solidFill>
                <a:srgbClr val="525C65"/>
              </a:solidFill>
              <a:highlight>
                <a:srgbClr val="FFFFFF"/>
              </a:highlight>
              <a:latin typeface="Open Sans"/>
              <a:ea typeface="Open Sans"/>
              <a:cs typeface="Open Sans"/>
              <a:sym typeface="Open Sans"/>
            </a:endParaRPr>
          </a:p>
          <a:p>
            <a:pPr marL="0" lvl="0" indent="0" algn="l" rtl="0">
              <a:spcBef>
                <a:spcPts val="1100"/>
              </a:spcBef>
              <a:spcAft>
                <a:spcPts val="1600"/>
              </a:spcAft>
              <a:buNone/>
            </a:pP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49" name="Google Shape;249;p62"/>
          <p:cNvSpPr txBox="1">
            <a:spLocks noGrp="1"/>
          </p:cNvSpPr>
          <p:nvPr>
            <p:ph type="body" idx="1"/>
          </p:nvPr>
        </p:nvSpPr>
        <p:spPr>
          <a:xfrm>
            <a:off x="264950" y="225372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Conceptual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rgbClr val="FFFFFF"/>
                </a:highlight>
                <a:latin typeface="Open Sans"/>
                <a:ea typeface="Open Sans"/>
                <a:cs typeface="Open Sans"/>
                <a:sym typeface="Open Sans"/>
              </a:rPr>
              <a:t>This is the most general level of data modeling. At the conceptual level, you should be thinking about creating entities that represent business objects for the database. Think broadly here. Attributes (or column names) are not required at this point, but relationship lines are required (although Crow's foot notation is not needed at this level). Create at least three entities for this model; thinking about the 3NF will aid you in deciding the type of entities to create.</a:t>
            </a: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200" dirty="0">
                <a:solidFill>
                  <a:srgbClr val="525C65"/>
                </a:solidFill>
                <a:highlight>
                  <a:srgbClr val="FFFFFF"/>
                </a:highlight>
                <a:latin typeface="Open Sans"/>
                <a:ea typeface="Open Sans"/>
                <a:cs typeface="Open Sans"/>
                <a:sym typeface="Open Sans"/>
              </a:rPr>
              <a:t>Use Lucidchart’s built-in template for DBMS ER Diagram UML.</a:t>
            </a: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None/>
            </a:pPr>
            <a:endParaRPr sz="12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0"/>
              </a:spcBef>
              <a:spcAft>
                <a:spcPts val="0"/>
              </a:spcAft>
              <a:buNone/>
            </a:pPr>
            <a:endParaRPr sz="1200" dirty="0">
              <a:solidFill>
                <a:srgbClr val="525C65"/>
              </a:solidFill>
              <a:highlight>
                <a:srgbClr val="FFFFFF"/>
              </a:highlight>
              <a:latin typeface="Open Sans"/>
              <a:ea typeface="Open Sans"/>
              <a:cs typeface="Open Sans"/>
              <a:sym typeface="Open Sans"/>
            </a:endParaRPr>
          </a:p>
          <a:p>
            <a:pPr marL="457200" lvl="0" indent="0" algn="l" rtl="0">
              <a:spcBef>
                <a:spcPts val="0"/>
              </a:spcBef>
              <a:spcAft>
                <a:spcPts val="1600"/>
              </a:spcAft>
              <a:buClr>
                <a:schemeClr val="dk1"/>
              </a:buClr>
              <a:buSzPts val="1100"/>
              <a:buFont typeface="Arial"/>
              <a:buNone/>
            </a:pPr>
            <a:endParaRPr sz="1900" dirty="0"/>
          </a:p>
        </p:txBody>
      </p:sp>
      <p:pic>
        <p:nvPicPr>
          <p:cNvPr id="3" name="Picture 2">
            <a:extLst>
              <a:ext uri="{FF2B5EF4-FFF2-40B4-BE49-F238E27FC236}">
                <a16:creationId xmlns:a16="http://schemas.microsoft.com/office/drawing/2014/main" id="{0FA426DF-3EB2-5B29-14C6-AD8D9874DE10}"/>
              </a:ext>
            </a:extLst>
          </p:cNvPr>
          <p:cNvPicPr>
            <a:picLocks noChangeAspect="1"/>
          </p:cNvPicPr>
          <p:nvPr/>
        </p:nvPicPr>
        <p:blipFill>
          <a:blip r:embed="rId3"/>
          <a:stretch>
            <a:fillRect/>
          </a:stretch>
        </p:blipFill>
        <p:spPr>
          <a:xfrm>
            <a:off x="264850" y="5313680"/>
            <a:ext cx="6969070" cy="331216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6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56" name="Google Shape;256;p63"/>
          <p:cNvSpPr txBox="1">
            <a:spLocks noGrp="1"/>
          </p:cNvSpPr>
          <p:nvPr>
            <p:ph type="body" idx="1"/>
          </p:nvPr>
        </p:nvSpPr>
        <p:spPr>
          <a:xfrm>
            <a:off x="264850" y="1816844"/>
            <a:ext cx="7242600" cy="7731900"/>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Logical</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logical model is the next level of refinement from the conceptual ERD. At this point, you should have normalized the data to the 3NF. Attributes should also be listed now in the ERD. You can still use human-friendly entity and attribute names in the logical model, and while relationship lines are required, Crow's foot notation is still not needed at this point.</a:t>
            </a:r>
            <a:endParaRPr sz="14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400" dirty="0">
                <a:solidFill>
                  <a:srgbClr val="525C65"/>
                </a:solidFill>
                <a:highlight>
                  <a:srgbClr val="FFFFFF"/>
                </a:highlight>
                <a:latin typeface="Open Sans"/>
                <a:ea typeface="Open Sans"/>
                <a:cs typeface="Open Sans"/>
                <a:sym typeface="Open Sans"/>
              </a:rPr>
              <a:t>Use Lucidchart’s built-in template for DBMS ER Diagram UML.</a:t>
            </a:r>
            <a:endParaRPr sz="1400" dirty="0">
              <a:solidFill>
                <a:srgbClr val="525C65"/>
              </a:solidFill>
              <a:highlight>
                <a:srgbClr val="FFFFFF"/>
              </a:highlight>
              <a:latin typeface="Open Sans"/>
              <a:ea typeface="Open Sans"/>
              <a:cs typeface="Open Sans"/>
              <a:sym typeface="Open Sans"/>
            </a:endParaRPr>
          </a:p>
          <a:p>
            <a:pPr marL="457200" lvl="0" indent="0" algn="l" rtl="0">
              <a:spcBef>
                <a:spcPts val="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0"/>
              </a:spcAft>
              <a:buNone/>
            </a:pPr>
            <a:endParaRPr sz="1900" dirty="0"/>
          </a:p>
          <a:p>
            <a:pPr marL="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C331EB5E-11D8-4A6D-0411-2A0C93A01961}"/>
              </a:ext>
            </a:extLst>
          </p:cNvPr>
          <p:cNvPicPr>
            <a:picLocks noChangeAspect="1"/>
          </p:cNvPicPr>
          <p:nvPr/>
        </p:nvPicPr>
        <p:blipFill>
          <a:blip r:embed="rId3"/>
          <a:stretch>
            <a:fillRect/>
          </a:stretch>
        </p:blipFill>
        <p:spPr>
          <a:xfrm>
            <a:off x="345440" y="4798257"/>
            <a:ext cx="7162010" cy="5087423"/>
          </a:xfrm>
          <a:prstGeom prst="rect">
            <a:avLst/>
          </a:prstGeom>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6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ERD</a:t>
            </a:r>
            <a:endParaRPr/>
          </a:p>
        </p:txBody>
      </p:sp>
      <p:sp>
        <p:nvSpPr>
          <p:cNvPr id="263" name="Google Shape;263;p64"/>
          <p:cNvSpPr txBox="1">
            <a:spLocks noGrp="1"/>
          </p:cNvSpPr>
          <p:nvPr>
            <p:ph type="body" idx="1"/>
          </p:nvPr>
        </p:nvSpPr>
        <p:spPr>
          <a:xfrm>
            <a:off x="264900" y="1766654"/>
            <a:ext cx="7242600" cy="3262546"/>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Physical</a:t>
            </a:r>
            <a:endParaRPr sz="1900" b="1" dirty="0">
              <a:latin typeface="Open Sans"/>
              <a:ea typeface="Open Sans"/>
              <a:cs typeface="Open Sans"/>
              <a:sym typeface="Open Sans"/>
            </a:endParaRPr>
          </a:p>
          <a:p>
            <a:pPr marL="457200" lvl="0" indent="0" algn="l" rtl="0">
              <a:lnSpc>
                <a:spcPct val="170000"/>
              </a:lnSpc>
              <a:spcBef>
                <a:spcPts val="1600"/>
              </a:spcBef>
              <a:spcAft>
                <a:spcPts val="0"/>
              </a:spcAft>
              <a:buNone/>
            </a:pPr>
            <a:r>
              <a:rPr lang="en" sz="1400" dirty="0">
                <a:solidFill>
                  <a:srgbClr val="525C65"/>
                </a:solidFill>
                <a:highlight>
                  <a:srgbClr val="FFFFFF"/>
                </a:highlight>
                <a:latin typeface="Open Sans"/>
                <a:ea typeface="Open Sans"/>
                <a:cs typeface="Open Sans"/>
                <a:sym typeface="Open Sans"/>
              </a:rPr>
              <a:t>The physical model is what will be built in the database. Each entity should represent a database table, complete with column names and data types. Primary keys and foreign keys should also be represented here. Primary keys should be in bold type with the (PK) designation following the field name. Foreign keys should be in normal type face, but have the designation (FK) after the column name. Finally, in the physical model, Crow's foot notation is important.</a:t>
            </a:r>
            <a:endParaRPr sz="1200" dirty="0">
              <a:solidFill>
                <a:srgbClr val="525C65"/>
              </a:solidFill>
              <a:highlight>
                <a:schemeClr val="lt1"/>
              </a:highlight>
              <a:latin typeface="Open Sans"/>
              <a:ea typeface="Open Sans"/>
              <a:cs typeface="Open Sans"/>
              <a:sym typeface="Open Sans"/>
            </a:endParaRPr>
          </a:p>
          <a:p>
            <a:pPr marL="457200" lvl="0" indent="0" algn="l" rtl="0">
              <a:spcBef>
                <a:spcPts val="0"/>
              </a:spcBef>
              <a:spcAft>
                <a:spcPts val="1600"/>
              </a:spcAft>
              <a:buNone/>
            </a:pPr>
            <a:endParaRPr sz="1500" dirty="0">
              <a:solidFill>
                <a:srgbClr val="525C65"/>
              </a:solidFill>
              <a:highlight>
                <a:srgbClr val="FFFFFF"/>
              </a:highlight>
              <a:latin typeface="Open Sans"/>
              <a:ea typeface="Open Sans"/>
              <a:cs typeface="Open Sans"/>
              <a:sym typeface="Open Sans"/>
            </a:endParaRPr>
          </a:p>
        </p:txBody>
      </p:sp>
      <p:pic>
        <p:nvPicPr>
          <p:cNvPr id="4" name="Picture 3">
            <a:extLst>
              <a:ext uri="{FF2B5EF4-FFF2-40B4-BE49-F238E27FC236}">
                <a16:creationId xmlns:a16="http://schemas.microsoft.com/office/drawing/2014/main" id="{24632A6F-727E-0CA6-04D0-E39ACCE132AB}"/>
              </a:ext>
            </a:extLst>
          </p:cNvPr>
          <p:cNvPicPr>
            <a:picLocks noChangeAspect="1"/>
          </p:cNvPicPr>
          <p:nvPr/>
        </p:nvPicPr>
        <p:blipFill>
          <a:blip r:embed="rId3"/>
          <a:stretch>
            <a:fillRect/>
          </a:stretch>
        </p:blipFill>
        <p:spPr>
          <a:xfrm>
            <a:off x="264900" y="5178037"/>
            <a:ext cx="7242600" cy="41018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1807121" y="4003549"/>
            <a:ext cx="4158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Create A Physical Database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Step 3: Create A Physical Database</a:t>
            </a:r>
            <a:endParaRPr dirty="0"/>
          </a:p>
        </p:txBody>
      </p:sp>
      <p:sp>
        <p:nvSpPr>
          <p:cNvPr id="276" name="Google Shape;276;p66"/>
          <p:cNvSpPr txBox="1">
            <a:spLocks noGrp="1"/>
          </p:cNvSpPr>
          <p:nvPr>
            <p:ph type="body" idx="1"/>
          </p:nvPr>
        </p:nvSpPr>
        <p:spPr>
          <a:xfrm>
            <a:off x="264895" y="2381604"/>
            <a:ext cx="7242600" cy="6239700"/>
          </a:xfrm>
          <a:prstGeom prst="rect">
            <a:avLst/>
          </a:prstGeom>
        </p:spPr>
        <p:txBody>
          <a:bodyPr spcFirstLastPara="1" wrap="square" lIns="91425" tIns="91425" rIns="91425" bIns="91425" anchor="t" anchorCtr="0">
            <a:noAutofit/>
          </a:bodyPr>
          <a:lstStyle/>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In this step, you will be turning your database model into a physical database.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110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You will:</a:t>
            </a:r>
            <a:endParaRPr sz="1550" b="1"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110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Create the database using SQL DDL commands</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Load the data into your database, utilizing flat file ETL</a:t>
            </a:r>
            <a:endParaRPr sz="1550" dirty="0">
              <a:solidFill>
                <a:srgbClr val="525C65"/>
              </a:solidFill>
              <a:highlight>
                <a:srgbClr val="FFFFFF"/>
              </a:highlight>
              <a:latin typeface="Open Sans"/>
              <a:ea typeface="Open Sans"/>
              <a:cs typeface="Open Sans"/>
              <a:sym typeface="Open Sans"/>
            </a:endParaRPr>
          </a:p>
          <a:p>
            <a:pPr marL="457200" marR="241300" lvl="0" indent="-327025" algn="l" rtl="0">
              <a:lnSpc>
                <a:spcPct val="100000"/>
              </a:lnSpc>
              <a:spcBef>
                <a:spcPts val="0"/>
              </a:spcBef>
              <a:spcAft>
                <a:spcPts val="0"/>
              </a:spcAft>
              <a:buClr>
                <a:srgbClr val="525C65"/>
              </a:buClr>
              <a:buSzPts val="1550"/>
              <a:buFont typeface="Open Sans"/>
              <a:buChar char="●"/>
            </a:pPr>
            <a:r>
              <a:rPr lang="en" sz="1550" dirty="0">
                <a:solidFill>
                  <a:srgbClr val="525C65"/>
                </a:solidFill>
                <a:highlight>
                  <a:srgbClr val="FFFFFF"/>
                </a:highlight>
                <a:latin typeface="Open Sans"/>
                <a:ea typeface="Open Sans"/>
                <a:cs typeface="Open Sans"/>
                <a:sym typeface="Open Sans"/>
              </a:rPr>
              <a:t>Answer a series of questions using CRUD SQL commands to demonstrate your database was created and populated correctly</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Submission</a:t>
            </a:r>
            <a:endParaRPr sz="15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For this step, you will need to submit SQL files containing all DDL SQL scripts used to create the database.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You will also have to submit screenshots showing CRUD commands, along with results for each of the questions found in the starter template.</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3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b="1" dirty="0">
                <a:solidFill>
                  <a:srgbClr val="525C65"/>
                </a:solidFill>
                <a:highlight>
                  <a:srgbClr val="FFFFFF"/>
                </a:highlight>
                <a:latin typeface="Open Sans"/>
                <a:ea typeface="Open Sans"/>
                <a:cs typeface="Open Sans"/>
                <a:sym typeface="Open Sans"/>
              </a:rPr>
              <a:t>Hints</a:t>
            </a:r>
            <a:endParaRPr sz="1550" b="1"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Your DDL script will be graded by running the code you submit. Please ensure your SQL code runs properly!</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Foreign keys cannot be created on tables that do not exist yet, so it may be easier to create all tables in the database, then to go back and run modify statements on the tables to create foreign key constraints.</a:t>
            </a: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endParaRPr sz="1550" dirty="0">
              <a:solidFill>
                <a:srgbClr val="525C65"/>
              </a:solidFill>
              <a:highlight>
                <a:srgbClr val="FFFFFF"/>
              </a:highlight>
              <a:latin typeface="Open Sans"/>
              <a:ea typeface="Open Sans"/>
              <a:cs typeface="Open Sans"/>
              <a:sym typeface="Open Sans"/>
            </a:endParaRPr>
          </a:p>
          <a:p>
            <a:pPr marL="241300" marR="241300" lvl="0" indent="0" algn="l" rtl="0">
              <a:lnSpc>
                <a:spcPct val="100000"/>
              </a:lnSpc>
              <a:spcBef>
                <a:spcPts val="0"/>
              </a:spcBef>
              <a:spcAft>
                <a:spcPts val="0"/>
              </a:spcAft>
              <a:buClr>
                <a:schemeClr val="dk1"/>
              </a:buClr>
              <a:buSzPts val="1100"/>
              <a:buFont typeface="Arial"/>
              <a:buNone/>
            </a:pPr>
            <a:r>
              <a:rPr lang="en" sz="1550" dirty="0">
                <a:solidFill>
                  <a:srgbClr val="525C65"/>
                </a:solidFill>
                <a:highlight>
                  <a:srgbClr val="FFFFFF"/>
                </a:highlight>
                <a:latin typeface="Open Sans"/>
                <a:ea typeface="Open Sans"/>
                <a:cs typeface="Open Sans"/>
                <a:sym typeface="Open Sans"/>
              </a:rPr>
              <a:t>After running CRUD commands like update, insert, or delete, run a </a:t>
            </a:r>
            <a:r>
              <a:rPr lang="en" sz="1550" dirty="0">
                <a:solidFill>
                  <a:srgbClr val="525C65"/>
                </a:solidFill>
                <a:highlight>
                  <a:srgbClr val="FFFFFF"/>
                </a:highlight>
                <a:latin typeface="Source Code Pro"/>
                <a:ea typeface="Source Code Pro"/>
                <a:cs typeface="Source Code Pro"/>
                <a:sym typeface="Source Code Pro"/>
              </a:rPr>
              <a:t>SELECT*</a:t>
            </a:r>
            <a:r>
              <a:rPr lang="en" sz="1550" dirty="0">
                <a:solidFill>
                  <a:srgbClr val="525C65"/>
                </a:solidFill>
                <a:highlight>
                  <a:srgbClr val="FFFFFF"/>
                </a:highlight>
                <a:latin typeface="Open Sans"/>
                <a:ea typeface="Open Sans"/>
                <a:cs typeface="Open Sans"/>
                <a:sym typeface="Open Sans"/>
              </a:rPr>
              <a:t> command on the affected table, so the reviewer can see the results of the command.</a:t>
            </a:r>
            <a:endParaRPr sz="1050" dirty="0">
              <a:solidFill>
                <a:srgbClr val="525C65"/>
              </a:solidFill>
              <a:highlight>
                <a:srgbClr val="FFFFFF"/>
              </a:highlight>
              <a:latin typeface="Open Sans"/>
              <a:ea typeface="Open Sans"/>
              <a:cs typeface="Open Sans"/>
              <a:sym typeface="Open Sans"/>
            </a:endParaRPr>
          </a:p>
          <a:p>
            <a:pPr marL="0" lvl="0" indent="0" algn="l" rtl="0">
              <a:spcBef>
                <a:spcPts val="0"/>
              </a:spcBef>
              <a:spcAft>
                <a:spcPts val="1600"/>
              </a:spcAft>
              <a:buNone/>
            </a:pPr>
            <a:endParaRPr sz="2200" dirty="0">
              <a:solidFill>
                <a:srgbClr val="525C65"/>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a:t>
            </a:r>
            <a:endParaRPr dirty="0"/>
          </a:p>
        </p:txBody>
      </p:sp>
      <p:sp>
        <p:nvSpPr>
          <p:cNvPr id="282" name="Google Shape;282;p67"/>
          <p:cNvSpPr txBox="1">
            <a:spLocks noGrp="1"/>
          </p:cNvSpPr>
          <p:nvPr>
            <p:ph type="body" idx="1"/>
          </p:nvPr>
        </p:nvSpPr>
        <p:spPr>
          <a:xfrm>
            <a:off x="264945" y="1732874"/>
            <a:ext cx="7242600" cy="7781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Create a DDL SQL script capable of building the database you designed in Step 2</a:t>
            </a:r>
            <a:endParaRPr sz="1900" dirty="0"/>
          </a:p>
          <a:p>
            <a:pPr marL="457200" lvl="0" indent="0" algn="l" rtl="0">
              <a:spcBef>
                <a:spcPts val="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4" name="Picture 3">
            <a:extLst>
              <a:ext uri="{FF2B5EF4-FFF2-40B4-BE49-F238E27FC236}">
                <a16:creationId xmlns:a16="http://schemas.microsoft.com/office/drawing/2014/main" id="{4ABB8DA1-DE2B-A470-FD35-BDB987176BFB}"/>
              </a:ext>
            </a:extLst>
          </p:cNvPr>
          <p:cNvPicPr>
            <a:picLocks noChangeAspect="1"/>
          </p:cNvPicPr>
          <p:nvPr/>
        </p:nvPicPr>
        <p:blipFill>
          <a:blip r:embed="rId3"/>
          <a:stretch>
            <a:fillRect/>
          </a:stretch>
        </p:blipFill>
        <p:spPr>
          <a:xfrm>
            <a:off x="376059" y="3521903"/>
            <a:ext cx="3184900" cy="6322473"/>
          </a:xfrm>
          <a:prstGeom prst="rect">
            <a:avLst/>
          </a:prstGeom>
        </p:spPr>
      </p:pic>
      <p:pic>
        <p:nvPicPr>
          <p:cNvPr id="10" name="Picture 9">
            <a:extLst>
              <a:ext uri="{FF2B5EF4-FFF2-40B4-BE49-F238E27FC236}">
                <a16:creationId xmlns:a16="http://schemas.microsoft.com/office/drawing/2014/main" id="{49044BF0-8CAC-97D0-42E8-72488806D257}"/>
              </a:ext>
            </a:extLst>
          </p:cNvPr>
          <p:cNvPicPr>
            <a:picLocks noChangeAspect="1"/>
          </p:cNvPicPr>
          <p:nvPr/>
        </p:nvPicPr>
        <p:blipFill>
          <a:blip r:embed="rId4"/>
          <a:stretch>
            <a:fillRect/>
          </a:stretch>
        </p:blipFill>
        <p:spPr>
          <a:xfrm>
            <a:off x="4211443" y="3521903"/>
            <a:ext cx="3315163" cy="5563376"/>
          </a:xfrm>
          <a:prstGeom prst="rect">
            <a:avLst/>
          </a:prstGeom>
        </p:spPr>
      </p:pic>
      <p:sp>
        <p:nvSpPr>
          <p:cNvPr id="11" name="Google Shape;282;p67">
            <a:extLst>
              <a:ext uri="{FF2B5EF4-FFF2-40B4-BE49-F238E27FC236}">
                <a16:creationId xmlns:a16="http://schemas.microsoft.com/office/drawing/2014/main" id="{D4ABDF3F-C62F-1A03-305E-9ACEC9558668}"/>
              </a:ext>
            </a:extLst>
          </p:cNvPr>
          <p:cNvSpPr txBox="1">
            <a:spLocks/>
          </p:cNvSpPr>
          <p:nvPr/>
        </p:nvSpPr>
        <p:spPr>
          <a:xfrm>
            <a:off x="284006" y="2773336"/>
            <a:ext cx="3002891" cy="5905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15000"/>
              </a:lnSpc>
              <a:spcBef>
                <a:spcPts val="0"/>
              </a:spcBef>
              <a:spcAft>
                <a:spcPts val="0"/>
              </a:spcAft>
              <a:buClr>
                <a:schemeClr val="dk2"/>
              </a:buClr>
              <a:buSzPts val="3000"/>
              <a:buFont typeface="Open Sans Light"/>
              <a:buChar char="●"/>
              <a:defRPr sz="3000" b="0" i="0" u="none" strike="noStrike" cap="none">
                <a:solidFill>
                  <a:schemeClr val="dk2"/>
                </a:solidFill>
                <a:latin typeface="Open Sans Light"/>
                <a:ea typeface="Open Sans Light"/>
                <a:cs typeface="Open Sans Light"/>
                <a:sym typeface="Open Sans Light"/>
              </a:defRPr>
            </a:lvl1pPr>
            <a:lvl2pPr marL="914400" marR="0" lvl="1" indent="-381000" algn="l" rtl="0">
              <a:lnSpc>
                <a:spcPct val="115000"/>
              </a:lnSpc>
              <a:spcBef>
                <a:spcPts val="1600"/>
              </a:spcBef>
              <a:spcAft>
                <a:spcPts val="0"/>
              </a:spcAft>
              <a:buClr>
                <a:schemeClr val="dk2"/>
              </a:buClr>
              <a:buSzPts val="2400"/>
              <a:buFont typeface="Open Sans Light"/>
              <a:buChar char="○"/>
              <a:defRPr sz="2400" b="0" i="0" u="none" strike="noStrike" cap="none">
                <a:solidFill>
                  <a:schemeClr val="dk2"/>
                </a:solidFill>
                <a:latin typeface="Open Sans Light"/>
                <a:ea typeface="Open Sans Light"/>
                <a:cs typeface="Open Sans Light"/>
                <a:sym typeface="Open Sans Light"/>
              </a:defRPr>
            </a:lvl2pPr>
            <a:lvl3pPr marL="1371600" marR="0" lvl="2" indent="-342900" algn="l" rtl="0">
              <a:lnSpc>
                <a:spcPct val="115000"/>
              </a:lnSpc>
              <a:spcBef>
                <a:spcPts val="1600"/>
              </a:spcBef>
              <a:spcAft>
                <a:spcPts val="0"/>
              </a:spcAft>
              <a:buClr>
                <a:schemeClr val="dk2"/>
              </a:buClr>
              <a:buSzPts val="1800"/>
              <a:buFont typeface="Open Sans Light"/>
              <a:buChar char="■"/>
              <a:defRPr sz="1800" b="0" i="0" u="none" strike="noStrike" cap="none">
                <a:solidFill>
                  <a:schemeClr val="dk2"/>
                </a:solidFill>
                <a:latin typeface="Open Sans Light"/>
                <a:ea typeface="Open Sans Light"/>
                <a:cs typeface="Open Sans Light"/>
                <a:sym typeface="Open Sans Light"/>
              </a:defRPr>
            </a:lvl3pPr>
            <a:lvl4pPr marL="1828800" marR="0" lvl="3"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4pPr>
            <a:lvl5pPr marL="2286000" marR="0" lvl="4"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5pPr>
            <a:lvl6pPr marL="2743200" marR="0" lvl="5"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6pPr>
            <a:lvl7pPr marL="3200400" marR="0" lvl="6"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7pPr>
            <a:lvl8pPr marL="3657600" marR="0" lvl="7"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8pPr>
            <a:lvl9pPr marL="4114800" marR="0" lvl="8" indent="-317500" algn="l" rtl="0">
              <a:lnSpc>
                <a:spcPct val="115000"/>
              </a:lnSpc>
              <a:spcBef>
                <a:spcPts val="1600"/>
              </a:spcBef>
              <a:spcAft>
                <a:spcPts val="160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9pPr>
          </a:lstStyle>
          <a:p>
            <a:pPr marL="0" indent="0">
              <a:buNone/>
            </a:pPr>
            <a:r>
              <a:rPr lang="en-US" sz="1900" b="1" dirty="0">
                <a:solidFill>
                  <a:srgbClr val="FF0000"/>
                </a:solidFill>
              </a:rPr>
              <a:t>01_create_tables.sql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0">
          <a:extLst>
            <a:ext uri="{FF2B5EF4-FFF2-40B4-BE49-F238E27FC236}">
              <a16:creationId xmlns:a16="http://schemas.microsoft.com/office/drawing/2014/main" id="{E3E78F7E-9773-081F-8767-9B81BA0EFE3D}"/>
            </a:ext>
          </a:extLst>
        </p:cNvPr>
        <p:cNvGrpSpPr/>
        <p:nvPr/>
      </p:nvGrpSpPr>
      <p:grpSpPr>
        <a:xfrm>
          <a:off x="0" y="0"/>
          <a:ext cx="0" cy="0"/>
          <a:chOff x="0" y="0"/>
          <a:chExt cx="0" cy="0"/>
        </a:xfrm>
      </p:grpSpPr>
      <p:sp>
        <p:nvSpPr>
          <p:cNvPr id="281" name="Google Shape;281;p67">
            <a:extLst>
              <a:ext uri="{FF2B5EF4-FFF2-40B4-BE49-F238E27FC236}">
                <a16:creationId xmlns:a16="http://schemas.microsoft.com/office/drawing/2014/main" id="{2E8E1985-A0A1-EB7D-60E4-BFE04267DB77}"/>
              </a:ext>
            </a:extLst>
          </p:cNvPr>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DDL</a:t>
            </a:r>
            <a:endParaRPr dirty="0"/>
          </a:p>
        </p:txBody>
      </p:sp>
      <p:sp>
        <p:nvSpPr>
          <p:cNvPr id="282" name="Google Shape;282;p67">
            <a:extLst>
              <a:ext uri="{FF2B5EF4-FFF2-40B4-BE49-F238E27FC236}">
                <a16:creationId xmlns:a16="http://schemas.microsoft.com/office/drawing/2014/main" id="{2ED2A2C5-3FE7-5262-EA37-AF98B930D887}"/>
              </a:ext>
            </a:extLst>
          </p:cNvPr>
          <p:cNvSpPr txBox="1">
            <a:spLocks noGrp="1"/>
          </p:cNvSpPr>
          <p:nvPr>
            <p:ph type="body" idx="1"/>
          </p:nvPr>
        </p:nvSpPr>
        <p:spPr>
          <a:xfrm>
            <a:off x="264945" y="1732874"/>
            <a:ext cx="7242600" cy="7781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900" dirty="0"/>
              <a:t>Create a DDL SQL script capable of building the database you designed in Step 2</a:t>
            </a:r>
            <a:endParaRPr sz="1900" dirty="0"/>
          </a:p>
          <a:p>
            <a:pPr marL="457200" lvl="0" indent="0" algn="l" rtl="0">
              <a:spcBef>
                <a:spcPts val="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sp>
        <p:nvSpPr>
          <p:cNvPr id="11" name="Google Shape;282;p67">
            <a:extLst>
              <a:ext uri="{FF2B5EF4-FFF2-40B4-BE49-F238E27FC236}">
                <a16:creationId xmlns:a16="http://schemas.microsoft.com/office/drawing/2014/main" id="{97E99462-E313-08C0-92C2-6581D6E45DD1}"/>
              </a:ext>
            </a:extLst>
          </p:cNvPr>
          <p:cNvSpPr txBox="1">
            <a:spLocks/>
          </p:cNvSpPr>
          <p:nvPr/>
        </p:nvSpPr>
        <p:spPr>
          <a:xfrm>
            <a:off x="264855" y="2783095"/>
            <a:ext cx="3002891" cy="5905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15000"/>
              </a:lnSpc>
              <a:spcBef>
                <a:spcPts val="0"/>
              </a:spcBef>
              <a:spcAft>
                <a:spcPts val="0"/>
              </a:spcAft>
              <a:buClr>
                <a:schemeClr val="dk2"/>
              </a:buClr>
              <a:buSzPts val="3000"/>
              <a:buFont typeface="Open Sans Light"/>
              <a:buChar char="●"/>
              <a:defRPr sz="3000" b="0" i="0" u="none" strike="noStrike" cap="none">
                <a:solidFill>
                  <a:schemeClr val="dk2"/>
                </a:solidFill>
                <a:latin typeface="Open Sans Light"/>
                <a:ea typeface="Open Sans Light"/>
                <a:cs typeface="Open Sans Light"/>
                <a:sym typeface="Open Sans Light"/>
              </a:defRPr>
            </a:lvl1pPr>
            <a:lvl2pPr marL="914400" marR="0" lvl="1" indent="-381000" algn="l" rtl="0">
              <a:lnSpc>
                <a:spcPct val="115000"/>
              </a:lnSpc>
              <a:spcBef>
                <a:spcPts val="1600"/>
              </a:spcBef>
              <a:spcAft>
                <a:spcPts val="0"/>
              </a:spcAft>
              <a:buClr>
                <a:schemeClr val="dk2"/>
              </a:buClr>
              <a:buSzPts val="2400"/>
              <a:buFont typeface="Open Sans Light"/>
              <a:buChar char="○"/>
              <a:defRPr sz="2400" b="0" i="0" u="none" strike="noStrike" cap="none">
                <a:solidFill>
                  <a:schemeClr val="dk2"/>
                </a:solidFill>
                <a:latin typeface="Open Sans Light"/>
                <a:ea typeface="Open Sans Light"/>
                <a:cs typeface="Open Sans Light"/>
                <a:sym typeface="Open Sans Light"/>
              </a:defRPr>
            </a:lvl2pPr>
            <a:lvl3pPr marL="1371600" marR="0" lvl="2" indent="-342900" algn="l" rtl="0">
              <a:lnSpc>
                <a:spcPct val="115000"/>
              </a:lnSpc>
              <a:spcBef>
                <a:spcPts val="1600"/>
              </a:spcBef>
              <a:spcAft>
                <a:spcPts val="0"/>
              </a:spcAft>
              <a:buClr>
                <a:schemeClr val="dk2"/>
              </a:buClr>
              <a:buSzPts val="1800"/>
              <a:buFont typeface="Open Sans Light"/>
              <a:buChar char="■"/>
              <a:defRPr sz="1800" b="0" i="0" u="none" strike="noStrike" cap="none">
                <a:solidFill>
                  <a:schemeClr val="dk2"/>
                </a:solidFill>
                <a:latin typeface="Open Sans Light"/>
                <a:ea typeface="Open Sans Light"/>
                <a:cs typeface="Open Sans Light"/>
                <a:sym typeface="Open Sans Light"/>
              </a:defRPr>
            </a:lvl3pPr>
            <a:lvl4pPr marL="1828800" marR="0" lvl="3"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4pPr>
            <a:lvl5pPr marL="2286000" marR="0" lvl="4"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5pPr>
            <a:lvl6pPr marL="2743200" marR="0" lvl="5"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6pPr>
            <a:lvl7pPr marL="3200400" marR="0" lvl="6"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7pPr>
            <a:lvl8pPr marL="3657600" marR="0" lvl="7" indent="-317500" algn="l" rtl="0">
              <a:lnSpc>
                <a:spcPct val="115000"/>
              </a:lnSpc>
              <a:spcBef>
                <a:spcPts val="1600"/>
              </a:spcBef>
              <a:spcAft>
                <a:spcPts val="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8pPr>
            <a:lvl9pPr marL="4114800" marR="0" lvl="8" indent="-317500" algn="l" rtl="0">
              <a:lnSpc>
                <a:spcPct val="115000"/>
              </a:lnSpc>
              <a:spcBef>
                <a:spcPts val="1600"/>
              </a:spcBef>
              <a:spcAft>
                <a:spcPts val="1600"/>
              </a:spcAft>
              <a:buClr>
                <a:schemeClr val="dk2"/>
              </a:buClr>
              <a:buSzPts val="1400"/>
              <a:buFont typeface="Open Sans Light"/>
              <a:buChar char="■"/>
              <a:defRPr sz="1400" b="0" i="0" u="none" strike="noStrike" cap="none">
                <a:solidFill>
                  <a:schemeClr val="dk2"/>
                </a:solidFill>
                <a:latin typeface="Open Sans Light"/>
                <a:ea typeface="Open Sans Light"/>
                <a:cs typeface="Open Sans Light"/>
                <a:sym typeface="Open Sans Light"/>
              </a:defRPr>
            </a:lvl9pPr>
          </a:lstStyle>
          <a:p>
            <a:pPr marL="0" indent="0">
              <a:buNone/>
            </a:pPr>
            <a:r>
              <a:rPr lang="en-US" sz="1900" b="1" dirty="0">
                <a:solidFill>
                  <a:srgbClr val="FF0000"/>
                </a:solidFill>
              </a:rPr>
              <a:t>02_etl_load_data.sql</a:t>
            </a:r>
          </a:p>
        </p:txBody>
      </p:sp>
      <p:pic>
        <p:nvPicPr>
          <p:cNvPr id="8" name="Picture 7">
            <a:extLst>
              <a:ext uri="{FF2B5EF4-FFF2-40B4-BE49-F238E27FC236}">
                <a16:creationId xmlns:a16="http://schemas.microsoft.com/office/drawing/2014/main" id="{7506F691-7B00-3236-49B2-A466B351F89B}"/>
              </a:ext>
            </a:extLst>
          </p:cNvPr>
          <p:cNvPicPr>
            <a:picLocks noChangeAspect="1"/>
          </p:cNvPicPr>
          <p:nvPr/>
        </p:nvPicPr>
        <p:blipFill>
          <a:blip r:embed="rId3"/>
          <a:stretch>
            <a:fillRect/>
          </a:stretch>
        </p:blipFill>
        <p:spPr>
          <a:xfrm>
            <a:off x="264855" y="3496286"/>
            <a:ext cx="7242600" cy="4829239"/>
          </a:xfrm>
          <a:prstGeom prst="rect">
            <a:avLst/>
          </a:prstGeom>
        </p:spPr>
      </p:pic>
    </p:spTree>
    <p:extLst>
      <p:ext uri="{BB962C8B-B14F-4D97-AF65-F5344CB8AC3E}">
        <p14:creationId xmlns:p14="http://schemas.microsoft.com/office/powerpoint/2010/main" val="484767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6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CRUD</a:t>
            </a:r>
            <a:endParaRPr dirty="0"/>
          </a:p>
        </p:txBody>
      </p:sp>
      <p:sp>
        <p:nvSpPr>
          <p:cNvPr id="289" name="Google Shape;289;p68"/>
          <p:cNvSpPr txBox="1">
            <a:spLocks noGrp="1"/>
          </p:cNvSpPr>
          <p:nvPr>
            <p:ph type="body" idx="1"/>
          </p:nvPr>
        </p:nvSpPr>
        <p:spPr>
          <a:xfrm>
            <a:off x="264900" y="1751330"/>
            <a:ext cx="7242600" cy="1119900"/>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1: Return a list of employees with Job Titles and Department Names</a:t>
            </a: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lnSpc>
                <a:spcPct val="170000"/>
              </a:lnSpc>
              <a:spcBef>
                <a:spcPts val="1600"/>
              </a:spcBef>
              <a:spcAft>
                <a:spcPts val="0"/>
              </a:spcAft>
              <a:buClr>
                <a:schemeClr val="dk1"/>
              </a:buClr>
              <a:buSzPts val="1100"/>
              <a:buFont typeface="Arial"/>
              <a:buNone/>
            </a:pPr>
            <a:r>
              <a:rPr lang="en" sz="1200" dirty="0">
                <a:solidFill>
                  <a:srgbClr val="525C65"/>
                </a:solidFill>
                <a:highlight>
                  <a:schemeClr val="lt1"/>
                </a:highlight>
                <a:latin typeface="Open Sans"/>
                <a:ea typeface="Open Sans"/>
                <a:cs typeface="Open Sans"/>
                <a:sym typeface="Open Sans"/>
              </a:rPr>
              <a:t>     </a:t>
            </a: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4" name="Picture 3">
            <a:extLst>
              <a:ext uri="{FF2B5EF4-FFF2-40B4-BE49-F238E27FC236}">
                <a16:creationId xmlns:a16="http://schemas.microsoft.com/office/drawing/2014/main" id="{E7D7F0C1-09C7-B9D4-ADCE-9AB087EE1367}"/>
              </a:ext>
            </a:extLst>
          </p:cNvPr>
          <p:cNvPicPr>
            <a:picLocks noChangeAspect="1"/>
          </p:cNvPicPr>
          <p:nvPr/>
        </p:nvPicPr>
        <p:blipFill>
          <a:blip r:embed="rId3"/>
          <a:stretch>
            <a:fillRect/>
          </a:stretch>
        </p:blipFill>
        <p:spPr>
          <a:xfrm>
            <a:off x="464820" y="2871230"/>
            <a:ext cx="7042680" cy="50747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6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296" name="Google Shape;296;p69"/>
          <p:cNvSpPr txBox="1">
            <a:spLocks noGrp="1"/>
          </p:cNvSpPr>
          <p:nvPr>
            <p:ph type="body" idx="1"/>
          </p:nvPr>
        </p:nvSpPr>
        <p:spPr>
          <a:xfrm>
            <a:off x="264950" y="2118049"/>
            <a:ext cx="7242600" cy="773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900" dirty="0"/>
          </a:p>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2: Insert Web Programmer as a new job title</a:t>
            </a: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9C254158-8C0A-2798-C371-0E517A405794}"/>
              </a:ext>
            </a:extLst>
          </p:cNvPr>
          <p:cNvPicPr>
            <a:picLocks noChangeAspect="1"/>
          </p:cNvPicPr>
          <p:nvPr/>
        </p:nvPicPr>
        <p:blipFill>
          <a:blip r:embed="rId3"/>
          <a:stretch>
            <a:fillRect/>
          </a:stretch>
        </p:blipFill>
        <p:spPr>
          <a:xfrm>
            <a:off x="547221" y="3884393"/>
            <a:ext cx="6677957" cy="37724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7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03" name="Google Shape;303;p70"/>
          <p:cNvSpPr txBox="1">
            <a:spLocks noGrp="1"/>
          </p:cNvSpPr>
          <p:nvPr>
            <p:ph type="body" idx="1"/>
          </p:nvPr>
        </p:nvSpPr>
        <p:spPr>
          <a:xfrm>
            <a:off x="264945" y="1990171"/>
            <a:ext cx="7242600" cy="1119900"/>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3: Correct the job title from web programmer to web developer</a:t>
            </a:r>
            <a:endParaRPr sz="1900" b="1" dirty="0">
              <a:latin typeface="Open Sans"/>
              <a:ea typeface="Open Sans"/>
              <a:cs typeface="Open Sans"/>
              <a:sym typeface="Open Sans"/>
            </a:endParaRPr>
          </a:p>
          <a:p>
            <a:pPr marL="0" lvl="0" indent="0" algn="l" rtl="0">
              <a:lnSpc>
                <a:spcPct val="170000"/>
              </a:lnSpc>
              <a:spcBef>
                <a:spcPts val="1600"/>
              </a:spcBef>
              <a:spcAft>
                <a:spcPts val="0"/>
              </a:spcAft>
              <a:buNone/>
            </a:pPr>
            <a:r>
              <a:rPr lang="en" sz="1200" dirty="0">
                <a:solidFill>
                  <a:srgbClr val="525C65"/>
                </a:solidFill>
                <a:highlight>
                  <a:schemeClr val="lt1"/>
                </a:highlight>
                <a:latin typeface="Open Sans"/>
                <a:ea typeface="Open Sans"/>
                <a:cs typeface="Open Sans"/>
                <a:sym typeface="Open Sans"/>
              </a:rPr>
              <a:t>     </a:t>
            </a:r>
            <a:endParaRPr sz="1200" dirty="0">
              <a:solidFill>
                <a:srgbClr val="525C65"/>
              </a:solidFill>
              <a:highlight>
                <a:schemeClr val="lt1"/>
              </a:highlight>
              <a:latin typeface="Open Sans"/>
              <a:ea typeface="Open Sans"/>
              <a:cs typeface="Open Sans"/>
              <a:sym typeface="Open Sans"/>
            </a:endParaRPr>
          </a:p>
          <a:p>
            <a:pPr marL="0" lvl="0" indent="0" algn="l" rtl="0">
              <a:spcBef>
                <a:spcPts val="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26EEDA14-9EDB-090D-C1DB-8484BDC7DB29}"/>
              </a:ext>
            </a:extLst>
          </p:cNvPr>
          <p:cNvPicPr>
            <a:picLocks noChangeAspect="1"/>
          </p:cNvPicPr>
          <p:nvPr/>
        </p:nvPicPr>
        <p:blipFill>
          <a:blip r:embed="rId3"/>
          <a:stretch>
            <a:fillRect/>
          </a:stretch>
        </p:blipFill>
        <p:spPr>
          <a:xfrm>
            <a:off x="575800" y="3265391"/>
            <a:ext cx="6620799" cy="567769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7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10" name="Google Shape;310;p71"/>
          <p:cNvSpPr txBox="1">
            <a:spLocks noGrp="1"/>
          </p:cNvSpPr>
          <p:nvPr>
            <p:ph type="body" idx="1"/>
          </p:nvPr>
        </p:nvSpPr>
        <p:spPr>
          <a:xfrm>
            <a:off x="264945" y="1722633"/>
            <a:ext cx="7242600" cy="1119900"/>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4: Delete the job title Web Developer from the database</a:t>
            </a:r>
            <a:r>
              <a:rPr lang="en" sz="1200" dirty="0">
                <a:solidFill>
                  <a:srgbClr val="525C65"/>
                </a:solidFill>
                <a:highlight>
                  <a:schemeClr val="lt1"/>
                </a:highlight>
                <a:latin typeface="Open Sans"/>
                <a:ea typeface="Open Sans"/>
                <a:cs typeface="Open Sans"/>
                <a:sym typeface="Open Sans"/>
              </a:rPr>
              <a:t>         </a:t>
            </a:r>
            <a:endParaRPr sz="1200" dirty="0">
              <a:solidFill>
                <a:srgbClr val="525C65"/>
              </a:solidFill>
              <a:highlight>
                <a:schemeClr val="lt1"/>
              </a:highlight>
              <a:latin typeface="Open Sans"/>
              <a:ea typeface="Open Sans"/>
              <a:cs typeface="Open Sans"/>
              <a:sym typeface="Open Sans"/>
            </a:endParaRPr>
          </a:p>
          <a:p>
            <a:pPr marL="0" lvl="0" indent="0" algn="l" rtl="0">
              <a:lnSpc>
                <a:spcPct val="170000"/>
              </a:lnSpc>
              <a:spcBef>
                <a:spcPts val="0"/>
              </a:spcBef>
              <a:spcAft>
                <a:spcPts val="0"/>
              </a:spcAft>
              <a:buNone/>
            </a:pPr>
            <a:r>
              <a:rPr lang="en" sz="1200" dirty="0">
                <a:solidFill>
                  <a:srgbClr val="525C65"/>
                </a:solidFill>
                <a:highlight>
                  <a:schemeClr val="lt1"/>
                </a:highlight>
                <a:latin typeface="Open Sans"/>
                <a:ea typeface="Open Sans"/>
                <a:cs typeface="Open Sans"/>
                <a:sym typeface="Open Sans"/>
              </a:rPr>
              <a:t> </a:t>
            </a: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BADAC383-CE7A-5023-827F-1EEAFC70C372}"/>
              </a:ext>
            </a:extLst>
          </p:cNvPr>
          <p:cNvPicPr>
            <a:picLocks noChangeAspect="1"/>
          </p:cNvPicPr>
          <p:nvPr/>
        </p:nvPicPr>
        <p:blipFill>
          <a:blip r:embed="rId3"/>
          <a:stretch>
            <a:fillRect/>
          </a:stretch>
        </p:blipFill>
        <p:spPr>
          <a:xfrm>
            <a:off x="590090" y="2751705"/>
            <a:ext cx="6592220" cy="697306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17" name="Google Shape;317;p72"/>
          <p:cNvSpPr txBox="1">
            <a:spLocks noGrp="1"/>
          </p:cNvSpPr>
          <p:nvPr>
            <p:ph type="body" idx="1"/>
          </p:nvPr>
        </p:nvSpPr>
        <p:spPr>
          <a:xfrm>
            <a:off x="264855" y="1772060"/>
            <a:ext cx="7242600" cy="1119900"/>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5: How many employees are in each department?</a:t>
            </a:r>
            <a:endParaRPr sz="1900" b="1" dirty="0">
              <a:latin typeface="Open Sans"/>
              <a:ea typeface="Open Sans"/>
              <a:cs typeface="Open Sans"/>
              <a:sym typeface="Open Sans"/>
            </a:endParaRPr>
          </a:p>
          <a:p>
            <a:pPr marL="0" lvl="0" indent="0" algn="l" rtl="0">
              <a:spcBef>
                <a:spcPts val="1600"/>
              </a:spcBef>
              <a:spcAft>
                <a:spcPts val="0"/>
              </a:spcAft>
              <a:buNone/>
            </a:pPr>
            <a:endParaRPr lang="en-US"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45720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b="1" dirty="0">
              <a:latin typeface="Open Sans"/>
              <a:ea typeface="Open Sans"/>
              <a:cs typeface="Open Sans"/>
              <a:sym typeface="Open Sans"/>
            </a:endParaRP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pic>
        <p:nvPicPr>
          <p:cNvPr id="3" name="Picture 2">
            <a:extLst>
              <a:ext uri="{FF2B5EF4-FFF2-40B4-BE49-F238E27FC236}">
                <a16:creationId xmlns:a16="http://schemas.microsoft.com/office/drawing/2014/main" id="{C9927469-411D-D575-839D-84C34A8510E9}"/>
              </a:ext>
            </a:extLst>
          </p:cNvPr>
          <p:cNvPicPr>
            <a:picLocks noChangeAspect="1"/>
          </p:cNvPicPr>
          <p:nvPr/>
        </p:nvPicPr>
        <p:blipFill>
          <a:blip r:embed="rId3"/>
          <a:stretch>
            <a:fillRect/>
          </a:stretch>
        </p:blipFill>
        <p:spPr>
          <a:xfrm>
            <a:off x="432486" y="3290341"/>
            <a:ext cx="7074969" cy="38761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7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CRUD</a:t>
            </a:r>
            <a:endParaRPr/>
          </a:p>
        </p:txBody>
      </p:sp>
      <p:sp>
        <p:nvSpPr>
          <p:cNvPr id="324" name="Google Shape;324;p73"/>
          <p:cNvSpPr txBox="1">
            <a:spLocks noGrp="1"/>
          </p:cNvSpPr>
          <p:nvPr>
            <p:ph type="body" idx="1"/>
          </p:nvPr>
        </p:nvSpPr>
        <p:spPr>
          <a:xfrm>
            <a:off x="264900" y="1722632"/>
            <a:ext cx="7242600" cy="1786687"/>
          </a:xfrm>
          <a:prstGeom prst="rect">
            <a:avLst/>
          </a:prstGeom>
        </p:spPr>
        <p:txBody>
          <a:bodyPr spcFirstLastPara="1" wrap="square" lIns="91425" tIns="91425" rIns="91425" bIns="91425" anchor="t" anchorCtr="0">
            <a:noAutofit/>
          </a:bodyPr>
          <a:lstStyle/>
          <a:p>
            <a:pPr marL="457200" lvl="0" indent="-349250" algn="l" rtl="0">
              <a:spcBef>
                <a:spcPts val="1600"/>
              </a:spcBef>
              <a:spcAft>
                <a:spcPts val="0"/>
              </a:spcAft>
              <a:buSzPts val="1900"/>
              <a:buFont typeface="Open Sans"/>
              <a:buChar char="●"/>
            </a:pPr>
            <a:r>
              <a:rPr lang="en" sz="1900" b="1" dirty="0">
                <a:latin typeface="Open Sans"/>
                <a:ea typeface="Open Sans"/>
                <a:cs typeface="Open Sans"/>
                <a:sym typeface="Open Sans"/>
              </a:rPr>
              <a:t>Question 6: Write a query that returns current and past jobs (include employee name, job title, department, manager name, start and end date for position) for employee Toni Lembeck.</a:t>
            </a:r>
            <a:endParaRPr sz="1900" b="1" dirty="0">
              <a:latin typeface="Open Sans"/>
              <a:ea typeface="Open Sans"/>
              <a:cs typeface="Open Sans"/>
              <a:sym typeface="Open Sans"/>
            </a:endParaRPr>
          </a:p>
        </p:txBody>
      </p:sp>
      <p:pic>
        <p:nvPicPr>
          <p:cNvPr id="3" name="Picture 2">
            <a:extLst>
              <a:ext uri="{FF2B5EF4-FFF2-40B4-BE49-F238E27FC236}">
                <a16:creationId xmlns:a16="http://schemas.microsoft.com/office/drawing/2014/main" id="{ACFCD5A7-D41D-6C52-2B9C-D691A8AA9C0D}"/>
              </a:ext>
            </a:extLst>
          </p:cNvPr>
          <p:cNvPicPr>
            <a:picLocks noChangeAspect="1"/>
          </p:cNvPicPr>
          <p:nvPr/>
        </p:nvPicPr>
        <p:blipFill>
          <a:blip r:embed="rId3"/>
          <a:stretch>
            <a:fillRect/>
          </a:stretch>
        </p:blipFill>
        <p:spPr>
          <a:xfrm>
            <a:off x="529800" y="3888316"/>
            <a:ext cx="6822470" cy="322917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7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CRUD</a:t>
            </a:r>
            <a:endParaRPr dirty="0"/>
          </a:p>
        </p:txBody>
      </p:sp>
      <p:sp>
        <p:nvSpPr>
          <p:cNvPr id="331" name="Google Shape;331;p74"/>
          <p:cNvSpPr txBox="1">
            <a:spLocks noGrp="1"/>
          </p:cNvSpPr>
          <p:nvPr>
            <p:ph type="body" idx="1"/>
          </p:nvPr>
        </p:nvSpPr>
        <p:spPr>
          <a:xfrm>
            <a:off x="264945" y="1964221"/>
            <a:ext cx="7242600" cy="7223908"/>
          </a:xfrm>
          <a:prstGeom prst="rect">
            <a:avLst/>
          </a:prstGeom>
        </p:spPr>
        <p:txBody>
          <a:bodyPr spcFirstLastPara="1" wrap="square" lIns="91425" tIns="91425" rIns="91425" bIns="91425" anchor="t" anchorCtr="0">
            <a:noAutofit/>
          </a:bodyPr>
          <a:lstStyle/>
          <a:p>
            <a:pPr marL="457200" lvl="0" indent="-349250" algn="l" rtl="0">
              <a:spcBef>
                <a:spcPts val="0"/>
              </a:spcBef>
              <a:spcAft>
                <a:spcPts val="0"/>
              </a:spcAft>
              <a:buSzPts val="1900"/>
              <a:buFont typeface="Open Sans"/>
              <a:buChar char="●"/>
            </a:pPr>
            <a:r>
              <a:rPr lang="en" sz="1900" b="1" dirty="0">
                <a:latin typeface="Open Sans"/>
                <a:ea typeface="Open Sans"/>
                <a:cs typeface="Open Sans"/>
                <a:sym typeface="Open Sans"/>
              </a:rPr>
              <a:t>Question 7: Describe how you would apply table security to restrict access to employee salaries using an SQL server.</a:t>
            </a:r>
            <a:endParaRPr sz="1900" b="1" dirty="0">
              <a:latin typeface="Open Sans"/>
              <a:ea typeface="Open Sans"/>
              <a:cs typeface="Open Sans"/>
              <a:sym typeface="Open Sans"/>
            </a:endParaRPr>
          </a:p>
          <a:p>
            <a:pPr lvl="0" indent="0">
              <a:buNone/>
            </a:pPr>
            <a:r>
              <a:rPr lang="en-US" sz="1400" dirty="0">
                <a:sym typeface="Open Sans"/>
              </a:rPr>
              <a:t>I would apply table-level security by creating separate database roles for normal users and HR or management users. Normal users should only have read-only access to non-sensitive tables such as employee, department, job, location, </a:t>
            </a:r>
            <a:r>
              <a:rPr lang="en-US" sz="1400" dirty="0" err="1">
                <a:sym typeface="Open Sans"/>
              </a:rPr>
              <a:t>employee_job_history</a:t>
            </a:r>
            <a:r>
              <a:rPr lang="en-US" sz="1400" dirty="0">
                <a:sym typeface="Open Sans"/>
              </a:rPr>
              <a:t>, and </a:t>
            </a:r>
            <a:r>
              <a:rPr lang="en-US" sz="1400" dirty="0" err="1">
                <a:sym typeface="Open Sans"/>
              </a:rPr>
              <a:t>education_level</a:t>
            </a:r>
            <a:r>
              <a:rPr lang="en-US" sz="1400" dirty="0">
                <a:sym typeface="Open Sans"/>
              </a:rPr>
              <a:t>. They should not have access to the </a:t>
            </a:r>
            <a:r>
              <a:rPr lang="en-US" sz="1400" dirty="0" err="1">
                <a:sym typeface="Open Sans"/>
              </a:rPr>
              <a:t>employee_salary</a:t>
            </a:r>
            <a:r>
              <a:rPr lang="en-US" sz="1400" dirty="0">
                <a:sym typeface="Open Sans"/>
              </a:rPr>
              <a:t> table.</a:t>
            </a:r>
          </a:p>
          <a:p>
            <a:pPr lvl="0" indent="0">
              <a:buNone/>
            </a:pPr>
            <a:endParaRPr lang="en-US" sz="1400" dirty="0">
              <a:sym typeface="Open Sans"/>
            </a:endParaRPr>
          </a:p>
          <a:p>
            <a:pPr lvl="1" indent="0">
              <a:spcBef>
                <a:spcPts val="0"/>
              </a:spcBef>
              <a:buNone/>
            </a:pPr>
            <a:r>
              <a:rPr lang="en-US" sz="1400" b="1" u="sng" dirty="0">
                <a:sym typeface="Open Sans"/>
              </a:rPr>
              <a:t>Example SQL:</a:t>
            </a:r>
          </a:p>
          <a:p>
            <a:pPr lvl="1" indent="0">
              <a:spcBef>
                <a:spcPts val="0"/>
              </a:spcBef>
              <a:buNone/>
            </a:pPr>
            <a:r>
              <a:rPr lang="en-US" sz="1400" i="1" dirty="0">
                <a:solidFill>
                  <a:srgbClr val="FF0000"/>
                </a:solidFill>
                <a:sym typeface="Open Sans"/>
              </a:rPr>
              <a:t>CREATE ROLE </a:t>
            </a:r>
            <a:r>
              <a:rPr lang="en-US" sz="1400" i="1" dirty="0" err="1">
                <a:solidFill>
                  <a:srgbClr val="FF0000"/>
                </a:solidFill>
                <a:sym typeface="Open Sans"/>
              </a:rPr>
              <a:t>readonly_user</a:t>
            </a:r>
            <a:r>
              <a:rPr lang="en-US" sz="1400" i="1" dirty="0">
                <a:solidFill>
                  <a:srgbClr val="FF0000"/>
                </a:solidFill>
                <a:sym typeface="Open Sans"/>
              </a:rPr>
              <a:t>;</a:t>
            </a:r>
          </a:p>
          <a:p>
            <a:pPr lvl="1" indent="0">
              <a:spcBef>
                <a:spcPts val="0"/>
              </a:spcBef>
              <a:buNone/>
            </a:pPr>
            <a:r>
              <a:rPr lang="en-US" sz="1400" i="1" dirty="0">
                <a:solidFill>
                  <a:srgbClr val="FF0000"/>
                </a:solidFill>
                <a:sym typeface="Open Sans"/>
              </a:rPr>
              <a:t>GRANT SELECT ON employee, department, job, location, </a:t>
            </a:r>
            <a:r>
              <a:rPr lang="en-US" sz="1400" i="1" dirty="0" err="1">
                <a:solidFill>
                  <a:srgbClr val="FF0000"/>
                </a:solidFill>
                <a:sym typeface="Open Sans"/>
              </a:rPr>
              <a:t>employee_job_history</a:t>
            </a:r>
            <a:r>
              <a:rPr lang="en-US" sz="1400" i="1" dirty="0">
                <a:solidFill>
                  <a:srgbClr val="FF0000"/>
                </a:solidFill>
                <a:sym typeface="Open Sans"/>
              </a:rPr>
              <a:t>, </a:t>
            </a:r>
            <a:r>
              <a:rPr lang="en-US" sz="1400" i="1" dirty="0" err="1">
                <a:solidFill>
                  <a:srgbClr val="FF0000"/>
                </a:solidFill>
                <a:sym typeface="Open Sans"/>
              </a:rPr>
              <a:t>education_level</a:t>
            </a:r>
            <a:r>
              <a:rPr lang="en-US" sz="1400" i="1" dirty="0">
                <a:solidFill>
                  <a:srgbClr val="FF0000"/>
                </a:solidFill>
                <a:sym typeface="Open Sans"/>
              </a:rPr>
              <a:t> TO </a:t>
            </a:r>
            <a:r>
              <a:rPr lang="en-US" sz="1400" i="1" dirty="0" err="1">
                <a:solidFill>
                  <a:srgbClr val="FF0000"/>
                </a:solidFill>
                <a:sym typeface="Open Sans"/>
              </a:rPr>
              <a:t>readonly_user</a:t>
            </a:r>
            <a:r>
              <a:rPr lang="en-US" sz="1400" i="1" dirty="0">
                <a:solidFill>
                  <a:srgbClr val="FF0000"/>
                </a:solidFill>
                <a:sym typeface="Open Sans"/>
              </a:rPr>
              <a:t>;</a:t>
            </a:r>
          </a:p>
          <a:p>
            <a:pPr lvl="1" indent="0">
              <a:spcBef>
                <a:spcPts val="0"/>
              </a:spcBef>
              <a:buNone/>
            </a:pPr>
            <a:r>
              <a:rPr lang="en-US" sz="1400" i="1" dirty="0">
                <a:solidFill>
                  <a:srgbClr val="FF0000"/>
                </a:solidFill>
                <a:sym typeface="Open Sans"/>
              </a:rPr>
              <a:t>REVOKE ALL ON </a:t>
            </a:r>
            <a:r>
              <a:rPr lang="en-US" sz="1400" i="1" dirty="0" err="1">
                <a:solidFill>
                  <a:srgbClr val="FF0000"/>
                </a:solidFill>
                <a:sym typeface="Open Sans"/>
              </a:rPr>
              <a:t>employee_salary</a:t>
            </a:r>
            <a:r>
              <a:rPr lang="en-US" sz="1400" i="1" dirty="0">
                <a:solidFill>
                  <a:srgbClr val="FF0000"/>
                </a:solidFill>
                <a:sym typeface="Open Sans"/>
              </a:rPr>
              <a:t> FROM </a:t>
            </a:r>
            <a:r>
              <a:rPr lang="en-US" sz="1400" i="1" dirty="0" err="1">
                <a:solidFill>
                  <a:srgbClr val="FF0000"/>
                </a:solidFill>
                <a:sym typeface="Open Sans"/>
              </a:rPr>
              <a:t>readonly_user</a:t>
            </a:r>
            <a:r>
              <a:rPr lang="en-US" sz="1400" i="1" dirty="0">
                <a:solidFill>
                  <a:srgbClr val="FF0000"/>
                </a:solidFill>
                <a:sym typeface="Open Sans"/>
              </a:rPr>
              <a:t>;</a:t>
            </a:r>
          </a:p>
          <a:p>
            <a:pPr lvl="1" indent="0">
              <a:spcBef>
                <a:spcPts val="0"/>
              </a:spcBef>
              <a:buNone/>
            </a:pPr>
            <a:endParaRPr lang="en-US" sz="1400" dirty="0">
              <a:sym typeface="Open Sans"/>
            </a:endParaRPr>
          </a:p>
          <a:p>
            <a:pPr indent="0">
              <a:buNone/>
            </a:pPr>
            <a:r>
              <a:rPr lang="en-US" sz="1400" dirty="0">
                <a:sym typeface="Open Sans"/>
              </a:rPr>
              <a:t>For HR and management users, I would create a separate role with access to salary information.</a:t>
            </a:r>
          </a:p>
          <a:p>
            <a:pPr lvl="1" indent="0">
              <a:spcBef>
                <a:spcPts val="0"/>
              </a:spcBef>
              <a:buNone/>
            </a:pPr>
            <a:endParaRPr lang="en-US" sz="1400" dirty="0">
              <a:sym typeface="Open Sans"/>
            </a:endParaRPr>
          </a:p>
          <a:p>
            <a:pPr lvl="1" indent="0">
              <a:spcBef>
                <a:spcPts val="0"/>
              </a:spcBef>
              <a:buNone/>
            </a:pPr>
            <a:r>
              <a:rPr lang="en-US" sz="1400" b="1" u="sng" dirty="0">
                <a:sym typeface="Open Sans"/>
              </a:rPr>
              <a:t>Example SQL:</a:t>
            </a:r>
          </a:p>
          <a:p>
            <a:pPr lvl="1" indent="0">
              <a:spcBef>
                <a:spcPts val="0"/>
              </a:spcBef>
              <a:buNone/>
            </a:pPr>
            <a:r>
              <a:rPr lang="en-US" sz="1400" i="1" dirty="0">
                <a:solidFill>
                  <a:srgbClr val="FF0000"/>
                </a:solidFill>
                <a:sym typeface="Open Sans"/>
              </a:rPr>
              <a:t>CREATE ROLE </a:t>
            </a:r>
            <a:r>
              <a:rPr lang="en-US" sz="1400" i="1" dirty="0" err="1">
                <a:solidFill>
                  <a:srgbClr val="FF0000"/>
                </a:solidFill>
                <a:sym typeface="Open Sans"/>
              </a:rPr>
              <a:t>hr_manager</a:t>
            </a:r>
            <a:r>
              <a:rPr lang="en-US" sz="1400" i="1" dirty="0">
                <a:solidFill>
                  <a:srgbClr val="FF0000"/>
                </a:solidFill>
                <a:sym typeface="Open Sans"/>
              </a:rPr>
              <a:t>;</a:t>
            </a:r>
          </a:p>
          <a:p>
            <a:pPr lvl="1" indent="0">
              <a:spcBef>
                <a:spcPts val="0"/>
              </a:spcBef>
              <a:buNone/>
            </a:pPr>
            <a:r>
              <a:rPr lang="en-US" sz="1400" i="1" dirty="0">
                <a:solidFill>
                  <a:srgbClr val="FF0000"/>
                </a:solidFill>
                <a:sym typeface="Open Sans"/>
              </a:rPr>
              <a:t>GRANT SELECT, INSERT, UPDATE ON </a:t>
            </a:r>
            <a:r>
              <a:rPr lang="en-US" sz="1400" i="1" dirty="0" err="1">
                <a:solidFill>
                  <a:srgbClr val="FF0000"/>
                </a:solidFill>
                <a:sym typeface="Open Sans"/>
              </a:rPr>
              <a:t>employee_salary</a:t>
            </a:r>
            <a:r>
              <a:rPr lang="en-US" sz="1400" i="1" dirty="0">
                <a:solidFill>
                  <a:srgbClr val="FF0000"/>
                </a:solidFill>
                <a:sym typeface="Open Sans"/>
              </a:rPr>
              <a:t> TO </a:t>
            </a:r>
            <a:r>
              <a:rPr lang="en-US" sz="1400" i="1" dirty="0" err="1">
                <a:solidFill>
                  <a:srgbClr val="FF0000"/>
                </a:solidFill>
                <a:sym typeface="Open Sans"/>
              </a:rPr>
              <a:t>hr_manager</a:t>
            </a:r>
            <a:r>
              <a:rPr lang="en-US" sz="1400" i="1" dirty="0">
                <a:solidFill>
                  <a:srgbClr val="FF0000"/>
                </a:solidFill>
                <a:sym typeface="Open Sans"/>
              </a:rPr>
              <a:t>;</a:t>
            </a:r>
          </a:p>
          <a:p>
            <a:pPr lvl="1" indent="0">
              <a:spcBef>
                <a:spcPts val="0"/>
              </a:spcBef>
              <a:buNone/>
            </a:pPr>
            <a:r>
              <a:rPr lang="en-US" sz="1400" i="1" dirty="0">
                <a:solidFill>
                  <a:srgbClr val="FF0000"/>
                </a:solidFill>
                <a:sym typeface="Open Sans"/>
              </a:rPr>
              <a:t>GRANT SELECT, INSERT, UPDATE ON employee, department, job, location, </a:t>
            </a:r>
            <a:r>
              <a:rPr lang="en-US" sz="1400" i="1" dirty="0" err="1">
                <a:solidFill>
                  <a:srgbClr val="FF0000"/>
                </a:solidFill>
                <a:sym typeface="Open Sans"/>
              </a:rPr>
              <a:t>employee_job_history</a:t>
            </a:r>
            <a:r>
              <a:rPr lang="en-US" sz="1400" i="1" dirty="0">
                <a:solidFill>
                  <a:srgbClr val="FF0000"/>
                </a:solidFill>
                <a:sym typeface="Open Sans"/>
              </a:rPr>
              <a:t>, </a:t>
            </a:r>
            <a:r>
              <a:rPr lang="en-US" sz="1400" i="1" dirty="0" err="1">
                <a:solidFill>
                  <a:srgbClr val="FF0000"/>
                </a:solidFill>
                <a:sym typeface="Open Sans"/>
              </a:rPr>
              <a:t>education_level</a:t>
            </a:r>
            <a:r>
              <a:rPr lang="en-US" sz="1400" i="1" dirty="0">
                <a:solidFill>
                  <a:srgbClr val="FF0000"/>
                </a:solidFill>
                <a:sym typeface="Open Sans"/>
              </a:rPr>
              <a:t> TO </a:t>
            </a:r>
            <a:r>
              <a:rPr lang="en-US" sz="1400" i="1" dirty="0" err="1">
                <a:solidFill>
                  <a:srgbClr val="FF0000"/>
                </a:solidFill>
                <a:sym typeface="Open Sans"/>
              </a:rPr>
              <a:t>hr_manager</a:t>
            </a:r>
            <a:r>
              <a:rPr lang="en-US" sz="1400" i="1" dirty="0">
                <a:solidFill>
                  <a:srgbClr val="FF0000"/>
                </a:solidFill>
                <a:sym typeface="Open Sans"/>
              </a:rPr>
              <a:t>;</a:t>
            </a:r>
          </a:p>
          <a:p>
            <a:pPr lvl="0" indent="0">
              <a:buNone/>
            </a:pPr>
            <a:endParaRPr lang="en-US" sz="1400" i="1" dirty="0">
              <a:solidFill>
                <a:srgbClr val="FF0000"/>
              </a:solidFill>
              <a:sym typeface="Open Sans"/>
            </a:endParaRPr>
          </a:p>
          <a:p>
            <a:pPr lvl="0" indent="0">
              <a:buNone/>
            </a:pPr>
            <a:r>
              <a:rPr lang="en-US" sz="1400" dirty="0">
                <a:sym typeface="Open Sans"/>
              </a:rPr>
              <a:t>This approach ensures that only authorized users can access or update sensitive employee salary information.</a:t>
            </a:r>
          </a:p>
          <a:p>
            <a:pPr marL="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0"/>
              </a:spcAft>
              <a:buNone/>
            </a:pPr>
            <a:endParaRPr sz="1900" dirty="0"/>
          </a:p>
          <a:p>
            <a:pPr marL="457200" lvl="0" indent="0" algn="l" rtl="0">
              <a:spcBef>
                <a:spcPts val="1600"/>
              </a:spcBef>
              <a:spcAft>
                <a:spcPts val="1600"/>
              </a:spcAft>
              <a:buNone/>
            </a:pPr>
            <a:endParaRPr sz="19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themeOverride>
</file>

<file path=docProps/app.xml><?xml version="1.0" encoding="utf-8"?>
<Properties xmlns="http://schemas.openxmlformats.org/officeDocument/2006/extended-properties" xmlns:vt="http://schemas.openxmlformats.org/officeDocument/2006/docPropsVTypes">
  <TotalTime>457</TotalTime>
  <Words>2469</Words>
  <Application>Microsoft Office PowerPoint</Application>
  <PresentationFormat>Custom</PresentationFormat>
  <Paragraphs>249</Paragraphs>
  <Slides>25</Slides>
  <Notes>24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25</vt:i4>
      </vt:variant>
    </vt:vector>
  </HeadingPairs>
  <TitlesOfParts>
    <vt:vector size="35" baseType="lpstr">
      <vt:lpstr>Open Sans Light</vt:lpstr>
      <vt:lpstr>Open Sans</vt:lpstr>
      <vt:lpstr>Open Sans </vt:lpstr>
      <vt:lpstr>Arial</vt:lpstr>
      <vt:lpstr>Helvetica Neue</vt:lpstr>
      <vt:lpstr>Source Code Pro</vt:lpstr>
      <vt:lpstr>Simple Light</vt:lpstr>
      <vt:lpstr>Simple Light</vt:lpstr>
      <vt:lpstr>Simple Light</vt:lpstr>
      <vt:lpstr>White</vt:lpstr>
      <vt:lpstr>Tech ABC Corp - HR Database </vt:lpstr>
      <vt:lpstr>Business Scenario</vt:lpstr>
      <vt:lpstr>PowerPoint Presentation</vt:lpstr>
      <vt:lpstr>Step 1: Data Architecture Foundations</vt:lpstr>
      <vt:lpstr>Data Architect Business Requirement</vt:lpstr>
      <vt:lpstr>Data Architect Business Requirement</vt:lpstr>
      <vt:lpstr>Data Architect Business Requirement</vt:lpstr>
      <vt:lpstr>Data Architect Technical Requirement</vt:lpstr>
      <vt:lpstr>Data Architect Technical Requirement</vt:lpstr>
      <vt:lpstr>PowerPoint Presentation</vt:lpstr>
      <vt:lpstr>Step 2: Relational Database Design</vt:lpstr>
      <vt:lpstr>ERD</vt:lpstr>
      <vt:lpstr>ERD</vt:lpstr>
      <vt:lpstr>ERD</vt:lpstr>
      <vt:lpstr>PowerPoint Presentation</vt:lpstr>
      <vt:lpstr>Step 3: Create A Physical Database</vt:lpstr>
      <vt:lpstr>DDL</vt:lpstr>
      <vt:lpstr>DDL</vt:lpstr>
      <vt:lpstr>CRUD</vt:lpstr>
      <vt:lpstr>CRUD</vt:lpstr>
      <vt:lpstr>CRUD</vt:lpstr>
      <vt:lpstr>CRUD</vt:lpstr>
      <vt:lpstr>CRUD</vt:lpstr>
      <vt:lpstr>CRUD</vt:lpstr>
      <vt:lpstr>CRUD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ARJUN AVALAKKI MOHAN</cp:lastModifiedBy>
  <cp:revision>1</cp:revision>
  <cp:lastPrinted>2026-05-25T04:30:40Z</cp:lastPrinted>
  <dcterms:modified xsi:type="dcterms:W3CDTF">2026-05-26T04:43:00Z</dcterms:modified>
</cp:coreProperties>
</file>